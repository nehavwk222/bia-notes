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docx" ContentType="application/vnd.openxmlformats-officedocument.wordprocessingml.document"/>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1"/>
  </p:sldMasterIdLst>
  <p:notesMasterIdLst>
    <p:notesMasterId r:id="rId33"/>
  </p:notesMasterIdLst>
  <p:sldIdLst>
    <p:sldId id="256" r:id="rId2"/>
    <p:sldId id="589" r:id="rId3"/>
    <p:sldId id="635" r:id="rId4"/>
    <p:sldId id="566" r:id="rId5"/>
    <p:sldId id="641" r:id="rId6"/>
    <p:sldId id="642" r:id="rId7"/>
    <p:sldId id="643" r:id="rId8"/>
    <p:sldId id="615" r:id="rId9"/>
    <p:sldId id="639" r:id="rId10"/>
    <p:sldId id="640" r:id="rId11"/>
    <p:sldId id="636" r:id="rId12"/>
    <p:sldId id="637" r:id="rId13"/>
    <p:sldId id="638" r:id="rId14"/>
    <p:sldId id="616" r:id="rId15"/>
    <p:sldId id="619" r:id="rId16"/>
    <p:sldId id="620" r:id="rId17"/>
    <p:sldId id="621" r:id="rId18"/>
    <p:sldId id="634" r:id="rId19"/>
    <p:sldId id="623" r:id="rId20"/>
    <p:sldId id="624" r:id="rId21"/>
    <p:sldId id="625" r:id="rId22"/>
    <p:sldId id="644" r:id="rId23"/>
    <p:sldId id="626" r:id="rId24"/>
    <p:sldId id="627" r:id="rId25"/>
    <p:sldId id="628" r:id="rId26"/>
    <p:sldId id="629" r:id="rId27"/>
    <p:sldId id="588" r:id="rId28"/>
    <p:sldId id="631" r:id="rId29"/>
    <p:sldId id="632" r:id="rId30"/>
    <p:sldId id="633" r:id="rId31"/>
    <p:sldId id="303"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422"/>
    <a:srgbClr val="5B9BD5"/>
    <a:srgbClr val="333F50"/>
    <a:srgbClr val="9DC3E6"/>
    <a:srgbClr val="161A3E"/>
    <a:srgbClr val="1A161A"/>
    <a:srgbClr val="1C1A55"/>
    <a:srgbClr val="1A163E"/>
    <a:srgbClr val="1C1A56"/>
    <a:srgbClr val="1D1B5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F30BDF3-87E2-9CCB-A903-F647118C48A7}" v="1" dt="2024-07-16T10:29:08.18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17" autoAdjust="0"/>
    <p:restoredTop sz="95256" autoAdjust="0"/>
  </p:normalViewPr>
  <p:slideViewPr>
    <p:cSldViewPr snapToGrid="0">
      <p:cViewPr varScale="1">
        <p:scale>
          <a:sx n="86" d="100"/>
          <a:sy n="86" d="100"/>
        </p:scale>
        <p:origin x="-78" y="-114"/>
      </p:cViewPr>
      <p:guideLst>
        <p:guide orient="horz" pos="2160"/>
        <p:guide pos="3840"/>
      </p:guideLst>
    </p:cSldViewPr>
  </p:slideViewPr>
  <p:notesTextViewPr>
    <p:cViewPr>
      <p:scale>
        <a:sx n="75" d="100"/>
        <a:sy n="75" d="100"/>
      </p:scale>
      <p:origin x="0" y="0"/>
    </p:cViewPr>
  </p:notesTextViewPr>
  <p:sorterViewPr>
    <p:cViewPr>
      <p:scale>
        <a:sx n="100" d="100"/>
        <a:sy n="100" d="100"/>
      </p:scale>
      <p:origin x="0" y="-10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nnkaj Bahetii" userId="S::pannkaj.bahetii@bostoninstituteofanalytics.org::b99fd96c-cddf-4921-af3c-bd0c4d90c94b" providerId="AD" clId="Web-{5D0106B6-8C4E-070E-86A4-40BABA927398}"/>
    <pc:docChg chg="modSld">
      <pc:chgData name="Pannkaj Bahetii" userId="S::pannkaj.bahetii@bostoninstituteofanalytics.org::b99fd96c-cddf-4921-af3c-bd0c4d90c94b" providerId="AD" clId="Web-{5D0106B6-8C4E-070E-86A4-40BABA927398}" dt="2024-03-05T13:38:36.694" v="10" actId="20577"/>
      <pc:docMkLst>
        <pc:docMk/>
      </pc:docMkLst>
      <pc:sldChg chg="modSp">
        <pc:chgData name="Pannkaj Bahetii" userId="S::pannkaj.bahetii@bostoninstituteofanalytics.org::b99fd96c-cddf-4921-af3c-bd0c4d90c94b" providerId="AD" clId="Web-{5D0106B6-8C4E-070E-86A4-40BABA927398}" dt="2024-03-05T13:38:36.694" v="10" actId="20577"/>
        <pc:sldMkLst>
          <pc:docMk/>
          <pc:sldMk cId="1076270423" sldId="637"/>
        </pc:sldMkLst>
        <pc:spChg chg="mod">
          <ac:chgData name="Pannkaj Bahetii" userId="S::pannkaj.bahetii@bostoninstituteofanalytics.org::b99fd96c-cddf-4921-af3c-bd0c4d90c94b" providerId="AD" clId="Web-{5D0106B6-8C4E-070E-86A4-40BABA927398}" dt="2024-03-05T13:38:36.694" v="10" actId="20577"/>
          <ac:spMkLst>
            <pc:docMk/>
            <pc:sldMk cId="1076270423" sldId="637"/>
            <ac:spMk id="3" creationId="{2DF00069-537E-B98A-4AE8-1B4BF4DE677A}"/>
          </ac:spMkLst>
        </pc:spChg>
      </pc:sldChg>
    </pc:docChg>
  </pc:docChgLst>
  <pc:docChgLst>
    <pc:chgData name="Suraj Chopade" userId="S::suraj.chopade@bostoninstituteofanalytics.org::dcc44ee8-6a65-4538-a5e1-c87e14ca7a61" providerId="AD" clId="Web-{2F30BDF3-87E2-9CCB-A903-F647118C48A7}"/>
    <pc:docChg chg="addSld">
      <pc:chgData name="Suraj Chopade" userId="S::suraj.chopade@bostoninstituteofanalytics.org::dcc44ee8-6a65-4538-a5e1-c87e14ca7a61" providerId="AD" clId="Web-{2F30BDF3-87E2-9CCB-A903-F647118C48A7}" dt="2024-07-16T10:29:08.187" v="0"/>
      <pc:docMkLst>
        <pc:docMk/>
      </pc:docMkLst>
      <pc:sldChg chg="add">
        <pc:chgData name="Suraj Chopade" userId="S::suraj.chopade@bostoninstituteofanalytics.org::dcc44ee8-6a65-4538-a5e1-c87e14ca7a61" providerId="AD" clId="Web-{2F30BDF3-87E2-9CCB-A903-F647118C48A7}" dt="2024-07-16T10:29:08.187" v="0"/>
        <pc:sldMkLst>
          <pc:docMk/>
          <pc:sldMk cId="2172329014" sldId="589"/>
        </pc:sldMkLst>
      </pc:sldChg>
    </pc:docChg>
  </pc:docChgLst>
</pc:chgInfo>
</file>

<file path=ppt/drawings/_rels/vmlDrawing1.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10-05-2025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4</a:t>
            </a:fld>
            <a:endParaRPr lang="en-IN"/>
          </a:p>
        </p:txBody>
      </p:sp>
    </p:spTree>
    <p:extLst>
      <p:ext uri="{BB962C8B-B14F-4D97-AF65-F5344CB8AC3E}">
        <p14:creationId xmlns:p14="http://schemas.microsoft.com/office/powerpoint/2010/main" val="1366514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8</a:t>
            </a:fld>
            <a:endParaRPr lang="en-IN"/>
          </a:p>
        </p:txBody>
      </p:sp>
    </p:spTree>
    <p:extLst>
      <p:ext uri="{BB962C8B-B14F-4D97-AF65-F5344CB8AC3E}">
        <p14:creationId xmlns:p14="http://schemas.microsoft.com/office/powerpoint/2010/main" val="36135425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14</a:t>
            </a:fld>
            <a:endParaRPr lang="en-IN"/>
          </a:p>
        </p:txBody>
      </p:sp>
    </p:spTree>
    <p:extLst>
      <p:ext uri="{BB962C8B-B14F-4D97-AF65-F5344CB8AC3E}">
        <p14:creationId xmlns:p14="http://schemas.microsoft.com/office/powerpoint/2010/main" val="11671123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15</a:t>
            </a:fld>
            <a:endParaRPr lang="en-IN"/>
          </a:p>
        </p:txBody>
      </p:sp>
    </p:spTree>
    <p:extLst>
      <p:ext uri="{BB962C8B-B14F-4D97-AF65-F5344CB8AC3E}">
        <p14:creationId xmlns:p14="http://schemas.microsoft.com/office/powerpoint/2010/main" val="34916488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16</a:t>
            </a:fld>
            <a:endParaRPr lang="en-IN"/>
          </a:p>
        </p:txBody>
      </p:sp>
    </p:spTree>
    <p:extLst>
      <p:ext uri="{BB962C8B-B14F-4D97-AF65-F5344CB8AC3E}">
        <p14:creationId xmlns:p14="http://schemas.microsoft.com/office/powerpoint/2010/main" val="11732879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17</a:t>
            </a:fld>
            <a:endParaRPr lang="en-IN"/>
          </a:p>
        </p:txBody>
      </p:sp>
    </p:spTree>
    <p:extLst>
      <p:ext uri="{BB962C8B-B14F-4D97-AF65-F5344CB8AC3E}">
        <p14:creationId xmlns:p14="http://schemas.microsoft.com/office/powerpoint/2010/main" val="2103124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19</a:t>
            </a:fld>
            <a:endParaRPr lang="en-IN"/>
          </a:p>
        </p:txBody>
      </p:sp>
    </p:spTree>
    <p:extLst>
      <p:ext uri="{BB962C8B-B14F-4D97-AF65-F5344CB8AC3E}">
        <p14:creationId xmlns:p14="http://schemas.microsoft.com/office/powerpoint/2010/main" val="12667719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20</a:t>
            </a:fld>
            <a:endParaRPr lang="en-IN"/>
          </a:p>
        </p:txBody>
      </p:sp>
    </p:spTree>
    <p:extLst>
      <p:ext uri="{BB962C8B-B14F-4D97-AF65-F5344CB8AC3E}">
        <p14:creationId xmlns:p14="http://schemas.microsoft.com/office/powerpoint/2010/main" val="20887760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21</a:t>
            </a:fld>
            <a:endParaRPr lang="en-IN"/>
          </a:p>
        </p:txBody>
      </p:sp>
    </p:spTree>
    <p:extLst>
      <p:ext uri="{BB962C8B-B14F-4D97-AF65-F5344CB8AC3E}">
        <p14:creationId xmlns:p14="http://schemas.microsoft.com/office/powerpoint/2010/main" val="31355104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23</a:t>
            </a:fld>
            <a:endParaRPr lang="en-IN"/>
          </a:p>
        </p:txBody>
      </p:sp>
    </p:spTree>
    <p:extLst>
      <p:ext uri="{BB962C8B-B14F-4D97-AF65-F5344CB8AC3E}">
        <p14:creationId xmlns:p14="http://schemas.microsoft.com/office/powerpoint/2010/main" val="30382585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24</a:t>
            </a:fld>
            <a:endParaRPr lang="en-IN"/>
          </a:p>
        </p:txBody>
      </p:sp>
    </p:spTree>
    <p:extLst>
      <p:ext uri="{BB962C8B-B14F-4D97-AF65-F5344CB8AC3E}">
        <p14:creationId xmlns:p14="http://schemas.microsoft.com/office/powerpoint/2010/main" val="27026455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25</a:t>
            </a:fld>
            <a:endParaRPr lang="en-IN"/>
          </a:p>
        </p:txBody>
      </p:sp>
    </p:spTree>
    <p:extLst>
      <p:ext uri="{BB962C8B-B14F-4D97-AF65-F5344CB8AC3E}">
        <p14:creationId xmlns:p14="http://schemas.microsoft.com/office/powerpoint/2010/main" val="20449127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26</a:t>
            </a:fld>
            <a:endParaRPr lang="en-IN"/>
          </a:p>
        </p:txBody>
      </p:sp>
    </p:spTree>
    <p:extLst>
      <p:ext uri="{BB962C8B-B14F-4D97-AF65-F5344CB8AC3E}">
        <p14:creationId xmlns:p14="http://schemas.microsoft.com/office/powerpoint/2010/main" val="40065602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27</a:t>
            </a:fld>
            <a:endParaRPr lang="en-IN"/>
          </a:p>
        </p:txBody>
      </p:sp>
    </p:spTree>
    <p:extLst>
      <p:ext uri="{BB962C8B-B14F-4D97-AF65-F5344CB8AC3E}">
        <p14:creationId xmlns:p14="http://schemas.microsoft.com/office/powerpoint/2010/main" val="5724061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28</a:t>
            </a:fld>
            <a:endParaRPr lang="en-IN"/>
          </a:p>
        </p:txBody>
      </p:sp>
    </p:spTree>
    <p:extLst>
      <p:ext uri="{BB962C8B-B14F-4D97-AF65-F5344CB8AC3E}">
        <p14:creationId xmlns:p14="http://schemas.microsoft.com/office/powerpoint/2010/main" val="8397377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29</a:t>
            </a:fld>
            <a:endParaRPr lang="en-IN"/>
          </a:p>
        </p:txBody>
      </p:sp>
    </p:spTree>
    <p:extLst>
      <p:ext uri="{BB962C8B-B14F-4D97-AF65-F5344CB8AC3E}">
        <p14:creationId xmlns:p14="http://schemas.microsoft.com/office/powerpoint/2010/main" val="40108296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30</a:t>
            </a:fld>
            <a:endParaRPr lang="en-IN"/>
          </a:p>
        </p:txBody>
      </p:sp>
    </p:spTree>
    <p:extLst>
      <p:ext uri="{BB962C8B-B14F-4D97-AF65-F5344CB8AC3E}">
        <p14:creationId xmlns:p14="http://schemas.microsoft.com/office/powerpoint/2010/main" val="261085486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xmlns=""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xmlns=""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xmlns=""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5983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xmlns=""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xmlns=""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a:p>
        </p:txBody>
      </p:sp>
      <p:pic>
        <p:nvPicPr>
          <p:cNvPr id="7" name="Picture 6">
            <a:extLst>
              <a:ext uri="{FF2B5EF4-FFF2-40B4-BE49-F238E27FC236}">
                <a16:creationId xmlns:a16="http://schemas.microsoft.com/office/drawing/2014/main" xmlns=""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xmlns=""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a:p>
        </p:txBody>
      </p:sp>
      <p:pic>
        <p:nvPicPr>
          <p:cNvPr id="4" name="Picture 3">
            <a:extLst>
              <a:ext uri="{FF2B5EF4-FFF2-40B4-BE49-F238E27FC236}">
                <a16:creationId xmlns:a16="http://schemas.microsoft.com/office/drawing/2014/main" xmlns=""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xmlns=""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a:p>
        </p:txBody>
      </p:sp>
      <p:sp>
        <p:nvSpPr>
          <p:cNvPr id="8" name="Title 1">
            <a:extLst>
              <a:ext uri="{FF2B5EF4-FFF2-40B4-BE49-F238E27FC236}">
                <a16:creationId xmlns:a16="http://schemas.microsoft.com/office/drawing/2014/main" xmlns=""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xmlns=""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xmlns=""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xmlns=""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xmlns=""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xmlns=""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a:p>
        </p:txBody>
      </p:sp>
      <p:pic>
        <p:nvPicPr>
          <p:cNvPr id="4" name="Picture 3">
            <a:extLst>
              <a:ext uri="{FF2B5EF4-FFF2-40B4-BE49-F238E27FC236}">
                <a16:creationId xmlns:a16="http://schemas.microsoft.com/office/drawing/2014/main" xmlns=""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xmlns=""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xmlns=""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xmlns="" id="{C676A48E-2766-2ED8-C890-6F9A1FE70868}"/>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package" Target="../embeddings/Microsoft_Word_Document2.docx"/><Relationship Id="rId3" Type="http://schemas.openxmlformats.org/officeDocument/2006/relationships/hyperlink" Target="https://chat.openai.com/" TargetMode="External"/><Relationship Id="rId7"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6.wmf"/><Relationship Id="rId5" Type="http://schemas.openxmlformats.org/officeDocument/2006/relationships/package" Target="../embeddings/Microsoft_Word_Document1.docx"/><Relationship Id="rId4" Type="http://schemas.openxmlformats.org/officeDocument/2006/relationships/oleObject" Target="../embeddings/oleObject1.bin"/><Relationship Id="rId9" Type="http://schemas.openxmlformats.org/officeDocument/2006/relationships/image" Target="../media/image7.w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gemini.google.com/" TargetMode="External"/><Relationship Id="rId2" Type="http://schemas.openxmlformats.org/officeDocument/2006/relationships/hyperlink" Target="https://www.youtube.com/watch?v=cTYRwJSOP8U"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8.wmf"/><Relationship Id="rId5" Type="http://schemas.openxmlformats.org/officeDocument/2006/relationships/package" Target="../embeddings/Microsoft_Word_Document3.docx"/><Relationship Id="rId4" Type="http://schemas.openxmlformats.org/officeDocument/2006/relationships/oleObject" Target="../embeddings/oleObject3.bin"/></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9.wmf"/><Relationship Id="rId5" Type="http://schemas.openxmlformats.org/officeDocument/2006/relationships/package" Target="../embeddings/Microsoft_Excel_Worksheet4.xlsx"/><Relationship Id="rId4" Type="http://schemas.openxmlformats.org/officeDocument/2006/relationships/oleObject" Target="../embeddings/oleObject4.bin"/></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10.wmf"/><Relationship Id="rId4" Type="http://schemas.openxmlformats.org/officeDocument/2006/relationships/package" Target="../embeddings/Microsoft_Word_Document5.docx"/></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chat.openai.com/g/g-PaKEiWpDG-vc"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hyperlink" Target="https://chat.openai.com/g/g-S18HXeEm9-business-blueprint-gpt" TargetMode="External"/><Relationship Id="rId4" Type="http://schemas.openxmlformats.org/officeDocument/2006/relationships/hyperlink" Target="https://chat.openai.com/g/g-8Bup8KxbJ-startup-pitch-deck" TargetMode="External"/></Relationships>
</file>

<file path=ppt/slides/_rels/slide22.xml.rels><?xml version="1.0" encoding="UTF-8" standalone="yes"?>
<Relationships xmlns="http://schemas.openxmlformats.org/package/2006/relationships"><Relationship Id="rId2" Type="http://schemas.openxmlformats.org/officeDocument/2006/relationships/hyperlink" Target="https://www.promptingguide.ai/techniques/fewshot"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chat.openai.com/g/g-YpUQYatQE-lemonade-twist"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chat.openai.com/g/g-zgKvwBkln-toon-ceo-guy"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chat.openai.com/g/g-C3WWLOnWX-venturegpt"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chat.openai.com/g/g-6CDu3LvuO-personal-starwatcher"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chat.openai.com/share/8d1fbad7-56b5-4e7a-97ac-2f1844a3124d"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chat.openai.com/share/6f0203ee-ac52-44d1-b580-135eba83bb72"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chat.openai.com/share/5fa84c40-a7a0-4463-8997-8623339486c4"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xmlns="" id="{1A225F15-9B21-01FF-BD6D-D04F30F7A091}"/>
              </a:ext>
            </a:extLst>
          </p:cNvPr>
          <p:cNvSpPr/>
          <p:nvPr/>
        </p:nvSpPr>
        <p:spPr>
          <a:xfrm>
            <a:off x="0" y="2867242"/>
            <a:ext cx="12192000" cy="1257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b="1" dirty="0">
                <a:latin typeface="Calibri" panose="020F0502020204030204" pitchFamily="34" charset="0"/>
              </a:rPr>
              <a:t>Prompt Engineering</a:t>
            </a: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F9E2F6A-E89F-45D0-4C37-F8D123D863FF}"/>
              </a:ext>
            </a:extLst>
          </p:cNvPr>
          <p:cNvSpPr>
            <a:spLocks noGrp="1"/>
          </p:cNvSpPr>
          <p:nvPr>
            <p:ph type="title"/>
          </p:nvPr>
        </p:nvSpPr>
        <p:spPr/>
        <p:txBody>
          <a:bodyPr>
            <a:normAutofit/>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r>
              <a:rPr lang="en-US" sz="2800" dirty="0">
                <a:latin typeface="Calibri"/>
                <a:cs typeface="Calibri"/>
              </a:rPr>
              <a:t>Trainer Guidelines for Conducting Class</a:t>
            </a:r>
            <a:endParaRPr lang="en-US" sz="2800">
              <a:cs typeface="Calibri"/>
            </a:endParaRPr>
          </a:p>
        </p:txBody>
      </p:sp>
      <p:sp>
        <p:nvSpPr>
          <p:cNvPr id="3" name="Content Placeholder 2">
            <a:extLst>
              <a:ext uri="{FF2B5EF4-FFF2-40B4-BE49-F238E27FC236}">
                <a16:creationId xmlns:a16="http://schemas.microsoft.com/office/drawing/2014/main" xmlns="" id="{9CA356E4-99F9-93BD-8697-B5FE13DDA948}"/>
              </a:ext>
            </a:extLst>
          </p:cNvPr>
          <p:cNvSpPr>
            <a:spLocks noGrp="1"/>
          </p:cNvSpPr>
          <p:nvPr>
            <p:ph idx="1"/>
          </p:nvPr>
        </p:nvSpPr>
        <p:spPr/>
        <p:txBody>
          <a:bodyPr vert="horz" lIns="91440" tIns="45720" rIns="91440" bIns="45720" rtlCol="0" anchor="t">
            <a:normAutofit/>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285750" indent="-285750"/>
            <a:r>
              <a:rPr lang="en-US" sz="1800" dirty="0">
                <a:latin typeface="Calibri"/>
                <a:cs typeface="Calibri"/>
              </a:rPr>
              <a:t>Solve questions live by creating </a:t>
            </a:r>
            <a:r>
              <a:rPr lang="en-US" sz="1800" b="1" dirty="0">
                <a:latin typeface="Calibri"/>
                <a:cs typeface="Calibri"/>
              </a:rPr>
              <a:t>new blank files</a:t>
            </a:r>
            <a:r>
              <a:rPr lang="en-US" sz="1800" dirty="0">
                <a:latin typeface="Calibri"/>
                <a:cs typeface="Calibri"/>
              </a:rPr>
              <a:t> (Excel, Python, </a:t>
            </a:r>
            <a:r>
              <a:rPr lang="en-US" sz="1800" dirty="0" err="1">
                <a:latin typeface="Calibri"/>
                <a:cs typeface="Calibri"/>
              </a:rPr>
              <a:t>Jupyter</a:t>
            </a:r>
            <a:r>
              <a:rPr lang="en-US" sz="1800" dirty="0">
                <a:latin typeface="Calibri"/>
                <a:cs typeface="Calibri"/>
              </a:rPr>
              <a:t> notebook, Dashboard) during the session, rather than sharing completed solutions.</a:t>
            </a:r>
            <a:endParaRPr lang="en-US"/>
          </a:p>
          <a:p>
            <a:pPr marL="285750" indent="-285750"/>
            <a:endParaRPr lang="en-US" sz="1800" dirty="0">
              <a:latin typeface="Calibri"/>
              <a:cs typeface="Calibri"/>
            </a:endParaRPr>
          </a:p>
          <a:p>
            <a:pPr marL="285750" indent="-285750"/>
            <a:r>
              <a:rPr lang="en-US" sz="1800" dirty="0">
                <a:latin typeface="Calibri"/>
                <a:cs typeface="Calibri"/>
              </a:rPr>
              <a:t>Review teaching materials and solutions beforehand, and prepare additional examples to reinforce learning.</a:t>
            </a:r>
          </a:p>
          <a:p>
            <a:pPr marL="285750" indent="-285750"/>
            <a:endParaRPr lang="en-US" sz="1800" dirty="0">
              <a:latin typeface="Calibri"/>
              <a:cs typeface="Calibri"/>
            </a:endParaRPr>
          </a:p>
          <a:p>
            <a:pPr marL="285750" indent="-285750"/>
            <a:r>
              <a:rPr lang="en-US" sz="1800" dirty="0">
                <a:latin typeface="Calibri"/>
                <a:cs typeface="Calibri"/>
              </a:rPr>
              <a:t>Ensure online students can hear you and see the screen clearly at all times.</a:t>
            </a:r>
          </a:p>
          <a:p>
            <a:pPr marL="285750" indent="-285750"/>
            <a:endParaRPr lang="en-US" sz="1800" dirty="0">
              <a:latin typeface="Calibri"/>
              <a:cs typeface="Calibri"/>
            </a:endParaRPr>
          </a:p>
          <a:p>
            <a:pPr marL="285750" indent="-285750"/>
            <a:r>
              <a:rPr lang="en-US" sz="1800" dirty="0">
                <a:latin typeface="Calibri"/>
                <a:cs typeface="Calibri"/>
              </a:rPr>
              <a:t>Test your computer and necessary software before class begins.</a:t>
            </a:r>
          </a:p>
          <a:p>
            <a:pPr marL="285750" indent="-285750"/>
            <a:endParaRPr lang="en-US" sz="1800" dirty="0">
              <a:latin typeface="Calibri"/>
              <a:cs typeface="Calibri"/>
            </a:endParaRPr>
          </a:p>
          <a:p>
            <a:pPr marL="285750" indent="-285750"/>
            <a:r>
              <a:rPr lang="en-US" sz="1800" dirty="0">
                <a:latin typeface="Calibri"/>
                <a:cs typeface="Calibri"/>
              </a:rPr>
              <a:t>Check with online students every 15-20 minutes to see if they understand the material and have any questions.</a:t>
            </a:r>
            <a:endParaRPr lang="en-US" sz="1800">
              <a:latin typeface="Calibri"/>
              <a:cs typeface="Calibri"/>
            </a:endParaRPr>
          </a:p>
        </p:txBody>
      </p:sp>
    </p:spTree>
    <p:extLst>
      <p:ext uri="{BB962C8B-B14F-4D97-AF65-F5344CB8AC3E}">
        <p14:creationId xmlns:p14="http://schemas.microsoft.com/office/powerpoint/2010/main" val="21723290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FBCC640-3A11-35F5-A57B-BBD2404BBC44}"/>
              </a:ext>
            </a:extLst>
          </p:cNvPr>
          <p:cNvSpPr>
            <a:spLocks noGrp="1"/>
          </p:cNvSpPr>
          <p:nvPr>
            <p:ph type="title"/>
          </p:nvPr>
        </p:nvSpPr>
        <p:spPr/>
        <p:txBody>
          <a:bodyPr/>
          <a:lstStyle/>
          <a:p>
            <a:r>
              <a:rPr lang="en-US" dirty="0"/>
              <a:t>Index</a:t>
            </a:r>
          </a:p>
        </p:txBody>
      </p:sp>
      <p:sp>
        <p:nvSpPr>
          <p:cNvPr id="3" name="Content Placeholder 2">
            <a:extLst>
              <a:ext uri="{FF2B5EF4-FFF2-40B4-BE49-F238E27FC236}">
                <a16:creationId xmlns:a16="http://schemas.microsoft.com/office/drawing/2014/main" xmlns="" id="{3FB9852C-0DF8-59BA-1F25-7B41727A9D53}"/>
              </a:ext>
            </a:extLst>
          </p:cNvPr>
          <p:cNvSpPr>
            <a:spLocks noGrp="1"/>
          </p:cNvSpPr>
          <p:nvPr>
            <p:ph idx="1"/>
          </p:nvPr>
        </p:nvSpPr>
        <p:spPr/>
        <p:txBody>
          <a:bodyPr>
            <a:normAutofit/>
          </a:bodyPr>
          <a:lstStyle/>
          <a:p>
            <a:r>
              <a:rPr lang="en-US" sz="2200" dirty="0">
                <a:effectLst/>
                <a:latin typeface="+mn-lt"/>
                <a:ea typeface="Calibri" panose="020F0502020204030204" pitchFamily="34" charset="0"/>
              </a:rPr>
              <a:t>Introduction to Language Model</a:t>
            </a:r>
          </a:p>
          <a:p>
            <a:r>
              <a:rPr lang="en-US" sz="2200" dirty="0">
                <a:latin typeface="+mn-lt"/>
              </a:rPr>
              <a:t>Best Practices to Write Prompt</a:t>
            </a:r>
          </a:p>
          <a:p>
            <a:r>
              <a:rPr lang="en-US" sz="2200" dirty="0">
                <a:effectLst/>
                <a:latin typeface="+mn-lt"/>
                <a:ea typeface="Calibri" panose="020F0502020204030204" pitchFamily="34" charset="0"/>
              </a:rPr>
              <a:t>Different types of models</a:t>
            </a:r>
          </a:p>
          <a:p>
            <a:r>
              <a:rPr lang="en-US" sz="2200" dirty="0">
                <a:latin typeface="+mn-lt"/>
              </a:rPr>
              <a:t>AI and Microsoft Office 365 tools</a:t>
            </a:r>
          </a:p>
          <a:p>
            <a:r>
              <a:rPr lang="en-US" sz="2200" dirty="0">
                <a:latin typeface="+mn-lt"/>
              </a:rPr>
              <a:t>Creating Presentations using AI Tool</a:t>
            </a:r>
          </a:p>
          <a:p>
            <a:r>
              <a:rPr lang="en-US" sz="2200" dirty="0">
                <a:latin typeface="+mn-lt"/>
              </a:rPr>
              <a:t>AI Tools used in Investment Banking and Finance</a:t>
            </a:r>
          </a:p>
          <a:p>
            <a:r>
              <a:rPr lang="en-US" sz="2200" dirty="0">
                <a:latin typeface="+mn-lt"/>
              </a:rPr>
              <a:t>AI Tools used by Startups</a:t>
            </a:r>
          </a:p>
          <a:p>
            <a:r>
              <a:rPr lang="en-US" sz="2200" dirty="0">
                <a:latin typeface="+mn-lt"/>
              </a:rPr>
              <a:t>AI Tool used by Venture Capital Funds</a:t>
            </a:r>
          </a:p>
        </p:txBody>
      </p:sp>
    </p:spTree>
    <p:extLst>
      <p:ext uri="{BB962C8B-B14F-4D97-AF65-F5344CB8AC3E}">
        <p14:creationId xmlns:p14="http://schemas.microsoft.com/office/powerpoint/2010/main" val="23324282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C5BA2E58-FEC9-D54D-ACC0-E7CEEF5F42E4}"/>
              </a:ext>
            </a:extLst>
          </p:cNvPr>
          <p:cNvSpPr>
            <a:spLocks noGrp="1"/>
          </p:cNvSpPr>
          <p:nvPr>
            <p:ph type="title"/>
          </p:nvPr>
        </p:nvSpPr>
        <p:spPr>
          <a:xfrm>
            <a:off x="678884" y="603666"/>
            <a:ext cx="10834234" cy="612775"/>
          </a:xfrm>
        </p:spPr>
        <p:txBody>
          <a:bodyPr>
            <a:normAutofit/>
          </a:bodyPr>
          <a:lstStyle/>
          <a:p>
            <a:r>
              <a:rPr lang="en-US" dirty="0">
                <a:effectLst/>
                <a:latin typeface="Times New Roman" panose="02020603050405020304" pitchFamily="18" charset="0"/>
                <a:ea typeface="Calibri" panose="020F0502020204030204" pitchFamily="34" charset="0"/>
              </a:rPr>
              <a:t>Introduction to Language Model</a:t>
            </a:r>
            <a:endParaRPr lang="en-US" dirty="0"/>
          </a:p>
        </p:txBody>
      </p:sp>
      <p:sp>
        <p:nvSpPr>
          <p:cNvPr id="9" name="Content Placeholder 2">
            <a:extLst>
              <a:ext uri="{FF2B5EF4-FFF2-40B4-BE49-F238E27FC236}">
                <a16:creationId xmlns:a16="http://schemas.microsoft.com/office/drawing/2014/main" xmlns="" id="{1F8736E4-B09E-4EBF-90EF-8B58C7FFA0E2}"/>
              </a:ext>
            </a:extLst>
          </p:cNvPr>
          <p:cNvSpPr txBox="1">
            <a:spLocks/>
          </p:cNvSpPr>
          <p:nvPr/>
        </p:nvSpPr>
        <p:spPr>
          <a:xfrm>
            <a:off x="690283" y="1490094"/>
            <a:ext cx="10834234" cy="876039"/>
          </a:xfrm>
          <a:prstGeom prst="rect">
            <a:avLst/>
          </a:prstGeom>
        </p:spPr>
        <p:txBody>
          <a:bodyPr vert="horz"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Nunito"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Nunito"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Nunito"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400"/>
              </a:spcBef>
              <a:spcAft>
                <a:spcPts val="400"/>
              </a:spcAft>
              <a:buNone/>
            </a:pPr>
            <a:r>
              <a:rPr lang="en-US" sz="2200" b="1" dirty="0">
                <a:solidFill>
                  <a:schemeClr val="tx1"/>
                </a:solidFill>
                <a:effectLst/>
                <a:latin typeface="Times New Roman" panose="02020603050405020304" pitchFamily="18" charset="0"/>
                <a:ea typeface="Calibri" panose="020F0502020204030204" pitchFamily="34" charset="0"/>
              </a:rPr>
              <a:t>What is a Language Model?</a:t>
            </a:r>
            <a:endParaRPr lang="en-US" sz="2200" kern="100" dirty="0">
              <a:effectLst/>
              <a:latin typeface="+mn-lt"/>
              <a:ea typeface="Calibri" panose="020F0502020204030204" pitchFamily="34" charset="0"/>
              <a:cs typeface="Times New Roman" panose="02020603050405020304" pitchFamily="18" charset="0"/>
            </a:endParaRPr>
          </a:p>
          <a:p>
            <a:pPr>
              <a:lnSpc>
                <a:spcPct val="100000"/>
              </a:lnSpc>
              <a:spcBef>
                <a:spcPts val="400"/>
              </a:spcBef>
              <a:spcAft>
                <a:spcPts val="400"/>
              </a:spcAft>
              <a:buFont typeface="Wingdings" panose="05000000000000000000" pitchFamily="2" charset="2"/>
              <a:buChar char="Ø"/>
            </a:pPr>
            <a:r>
              <a:rPr lang="en-US" sz="2200" kern="100" dirty="0">
                <a:effectLst/>
                <a:latin typeface="+mn-lt"/>
                <a:ea typeface="Calibri" panose="020F0502020204030204" pitchFamily="34" charset="0"/>
                <a:cs typeface="Times New Roman"/>
              </a:rPr>
              <a:t>Most of the AI used today, like, ChatGPT, DALL-E, Google </a:t>
            </a:r>
            <a:r>
              <a:rPr lang="en-US" sz="2200" kern="100" dirty="0">
                <a:latin typeface="Nunito"/>
                <a:ea typeface="Calibri" panose="020F0502020204030204" pitchFamily="34" charset="0"/>
                <a:cs typeface="Times New Roman"/>
              </a:rPr>
              <a:t>Gemini</a:t>
            </a:r>
            <a:r>
              <a:rPr lang="en-US" sz="2200" kern="100" dirty="0">
                <a:effectLst/>
                <a:latin typeface="+mn-lt"/>
                <a:ea typeface="Calibri" panose="020F0502020204030204" pitchFamily="34" charset="0"/>
                <a:cs typeface="Times New Roman"/>
              </a:rPr>
              <a:t>, Gamma, </a:t>
            </a:r>
            <a:r>
              <a:rPr lang="en-US" sz="2200" kern="100" dirty="0" err="1">
                <a:effectLst/>
                <a:latin typeface="+mn-lt"/>
                <a:ea typeface="Calibri" panose="020F0502020204030204" pitchFamily="34" charset="0"/>
                <a:cs typeface="Times New Roman"/>
              </a:rPr>
              <a:t>etc</a:t>
            </a:r>
            <a:r>
              <a:rPr lang="en-US" sz="2200" kern="100" dirty="0">
                <a:effectLst/>
                <a:latin typeface="+mn-lt"/>
                <a:ea typeface="Calibri" panose="020F0502020204030204" pitchFamily="34" charset="0"/>
                <a:cs typeface="Times New Roman"/>
              </a:rPr>
              <a:t> are based on some or the other language model.</a:t>
            </a:r>
          </a:p>
          <a:p>
            <a:pPr>
              <a:lnSpc>
                <a:spcPct val="100000"/>
              </a:lnSpc>
              <a:spcBef>
                <a:spcPts val="400"/>
              </a:spcBef>
              <a:spcAft>
                <a:spcPts val="400"/>
              </a:spcAft>
              <a:buFont typeface="Wingdings" panose="05000000000000000000" pitchFamily="2" charset="2"/>
              <a:buChar char="Ø"/>
            </a:pPr>
            <a:r>
              <a:rPr lang="en-US" sz="2200" kern="100" dirty="0">
                <a:effectLst/>
                <a:latin typeface="+mn-lt"/>
                <a:ea typeface="Calibri" panose="020F0502020204030204" pitchFamily="34" charset="0"/>
                <a:cs typeface="Times New Roman" panose="02020603050405020304" pitchFamily="18" charset="0"/>
              </a:rPr>
              <a:t>Language model is an AI algorithm designed to generate human-like text based on patterns and structures.</a:t>
            </a:r>
            <a:endParaRPr lang="en-US" sz="2200" dirty="0">
              <a:latin typeface="+mn-lt"/>
            </a:endParaRPr>
          </a:p>
        </p:txBody>
      </p:sp>
      <p:sp>
        <p:nvSpPr>
          <p:cNvPr id="39" name="Content Placeholder 2">
            <a:extLst>
              <a:ext uri="{FF2B5EF4-FFF2-40B4-BE49-F238E27FC236}">
                <a16:creationId xmlns:a16="http://schemas.microsoft.com/office/drawing/2014/main" xmlns="" id="{E16706E8-F13D-42E9-B5A8-F55C9173F81B}"/>
              </a:ext>
            </a:extLst>
          </p:cNvPr>
          <p:cNvSpPr txBox="1">
            <a:spLocks/>
          </p:cNvSpPr>
          <p:nvPr/>
        </p:nvSpPr>
        <p:spPr>
          <a:xfrm>
            <a:off x="678883" y="3615829"/>
            <a:ext cx="10834234" cy="876039"/>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Nunito"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Nunito"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Nunito"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200" b="1" dirty="0">
                <a:solidFill>
                  <a:schemeClr val="tx1"/>
                </a:solidFill>
                <a:effectLst/>
                <a:latin typeface="Times New Roman" panose="02020603050405020304" pitchFamily="18" charset="0"/>
                <a:ea typeface="Calibri" panose="020F0502020204030204" pitchFamily="34" charset="0"/>
              </a:rPr>
              <a:t>How do Language Models work?</a:t>
            </a:r>
            <a:endParaRPr lang="en-US" sz="2200" b="0" i="0" dirty="0">
              <a:solidFill>
                <a:srgbClr val="011422"/>
              </a:solidFill>
              <a:effectLst/>
              <a:latin typeface="+mn-lt"/>
            </a:endParaRPr>
          </a:p>
          <a:p>
            <a:pPr marL="0" indent="0" algn="l">
              <a:buNone/>
            </a:pPr>
            <a:r>
              <a:rPr lang="en-US" sz="2200" b="0" i="0" dirty="0">
                <a:solidFill>
                  <a:srgbClr val="011422"/>
                </a:solidFill>
                <a:effectLst/>
                <a:latin typeface="+mn-lt"/>
              </a:rPr>
              <a:t>A </a:t>
            </a:r>
            <a:r>
              <a:rPr lang="en-US" sz="2200" b="1" i="0" dirty="0">
                <a:solidFill>
                  <a:srgbClr val="011422"/>
                </a:solidFill>
                <a:effectLst/>
                <a:latin typeface="+mn-lt"/>
              </a:rPr>
              <a:t>prompt</a:t>
            </a:r>
            <a:r>
              <a:rPr lang="en-US" sz="2200" b="0" i="0" dirty="0">
                <a:solidFill>
                  <a:srgbClr val="011422"/>
                </a:solidFill>
                <a:effectLst/>
                <a:latin typeface="+mn-lt"/>
              </a:rPr>
              <a:t> is a starting point for text generation by a large language model (LLM) like Bard. It provides the LLM with context and instructions to guide its response towards the desired outcome.</a:t>
            </a:r>
          </a:p>
          <a:p>
            <a:pPr algn="l"/>
            <a:r>
              <a:rPr lang="en-US" sz="2200" b="0" i="0" dirty="0">
                <a:solidFill>
                  <a:srgbClr val="011422"/>
                </a:solidFill>
                <a:effectLst/>
                <a:latin typeface="+mn-lt"/>
              </a:rPr>
              <a:t>Think of it as giving directions on a map to an LLM searching for a specific location. The more precise and detailed the prompt, the easier it is for the LLM to reach the desired destination and fulfill your request.</a:t>
            </a:r>
          </a:p>
        </p:txBody>
      </p:sp>
    </p:spTree>
    <p:extLst>
      <p:ext uri="{BB962C8B-B14F-4D97-AF65-F5344CB8AC3E}">
        <p14:creationId xmlns:p14="http://schemas.microsoft.com/office/powerpoint/2010/main" val="3370975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E15D1E7-FD67-B47E-84EB-1183FA1DD44C}"/>
              </a:ext>
            </a:extLst>
          </p:cNvPr>
          <p:cNvSpPr>
            <a:spLocks noGrp="1"/>
          </p:cNvSpPr>
          <p:nvPr>
            <p:ph type="title"/>
          </p:nvPr>
        </p:nvSpPr>
        <p:spPr/>
        <p:txBody>
          <a:bodyPr/>
          <a:lstStyle/>
          <a:p>
            <a:r>
              <a:rPr lang="en-US" dirty="0"/>
              <a:t>Best Practices to Write Prompt</a:t>
            </a:r>
          </a:p>
        </p:txBody>
      </p:sp>
      <p:sp>
        <p:nvSpPr>
          <p:cNvPr id="3" name="Content Placeholder 2">
            <a:extLst>
              <a:ext uri="{FF2B5EF4-FFF2-40B4-BE49-F238E27FC236}">
                <a16:creationId xmlns:a16="http://schemas.microsoft.com/office/drawing/2014/main" xmlns="" id="{B7723A53-8ED8-26D2-CC7B-132DF4DDC203}"/>
              </a:ext>
            </a:extLst>
          </p:cNvPr>
          <p:cNvSpPr>
            <a:spLocks noGrp="1"/>
          </p:cNvSpPr>
          <p:nvPr>
            <p:ph idx="1"/>
          </p:nvPr>
        </p:nvSpPr>
        <p:spPr>
          <a:xfrm>
            <a:off x="678883" y="1405192"/>
            <a:ext cx="6293418" cy="4398066"/>
          </a:xfrm>
        </p:spPr>
        <p:txBody>
          <a:bodyPr>
            <a:noAutofit/>
          </a:bodyPr>
          <a:lstStyle/>
          <a:p>
            <a:pPr marL="0" indent="0">
              <a:buNone/>
            </a:pPr>
            <a:r>
              <a:rPr lang="en-US" sz="1800" kern="0" dirty="0">
                <a:solidFill>
                  <a:srgbClr val="1F1F1F"/>
                </a:solidFill>
                <a:effectLst/>
                <a:latin typeface="+mn-lt"/>
                <a:ea typeface="Times New Roman" panose="02020603050405020304" pitchFamily="18" charset="0"/>
                <a:cs typeface="Times New Roman" panose="02020603050405020304" pitchFamily="18" charset="0"/>
              </a:rPr>
              <a:t>Writing effective prompts is crucial for getting the most out of large language models like Bard and </a:t>
            </a:r>
            <a:r>
              <a:rPr lang="en-US" sz="1800" kern="0" dirty="0" err="1">
                <a:solidFill>
                  <a:srgbClr val="1F1F1F"/>
                </a:solidFill>
                <a:effectLst/>
                <a:latin typeface="+mn-lt"/>
                <a:ea typeface="Times New Roman" panose="02020603050405020304" pitchFamily="18" charset="0"/>
                <a:cs typeface="Times New Roman" panose="02020603050405020304" pitchFamily="18" charset="0"/>
              </a:rPr>
              <a:t>ChatGPT</a:t>
            </a:r>
            <a:r>
              <a:rPr lang="en-US" sz="1800" kern="0" dirty="0">
                <a:solidFill>
                  <a:srgbClr val="1F1F1F"/>
                </a:solidFill>
                <a:effectLst/>
                <a:latin typeface="+mn-lt"/>
                <a:ea typeface="Times New Roman" panose="02020603050405020304" pitchFamily="18" charset="0"/>
                <a:cs typeface="Times New Roman" panose="02020603050405020304" pitchFamily="18" charset="0"/>
              </a:rPr>
              <a:t>. Here are some best practices to follow:</a:t>
            </a:r>
            <a:endParaRPr lang="en-US" sz="1800" kern="100" dirty="0">
              <a:effectLst/>
              <a:latin typeface="+mn-lt"/>
              <a:ea typeface="Calibri" panose="020F0502020204030204" pitchFamily="34" charset="0"/>
              <a:cs typeface="Times New Roman" panose="02020603050405020304" pitchFamily="18" charset="0"/>
            </a:endParaRPr>
          </a:p>
          <a:p>
            <a:pPr marL="0" marR="0" indent="0">
              <a:lnSpc>
                <a:spcPts val="1800"/>
              </a:lnSpc>
              <a:spcBef>
                <a:spcPts val="0"/>
              </a:spcBef>
              <a:spcAft>
                <a:spcPts val="0"/>
              </a:spcAft>
              <a:buNone/>
            </a:pPr>
            <a:endParaRPr lang="en-US" sz="1800" b="1" kern="0" dirty="0">
              <a:solidFill>
                <a:srgbClr val="1F1F1F"/>
              </a:solidFill>
              <a:effectLst/>
              <a:latin typeface="+mn-lt"/>
              <a:ea typeface="Times New Roman" panose="02020603050405020304" pitchFamily="18" charset="0"/>
              <a:cs typeface="Times New Roman" panose="02020603050405020304" pitchFamily="18" charset="0"/>
            </a:endParaRPr>
          </a:p>
          <a:p>
            <a:pPr marL="0" marR="0" indent="0">
              <a:lnSpc>
                <a:spcPts val="1800"/>
              </a:lnSpc>
              <a:spcBef>
                <a:spcPts val="0"/>
              </a:spcBef>
              <a:spcAft>
                <a:spcPts val="0"/>
              </a:spcAft>
              <a:buNone/>
            </a:pPr>
            <a:r>
              <a:rPr lang="en-US" sz="1800" b="1" kern="0" dirty="0">
                <a:solidFill>
                  <a:srgbClr val="1F1F1F"/>
                </a:solidFill>
                <a:effectLst/>
                <a:latin typeface="+mn-lt"/>
                <a:ea typeface="Times New Roman" panose="02020603050405020304" pitchFamily="18" charset="0"/>
                <a:cs typeface="Times New Roman" panose="02020603050405020304" pitchFamily="18" charset="0"/>
              </a:rPr>
              <a:t>Understand the desired outcome:</a:t>
            </a:r>
            <a:endParaRPr lang="en-US" sz="1800" b="1" kern="100" dirty="0">
              <a:effectLst/>
              <a:latin typeface="+mn-lt"/>
              <a:ea typeface="Calibri" panose="020F0502020204030204" pitchFamily="34" charset="0"/>
              <a:cs typeface="Times New Roman" panose="02020603050405020304" pitchFamily="18" charset="0"/>
            </a:endParaRPr>
          </a:p>
          <a:p>
            <a:pPr>
              <a:lnSpc>
                <a:spcPts val="1800"/>
              </a:lnSpc>
              <a:spcBef>
                <a:spcPts val="0"/>
              </a:spcBef>
              <a:spcAft>
                <a:spcPts val="750"/>
              </a:spcAft>
            </a:pPr>
            <a:r>
              <a:rPr lang="en-US" sz="1800" kern="0" dirty="0">
                <a:solidFill>
                  <a:srgbClr val="1F1F1F"/>
                </a:solidFill>
                <a:effectLst/>
                <a:latin typeface="+mn-lt"/>
                <a:ea typeface="Times New Roman" panose="02020603050405020304" pitchFamily="18" charset="0"/>
                <a:cs typeface="Times New Roman" panose="02020603050405020304" pitchFamily="18" charset="0"/>
              </a:rPr>
              <a:t>Be clear about what you want the model to achieve.</a:t>
            </a:r>
            <a:endParaRPr lang="en-US" sz="1800" kern="100" dirty="0">
              <a:effectLst/>
              <a:latin typeface="+mn-lt"/>
              <a:ea typeface="Calibri" panose="020F0502020204030204" pitchFamily="34" charset="0"/>
              <a:cs typeface="Times New Roman" panose="02020603050405020304" pitchFamily="18" charset="0"/>
            </a:endParaRPr>
          </a:p>
          <a:p>
            <a:pPr>
              <a:lnSpc>
                <a:spcPts val="1800"/>
              </a:lnSpc>
              <a:spcBef>
                <a:spcPts val="0"/>
              </a:spcBef>
              <a:spcAft>
                <a:spcPts val="750"/>
              </a:spcAft>
            </a:pPr>
            <a:r>
              <a:rPr lang="en-US" sz="1800" kern="0" dirty="0">
                <a:solidFill>
                  <a:srgbClr val="1F1F1F"/>
                </a:solidFill>
                <a:effectLst/>
                <a:latin typeface="+mn-lt"/>
                <a:ea typeface="Times New Roman" panose="02020603050405020304" pitchFamily="18" charset="0"/>
                <a:cs typeface="Times New Roman" panose="02020603050405020304" pitchFamily="18" charset="0"/>
              </a:rPr>
              <a:t>Is it generating text, translating languages, writing different kinds of creative content, or answering your questions?</a:t>
            </a:r>
            <a:endParaRPr lang="en-US" sz="1800" kern="100" dirty="0">
              <a:effectLst/>
              <a:latin typeface="+mn-lt"/>
              <a:ea typeface="Calibri" panose="020F0502020204030204" pitchFamily="34" charset="0"/>
              <a:cs typeface="Times New Roman" panose="02020603050405020304" pitchFamily="18" charset="0"/>
            </a:endParaRPr>
          </a:p>
          <a:p>
            <a:pPr>
              <a:lnSpc>
                <a:spcPts val="1800"/>
              </a:lnSpc>
              <a:spcBef>
                <a:spcPts val="0"/>
              </a:spcBef>
              <a:spcAft>
                <a:spcPts val="750"/>
              </a:spcAft>
            </a:pPr>
            <a:r>
              <a:rPr lang="en-US" sz="1800" kern="0" dirty="0">
                <a:solidFill>
                  <a:srgbClr val="1F1F1F"/>
                </a:solidFill>
                <a:effectLst/>
                <a:latin typeface="+mn-lt"/>
                <a:ea typeface="Times New Roman" panose="02020603050405020304" pitchFamily="18" charset="0"/>
                <a:cs typeface="Times New Roman" panose="02020603050405020304" pitchFamily="18" charset="0"/>
              </a:rPr>
              <a:t>This clarity helps the model focus its efforts and produce the desired outcome.</a:t>
            </a:r>
            <a:endParaRPr lang="en-US" sz="1800" kern="100" dirty="0">
              <a:effectLst/>
              <a:latin typeface="+mn-lt"/>
              <a:ea typeface="Calibri" panose="020F0502020204030204" pitchFamily="34" charset="0"/>
              <a:cs typeface="Times New Roman" panose="02020603050405020304" pitchFamily="18" charset="0"/>
            </a:endParaRPr>
          </a:p>
          <a:p>
            <a:pPr marL="0" indent="0">
              <a:lnSpc>
                <a:spcPts val="1800"/>
              </a:lnSpc>
              <a:spcBef>
                <a:spcPts val="0"/>
              </a:spcBef>
              <a:buNone/>
            </a:pPr>
            <a:r>
              <a:rPr lang="en-US" sz="1800" b="1" kern="0" dirty="0">
                <a:solidFill>
                  <a:srgbClr val="1F1F1F"/>
                </a:solidFill>
                <a:effectLst/>
                <a:latin typeface="+mn-lt"/>
                <a:ea typeface="Times New Roman" panose="02020603050405020304" pitchFamily="18" charset="0"/>
                <a:cs typeface="Times New Roman" panose="02020603050405020304" pitchFamily="18" charset="0"/>
              </a:rPr>
              <a:t>Be specific and descriptive:</a:t>
            </a:r>
            <a:endParaRPr lang="en-US" sz="1800" b="1" kern="100" dirty="0">
              <a:effectLst/>
              <a:latin typeface="+mn-lt"/>
              <a:ea typeface="Calibri" panose="020F0502020204030204" pitchFamily="34" charset="0"/>
              <a:cs typeface="Times New Roman" panose="02020603050405020304" pitchFamily="18" charset="0"/>
            </a:endParaRPr>
          </a:p>
          <a:p>
            <a:pPr>
              <a:lnSpc>
                <a:spcPts val="1800"/>
              </a:lnSpc>
              <a:spcBef>
                <a:spcPts val="0"/>
              </a:spcBef>
              <a:spcAft>
                <a:spcPts val="750"/>
              </a:spcAft>
            </a:pPr>
            <a:r>
              <a:rPr lang="en-US" sz="1800" kern="0" dirty="0">
                <a:solidFill>
                  <a:srgbClr val="1F1F1F"/>
                </a:solidFill>
                <a:effectLst/>
                <a:latin typeface="+mn-lt"/>
                <a:ea typeface="Times New Roman" panose="02020603050405020304" pitchFamily="18" charset="0"/>
                <a:cs typeface="Times New Roman" panose="02020603050405020304" pitchFamily="18" charset="0"/>
              </a:rPr>
              <a:t>The more details you provide, the better the model can understand your request.</a:t>
            </a:r>
            <a:endParaRPr lang="en-US" sz="1800" kern="100" dirty="0">
              <a:effectLst/>
              <a:latin typeface="+mn-lt"/>
              <a:ea typeface="Calibri" panose="020F0502020204030204" pitchFamily="34" charset="0"/>
              <a:cs typeface="Times New Roman" panose="02020603050405020304" pitchFamily="18" charset="0"/>
            </a:endParaRPr>
          </a:p>
          <a:p>
            <a:pPr>
              <a:lnSpc>
                <a:spcPts val="1800"/>
              </a:lnSpc>
              <a:spcBef>
                <a:spcPts val="0"/>
              </a:spcBef>
              <a:spcAft>
                <a:spcPts val="750"/>
              </a:spcAft>
            </a:pPr>
            <a:r>
              <a:rPr lang="en-US" sz="1800" kern="0" dirty="0">
                <a:solidFill>
                  <a:srgbClr val="1F1F1F"/>
                </a:solidFill>
                <a:effectLst/>
                <a:latin typeface="+mn-lt"/>
                <a:ea typeface="Times New Roman" panose="02020603050405020304" pitchFamily="18" charset="0"/>
                <a:cs typeface="Times New Roman" panose="02020603050405020304" pitchFamily="18" charset="0"/>
              </a:rPr>
              <a:t>Provide context, examples, and specific instructions to guide the model towards the desired output.</a:t>
            </a:r>
            <a:endParaRPr lang="en-US" sz="1800" kern="100" dirty="0">
              <a:effectLst/>
              <a:latin typeface="+mn-lt"/>
              <a:ea typeface="Calibri" panose="020F0502020204030204" pitchFamily="34" charset="0"/>
              <a:cs typeface="Times New Roman" panose="02020603050405020304" pitchFamily="18" charset="0"/>
            </a:endParaRPr>
          </a:p>
          <a:p>
            <a:pPr>
              <a:lnSpc>
                <a:spcPts val="1800"/>
              </a:lnSpc>
              <a:spcBef>
                <a:spcPts val="0"/>
              </a:spcBef>
              <a:spcAft>
                <a:spcPts val="750"/>
              </a:spcAft>
            </a:pPr>
            <a:r>
              <a:rPr lang="en-US" sz="1800" kern="0" dirty="0">
                <a:solidFill>
                  <a:srgbClr val="1F1F1F"/>
                </a:solidFill>
                <a:effectLst/>
                <a:latin typeface="+mn-lt"/>
                <a:ea typeface="Times New Roman" panose="02020603050405020304" pitchFamily="18" charset="0"/>
                <a:cs typeface="Times New Roman" panose="02020603050405020304" pitchFamily="18" charset="0"/>
              </a:rPr>
              <a:t>Avoid vagueness and ambiguity to ensure accurate and relevant results.</a:t>
            </a:r>
            <a:endParaRPr lang="en-US" sz="1800" kern="100" dirty="0">
              <a:effectLst/>
              <a:latin typeface="+mn-lt"/>
              <a:ea typeface="Calibri" panose="020F0502020204030204" pitchFamily="34" charset="0"/>
              <a:cs typeface="Times New Roman" panose="02020603050405020304" pitchFamily="18" charset="0"/>
            </a:endParaRPr>
          </a:p>
          <a:p>
            <a:pPr marL="0" indent="0">
              <a:buNone/>
            </a:pPr>
            <a:endParaRPr lang="en-US" sz="1800" dirty="0">
              <a:latin typeface="+mn-lt"/>
            </a:endParaRPr>
          </a:p>
        </p:txBody>
      </p:sp>
      <p:pic>
        <p:nvPicPr>
          <p:cNvPr id="5" name="Picture 4">
            <a:extLst>
              <a:ext uri="{FF2B5EF4-FFF2-40B4-BE49-F238E27FC236}">
                <a16:creationId xmlns:a16="http://schemas.microsoft.com/office/drawing/2014/main" xmlns="" id="{C1AE4BE9-8A6D-C7C2-B3CE-094AE38361FF}"/>
              </a:ext>
            </a:extLst>
          </p:cNvPr>
          <p:cNvPicPr>
            <a:picLocks noChangeAspect="1"/>
          </p:cNvPicPr>
          <p:nvPr/>
        </p:nvPicPr>
        <p:blipFill rotWithShape="1">
          <a:blip r:embed="rId2">
            <a:extLst>
              <a:ext uri="{28A0092B-C50C-407E-A947-70E740481C1C}">
                <a14:useLocalDpi xmlns:a14="http://schemas.microsoft.com/office/drawing/2010/main" val="0"/>
              </a:ext>
            </a:extLst>
          </a:blip>
          <a:srcRect t="24375" b="32500"/>
          <a:stretch/>
        </p:blipFill>
        <p:spPr>
          <a:xfrm>
            <a:off x="7120945" y="1445546"/>
            <a:ext cx="4547179" cy="4357712"/>
          </a:xfrm>
          <a:prstGeom prst="rect">
            <a:avLst/>
          </a:prstGeom>
        </p:spPr>
      </p:pic>
    </p:spTree>
    <p:extLst>
      <p:ext uri="{BB962C8B-B14F-4D97-AF65-F5344CB8AC3E}">
        <p14:creationId xmlns:p14="http://schemas.microsoft.com/office/powerpoint/2010/main" val="37045387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6420D28-4E8E-F1A6-0B44-02E398A05DE1}"/>
              </a:ext>
            </a:extLst>
          </p:cNvPr>
          <p:cNvSpPr>
            <a:spLocks noGrp="1"/>
          </p:cNvSpPr>
          <p:nvPr>
            <p:ph type="title"/>
          </p:nvPr>
        </p:nvSpPr>
        <p:spPr/>
        <p:txBody>
          <a:bodyPr/>
          <a:lstStyle/>
          <a:p>
            <a:r>
              <a:rPr lang="en-US" dirty="0" err="1"/>
              <a:t>Cont</a:t>
            </a:r>
            <a:r>
              <a:rPr lang="en-US" dirty="0"/>
              <a:t>…</a:t>
            </a:r>
          </a:p>
        </p:txBody>
      </p:sp>
      <p:sp>
        <p:nvSpPr>
          <p:cNvPr id="3" name="Content Placeholder 2">
            <a:extLst>
              <a:ext uri="{FF2B5EF4-FFF2-40B4-BE49-F238E27FC236}">
                <a16:creationId xmlns:a16="http://schemas.microsoft.com/office/drawing/2014/main" xmlns="" id="{83A406F3-9CDC-4FF3-55E4-5729A082DA59}"/>
              </a:ext>
            </a:extLst>
          </p:cNvPr>
          <p:cNvSpPr>
            <a:spLocks noGrp="1"/>
          </p:cNvSpPr>
          <p:nvPr>
            <p:ph idx="1"/>
          </p:nvPr>
        </p:nvSpPr>
        <p:spPr>
          <a:xfrm>
            <a:off x="678883" y="1442629"/>
            <a:ext cx="10834234" cy="4398066"/>
          </a:xfrm>
        </p:spPr>
        <p:txBody>
          <a:bodyPr>
            <a:noAutofit/>
          </a:bodyPr>
          <a:lstStyle/>
          <a:p>
            <a:pPr marL="0" indent="0">
              <a:lnSpc>
                <a:spcPct val="100000"/>
              </a:lnSpc>
              <a:spcBef>
                <a:spcPts val="0"/>
              </a:spcBef>
              <a:buNone/>
            </a:pPr>
            <a:r>
              <a:rPr lang="en-US" sz="2000" b="1" kern="0" dirty="0">
                <a:solidFill>
                  <a:srgbClr val="1F1F1F"/>
                </a:solidFill>
                <a:effectLst/>
                <a:latin typeface="+mn-lt"/>
                <a:ea typeface="Times New Roman" panose="02020603050405020304" pitchFamily="18" charset="0"/>
                <a:cs typeface="Times New Roman" panose="02020603050405020304" pitchFamily="18" charset="0"/>
              </a:rPr>
              <a:t>Use clear and concise language:</a:t>
            </a:r>
            <a:endParaRPr lang="en-US" sz="2000" b="1" kern="100" dirty="0">
              <a:effectLst/>
              <a:latin typeface="+mn-lt"/>
              <a:ea typeface="Calibri" panose="020F0502020204030204" pitchFamily="34" charset="0"/>
              <a:cs typeface="Times New Roman" panose="02020603050405020304" pitchFamily="18" charset="0"/>
            </a:endParaRPr>
          </a:p>
          <a:p>
            <a:pPr>
              <a:lnSpc>
                <a:spcPct val="100000"/>
              </a:lnSpc>
              <a:spcBef>
                <a:spcPts val="0"/>
              </a:spcBef>
            </a:pPr>
            <a:r>
              <a:rPr lang="en-US" sz="1800" kern="0" dirty="0">
                <a:solidFill>
                  <a:srgbClr val="1F1F1F"/>
                </a:solidFill>
                <a:effectLst/>
                <a:latin typeface="+mn-lt"/>
                <a:ea typeface="Times New Roman" panose="02020603050405020304" pitchFamily="18" charset="0"/>
                <a:cs typeface="Times New Roman" panose="02020603050405020304" pitchFamily="18" charset="0"/>
              </a:rPr>
              <a:t>Avoid using jargon, technical terms, or complicated sentence structures.</a:t>
            </a:r>
            <a:endParaRPr lang="en-US" sz="1800" kern="100" dirty="0">
              <a:effectLst/>
              <a:latin typeface="+mn-lt"/>
              <a:ea typeface="Calibri" panose="020F0502020204030204" pitchFamily="34" charset="0"/>
              <a:cs typeface="Times New Roman" panose="02020603050405020304" pitchFamily="18" charset="0"/>
            </a:endParaRPr>
          </a:p>
          <a:p>
            <a:pPr>
              <a:lnSpc>
                <a:spcPct val="100000"/>
              </a:lnSpc>
              <a:spcBef>
                <a:spcPts val="0"/>
              </a:spcBef>
            </a:pPr>
            <a:r>
              <a:rPr lang="en-US" sz="1800" kern="0" dirty="0">
                <a:solidFill>
                  <a:srgbClr val="1F1F1F"/>
                </a:solidFill>
                <a:effectLst/>
                <a:latin typeface="+mn-lt"/>
                <a:ea typeface="Times New Roman" panose="02020603050405020304" pitchFamily="18" charset="0"/>
                <a:cs typeface="Times New Roman" panose="02020603050405020304" pitchFamily="18" charset="0"/>
              </a:rPr>
              <a:t>Use straightforward language that is easy for the model to understand and process.</a:t>
            </a:r>
            <a:endParaRPr lang="en-US" sz="1800" kern="100" dirty="0">
              <a:effectLst/>
              <a:latin typeface="+mn-lt"/>
              <a:ea typeface="Calibri" panose="020F0502020204030204" pitchFamily="34" charset="0"/>
              <a:cs typeface="Times New Roman" panose="02020603050405020304" pitchFamily="18" charset="0"/>
            </a:endParaRPr>
          </a:p>
          <a:p>
            <a:pPr>
              <a:lnSpc>
                <a:spcPct val="100000"/>
              </a:lnSpc>
              <a:spcBef>
                <a:spcPts val="0"/>
              </a:spcBef>
            </a:pPr>
            <a:r>
              <a:rPr lang="en-US" sz="1800" kern="0" dirty="0">
                <a:solidFill>
                  <a:srgbClr val="1F1F1F"/>
                </a:solidFill>
                <a:effectLst/>
                <a:latin typeface="+mn-lt"/>
                <a:ea typeface="Times New Roman" panose="02020603050405020304" pitchFamily="18" charset="0"/>
                <a:cs typeface="Times New Roman" panose="02020603050405020304" pitchFamily="18" charset="0"/>
              </a:rPr>
              <a:t>This ensures smooth communication and efficient generation of results.</a:t>
            </a:r>
            <a:endParaRPr lang="en-US" sz="1800" b="1" kern="0" dirty="0">
              <a:solidFill>
                <a:srgbClr val="1F1F1F"/>
              </a:solidFill>
              <a:effectLst/>
              <a:latin typeface="+mn-lt"/>
              <a:ea typeface="Times New Roman" panose="02020603050405020304" pitchFamily="18" charset="0"/>
              <a:cs typeface="Times New Roman" panose="02020603050405020304" pitchFamily="18" charset="0"/>
            </a:endParaRPr>
          </a:p>
          <a:p>
            <a:pPr marL="0" marR="0" indent="0">
              <a:lnSpc>
                <a:spcPct val="100000"/>
              </a:lnSpc>
              <a:spcBef>
                <a:spcPts val="0"/>
              </a:spcBef>
              <a:buNone/>
            </a:pPr>
            <a:r>
              <a:rPr lang="en-US" sz="1800" b="1" kern="0" dirty="0">
                <a:solidFill>
                  <a:srgbClr val="1F1F1F"/>
                </a:solidFill>
                <a:effectLst/>
                <a:latin typeface="+mn-lt"/>
                <a:ea typeface="Times New Roman" panose="02020603050405020304" pitchFamily="18" charset="0"/>
                <a:cs typeface="Times New Roman" panose="02020603050405020304" pitchFamily="18" charset="0"/>
              </a:rPr>
              <a:t>Structure your prompt:</a:t>
            </a:r>
            <a:endParaRPr lang="en-US" sz="1800" b="1" kern="100" dirty="0">
              <a:latin typeface="+mn-lt"/>
              <a:ea typeface="Times New Roman" panose="02020603050405020304" pitchFamily="18" charset="0"/>
              <a:cs typeface="Times New Roman" panose="02020603050405020304" pitchFamily="18" charset="0"/>
            </a:endParaRPr>
          </a:p>
          <a:p>
            <a:pPr>
              <a:lnSpc>
                <a:spcPct val="100000"/>
              </a:lnSpc>
              <a:spcBef>
                <a:spcPts val="0"/>
              </a:spcBef>
            </a:pPr>
            <a:r>
              <a:rPr lang="en-US" sz="1800" kern="0" dirty="0">
                <a:solidFill>
                  <a:srgbClr val="1F1F1F"/>
                </a:solidFill>
                <a:latin typeface="+mn-lt"/>
                <a:cs typeface="Times New Roman" panose="02020603050405020304" pitchFamily="18" charset="0"/>
              </a:rPr>
              <a:t>Separate instructions from context using clear markers like ### or """.</a:t>
            </a:r>
          </a:p>
          <a:p>
            <a:pPr>
              <a:lnSpc>
                <a:spcPct val="100000"/>
              </a:lnSpc>
              <a:spcBef>
                <a:spcPts val="0"/>
              </a:spcBef>
            </a:pPr>
            <a:r>
              <a:rPr lang="en-US" sz="1800" kern="0" dirty="0">
                <a:solidFill>
                  <a:srgbClr val="1F1F1F"/>
                </a:solidFill>
                <a:latin typeface="+mn-lt"/>
                <a:cs typeface="Times New Roman" panose="02020603050405020304" pitchFamily="18" charset="0"/>
              </a:rPr>
              <a:t>This helps the model distinguish between your desired outcome and the information provided.</a:t>
            </a:r>
          </a:p>
          <a:p>
            <a:pPr>
              <a:lnSpc>
                <a:spcPct val="100000"/>
              </a:lnSpc>
              <a:spcBef>
                <a:spcPts val="0"/>
              </a:spcBef>
            </a:pPr>
            <a:r>
              <a:rPr lang="en-US" sz="1800" kern="0" dirty="0">
                <a:solidFill>
                  <a:srgbClr val="1F1F1F"/>
                </a:solidFill>
                <a:latin typeface="+mn-lt"/>
                <a:cs typeface="Times New Roman" panose="02020603050405020304" pitchFamily="18" charset="0"/>
              </a:rPr>
              <a:t>It also improves the model's understanding of the structure and flow of your prompt.</a:t>
            </a:r>
          </a:p>
          <a:p>
            <a:pPr marL="0" marR="0" indent="0">
              <a:lnSpc>
                <a:spcPct val="100000"/>
              </a:lnSpc>
              <a:spcBef>
                <a:spcPts val="0"/>
              </a:spcBef>
              <a:buNone/>
            </a:pPr>
            <a:r>
              <a:rPr lang="en-US" sz="1800" b="1" kern="0" dirty="0">
                <a:solidFill>
                  <a:srgbClr val="1F1F1F"/>
                </a:solidFill>
                <a:effectLst/>
                <a:latin typeface="+mn-lt"/>
                <a:ea typeface="Times New Roman" panose="02020603050405020304" pitchFamily="18" charset="0"/>
                <a:cs typeface="Times New Roman" panose="02020603050405020304" pitchFamily="18" charset="0"/>
              </a:rPr>
              <a:t>Specify desired format and style:</a:t>
            </a:r>
            <a:endParaRPr lang="en-US" sz="1800" b="1" kern="100" dirty="0">
              <a:effectLst/>
              <a:latin typeface="+mn-lt"/>
              <a:ea typeface="Calibri" panose="020F0502020204030204" pitchFamily="34" charset="0"/>
              <a:cs typeface="Times New Roman" panose="02020603050405020304" pitchFamily="18" charset="0"/>
            </a:endParaRPr>
          </a:p>
          <a:p>
            <a:pPr>
              <a:lnSpc>
                <a:spcPct val="100000"/>
              </a:lnSpc>
              <a:spcBef>
                <a:spcPts val="0"/>
              </a:spcBef>
              <a:buSzPts val="1000"/>
              <a:tabLst>
                <a:tab pos="457200" algn="l"/>
              </a:tabLst>
            </a:pPr>
            <a:r>
              <a:rPr lang="en-US" sz="1800" kern="0" dirty="0">
                <a:solidFill>
                  <a:srgbClr val="1F1F1F"/>
                </a:solidFill>
                <a:latin typeface="+mn-lt"/>
                <a:cs typeface="Times New Roman" panose="02020603050405020304" pitchFamily="18" charset="0"/>
              </a:rPr>
              <a:t>If you have specific requirements for the format or style of the output, mention them clearly in your prompt.</a:t>
            </a:r>
          </a:p>
          <a:p>
            <a:pPr>
              <a:lnSpc>
                <a:spcPct val="100000"/>
              </a:lnSpc>
              <a:spcBef>
                <a:spcPts val="0"/>
              </a:spcBef>
              <a:buSzPts val="1000"/>
              <a:tabLst>
                <a:tab pos="457200" algn="l"/>
              </a:tabLst>
            </a:pPr>
            <a:r>
              <a:rPr lang="en-US" sz="1800" kern="0" dirty="0">
                <a:solidFill>
                  <a:srgbClr val="1F1F1F"/>
                </a:solidFill>
                <a:latin typeface="+mn-lt"/>
                <a:cs typeface="Times New Roman" panose="02020603050405020304" pitchFamily="18" charset="0"/>
              </a:rPr>
              <a:t>This could include specifying the length, tone, formality, or genre of the generated text.</a:t>
            </a:r>
          </a:p>
          <a:p>
            <a:pPr>
              <a:lnSpc>
                <a:spcPct val="100000"/>
              </a:lnSpc>
              <a:spcBef>
                <a:spcPts val="0"/>
              </a:spcBef>
              <a:buSzPts val="1000"/>
              <a:tabLst>
                <a:tab pos="457200" algn="l"/>
              </a:tabLst>
            </a:pPr>
            <a:r>
              <a:rPr lang="en-US" sz="1800" kern="0" dirty="0">
                <a:solidFill>
                  <a:srgbClr val="1F1F1F"/>
                </a:solidFill>
                <a:latin typeface="+mn-lt"/>
                <a:cs typeface="Times New Roman" panose="02020603050405020304" pitchFamily="18" charset="0"/>
              </a:rPr>
              <a:t>The more specific you are, the better the model can tailor its response to your preferences.</a:t>
            </a:r>
          </a:p>
          <a:p>
            <a:pPr marL="0" marR="0" indent="0">
              <a:lnSpc>
                <a:spcPct val="100000"/>
              </a:lnSpc>
              <a:spcBef>
                <a:spcPts val="0"/>
              </a:spcBef>
              <a:buNone/>
            </a:pPr>
            <a:r>
              <a:rPr lang="en-US" sz="1800" b="1" kern="0" dirty="0">
                <a:solidFill>
                  <a:srgbClr val="1F1F1F"/>
                </a:solidFill>
                <a:effectLst/>
                <a:latin typeface="+mn-lt"/>
                <a:ea typeface="Times New Roman" panose="02020603050405020304" pitchFamily="18" charset="0"/>
                <a:cs typeface="Times New Roman" panose="02020603050405020304" pitchFamily="18" charset="0"/>
              </a:rPr>
              <a:t>Use positive language and avoid negativity:</a:t>
            </a:r>
            <a:endParaRPr lang="en-US" sz="1800" b="1" kern="100" dirty="0">
              <a:effectLst/>
              <a:latin typeface="+mn-lt"/>
              <a:ea typeface="Calibri" panose="020F0502020204030204" pitchFamily="34" charset="0"/>
              <a:cs typeface="Times New Roman" panose="02020603050405020304" pitchFamily="18" charset="0"/>
            </a:endParaRPr>
          </a:p>
          <a:p>
            <a:pPr>
              <a:lnSpc>
                <a:spcPct val="100000"/>
              </a:lnSpc>
              <a:spcBef>
                <a:spcPts val="0"/>
              </a:spcBef>
              <a:buSzPts val="1000"/>
              <a:tabLst>
                <a:tab pos="457200" algn="l"/>
              </a:tabLst>
            </a:pPr>
            <a:r>
              <a:rPr lang="en-US" sz="1800" kern="0" dirty="0">
                <a:solidFill>
                  <a:srgbClr val="1F1F1F"/>
                </a:solidFill>
                <a:latin typeface="+mn-lt"/>
                <a:cs typeface="Times New Roman" panose="02020603050405020304" pitchFamily="18" charset="0"/>
              </a:rPr>
              <a:t>Focus on what you want the model to do rather than what you don't want.</a:t>
            </a:r>
          </a:p>
          <a:p>
            <a:pPr>
              <a:lnSpc>
                <a:spcPct val="100000"/>
              </a:lnSpc>
              <a:spcBef>
                <a:spcPts val="0"/>
              </a:spcBef>
              <a:buSzPts val="1000"/>
              <a:tabLst>
                <a:tab pos="457200" algn="l"/>
              </a:tabLst>
            </a:pPr>
            <a:r>
              <a:rPr lang="en-US" sz="1800" kern="0" dirty="0">
                <a:solidFill>
                  <a:srgbClr val="1F1F1F"/>
                </a:solidFill>
                <a:latin typeface="+mn-lt"/>
                <a:cs typeface="Times New Roman" panose="02020603050405020304" pitchFamily="18" charset="0"/>
              </a:rPr>
              <a:t>Framing your prompt in a positive light encourages the model to generate positive and constructive output.</a:t>
            </a:r>
          </a:p>
          <a:p>
            <a:pPr>
              <a:lnSpc>
                <a:spcPct val="100000"/>
              </a:lnSpc>
              <a:spcBef>
                <a:spcPts val="0"/>
              </a:spcBef>
              <a:buSzPts val="1000"/>
              <a:tabLst>
                <a:tab pos="457200" algn="l"/>
              </a:tabLst>
            </a:pPr>
            <a:r>
              <a:rPr lang="en-US" sz="1800" kern="0" dirty="0">
                <a:solidFill>
                  <a:srgbClr val="1F1F1F"/>
                </a:solidFill>
                <a:latin typeface="+mn-lt"/>
                <a:cs typeface="Times New Roman" panose="02020603050405020304" pitchFamily="18" charset="0"/>
              </a:rPr>
              <a:t>Avoid using negative words or phrases that could limit the model's creativity and potential. </a:t>
            </a:r>
          </a:p>
        </p:txBody>
      </p:sp>
    </p:spTree>
    <p:extLst>
      <p:ext uri="{BB962C8B-B14F-4D97-AF65-F5344CB8AC3E}">
        <p14:creationId xmlns:p14="http://schemas.microsoft.com/office/powerpoint/2010/main" val="39885524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29B6B58-3737-5417-7E2D-519F6C15EDAC}"/>
              </a:ext>
            </a:extLst>
          </p:cNvPr>
          <p:cNvSpPr>
            <a:spLocks noGrp="1"/>
          </p:cNvSpPr>
          <p:nvPr>
            <p:ph type="title"/>
          </p:nvPr>
        </p:nvSpPr>
        <p:spPr/>
        <p:txBody>
          <a:bodyPr/>
          <a:lstStyle/>
          <a:p>
            <a:r>
              <a:rPr lang="en-US"/>
              <a:t>Cont</a:t>
            </a:r>
            <a:r>
              <a:rPr lang="en-US" dirty="0"/>
              <a:t>…</a:t>
            </a:r>
          </a:p>
        </p:txBody>
      </p:sp>
      <p:sp>
        <p:nvSpPr>
          <p:cNvPr id="3" name="Content Placeholder 2">
            <a:extLst>
              <a:ext uri="{FF2B5EF4-FFF2-40B4-BE49-F238E27FC236}">
                <a16:creationId xmlns:a16="http://schemas.microsoft.com/office/drawing/2014/main" xmlns="" id="{F3966E92-CB16-AA1E-D7CE-2D4841548720}"/>
              </a:ext>
            </a:extLst>
          </p:cNvPr>
          <p:cNvSpPr>
            <a:spLocks noGrp="1"/>
          </p:cNvSpPr>
          <p:nvPr>
            <p:ph idx="1"/>
          </p:nvPr>
        </p:nvSpPr>
        <p:spPr>
          <a:xfrm>
            <a:off x="678883" y="1463066"/>
            <a:ext cx="10834234" cy="4398066"/>
          </a:xfrm>
        </p:spPr>
        <p:txBody>
          <a:bodyPr>
            <a:noAutofit/>
          </a:bodyPr>
          <a:lstStyle/>
          <a:p>
            <a:pPr marL="0" marR="0" indent="0">
              <a:lnSpc>
                <a:spcPts val="1800"/>
              </a:lnSpc>
              <a:spcBef>
                <a:spcPts val="0"/>
              </a:spcBef>
              <a:spcAft>
                <a:spcPts val="0"/>
              </a:spcAft>
              <a:buNone/>
            </a:pPr>
            <a:r>
              <a:rPr lang="en-US" sz="1800" b="1" kern="0" dirty="0">
                <a:solidFill>
                  <a:srgbClr val="1F1F1F"/>
                </a:solidFill>
                <a:effectLst/>
                <a:latin typeface="+mn-lt"/>
                <a:ea typeface="Times New Roman" panose="02020603050405020304" pitchFamily="18" charset="0"/>
                <a:cs typeface="Times New Roman" panose="02020603050405020304" pitchFamily="18" charset="0"/>
              </a:rPr>
              <a:t>Experiment and iterate:</a:t>
            </a:r>
            <a:endParaRPr lang="en-US" sz="1800" b="1" kern="100" dirty="0">
              <a:effectLst/>
              <a:latin typeface="+mn-lt"/>
              <a:ea typeface="Calibri" panose="020F0502020204030204" pitchFamily="34" charset="0"/>
              <a:cs typeface="Times New Roman" panose="02020603050405020304" pitchFamily="18" charset="0"/>
            </a:endParaRPr>
          </a:p>
          <a:p>
            <a:pPr>
              <a:lnSpc>
                <a:spcPts val="1800"/>
              </a:lnSpc>
              <a:spcBef>
                <a:spcPts val="0"/>
              </a:spcBef>
              <a:spcAft>
                <a:spcPts val="750"/>
              </a:spcAft>
              <a:buSzPts val="1000"/>
              <a:tabLst>
                <a:tab pos="457200" algn="l"/>
              </a:tabLst>
            </a:pPr>
            <a:r>
              <a:rPr lang="en-US" sz="1800" kern="0" dirty="0">
                <a:solidFill>
                  <a:srgbClr val="1F1F1F"/>
                </a:solidFill>
                <a:latin typeface="+mn-lt"/>
                <a:cs typeface="Times New Roman" panose="02020603050405020304" pitchFamily="18" charset="0"/>
              </a:rPr>
              <a:t>Don't be afraid to experiment with different wording and approaches.</a:t>
            </a:r>
          </a:p>
          <a:p>
            <a:pPr>
              <a:lnSpc>
                <a:spcPts val="1800"/>
              </a:lnSpc>
              <a:spcBef>
                <a:spcPts val="0"/>
              </a:spcBef>
              <a:spcAft>
                <a:spcPts val="750"/>
              </a:spcAft>
              <a:buSzPts val="1000"/>
              <a:tabLst>
                <a:tab pos="457200" algn="l"/>
              </a:tabLst>
            </a:pPr>
            <a:r>
              <a:rPr lang="en-US" sz="1800" kern="0" dirty="0">
                <a:solidFill>
                  <a:srgbClr val="1F1F1F"/>
                </a:solidFill>
                <a:latin typeface="+mn-lt"/>
                <a:cs typeface="Times New Roman" panose="02020603050405020304" pitchFamily="18" charset="0"/>
              </a:rPr>
              <a:t>Try different prompts and see what works best for achieving your desired outcome.</a:t>
            </a:r>
          </a:p>
          <a:p>
            <a:pPr>
              <a:lnSpc>
                <a:spcPts val="1800"/>
              </a:lnSpc>
              <a:spcBef>
                <a:spcPts val="0"/>
              </a:spcBef>
              <a:spcAft>
                <a:spcPts val="750"/>
              </a:spcAft>
              <a:buSzPts val="1000"/>
              <a:tabLst>
                <a:tab pos="457200" algn="l"/>
              </a:tabLst>
            </a:pPr>
            <a:r>
              <a:rPr lang="en-US" sz="1800" kern="0" dirty="0">
                <a:solidFill>
                  <a:srgbClr val="1F1F1F"/>
                </a:solidFill>
                <a:latin typeface="+mn-lt"/>
                <a:cs typeface="Times New Roman" panose="02020603050405020304" pitchFamily="18" charset="0"/>
              </a:rPr>
              <a:t>By iteratively refining your prompts, you can unlock the full potential of the model and achieve optimal results.</a:t>
            </a:r>
          </a:p>
          <a:p>
            <a:pPr marL="0" indent="0">
              <a:lnSpc>
                <a:spcPts val="1800"/>
              </a:lnSpc>
              <a:spcBef>
                <a:spcPts val="0"/>
              </a:spcBef>
              <a:buNone/>
            </a:pPr>
            <a:r>
              <a:rPr lang="en-US" sz="1800" b="1" kern="0" dirty="0">
                <a:solidFill>
                  <a:srgbClr val="1F1F1F"/>
                </a:solidFill>
                <a:effectLst/>
                <a:latin typeface="+mn-lt"/>
                <a:ea typeface="Times New Roman" panose="02020603050405020304" pitchFamily="18" charset="0"/>
                <a:cs typeface="Times New Roman" panose="02020603050405020304" pitchFamily="18" charset="0"/>
              </a:rPr>
              <a:t>Proofread your prompt carefully:</a:t>
            </a:r>
            <a:endParaRPr lang="en-US" sz="1800" b="1" kern="100" dirty="0">
              <a:effectLst/>
              <a:latin typeface="+mn-lt"/>
              <a:ea typeface="Calibri" panose="020F0502020204030204" pitchFamily="34" charset="0"/>
              <a:cs typeface="Times New Roman" panose="02020603050405020304" pitchFamily="18" charset="0"/>
            </a:endParaRPr>
          </a:p>
          <a:p>
            <a:pPr>
              <a:lnSpc>
                <a:spcPts val="1800"/>
              </a:lnSpc>
              <a:spcBef>
                <a:spcPts val="0"/>
              </a:spcBef>
              <a:spcAft>
                <a:spcPts val="750"/>
              </a:spcAft>
              <a:buSzPts val="1000"/>
              <a:tabLst>
                <a:tab pos="457200" algn="l"/>
              </a:tabLst>
            </a:pPr>
            <a:r>
              <a:rPr lang="en-US" sz="1800" kern="0" dirty="0">
                <a:solidFill>
                  <a:srgbClr val="1F1F1F"/>
                </a:solidFill>
                <a:latin typeface="+mn-lt"/>
                <a:cs typeface="Times New Roman" panose="02020603050405020304" pitchFamily="18" charset="0"/>
              </a:rPr>
              <a:t>Ensure your prompt is free of typos, grammatical errors, and formatting issues.</a:t>
            </a:r>
          </a:p>
          <a:p>
            <a:pPr>
              <a:lnSpc>
                <a:spcPts val="1800"/>
              </a:lnSpc>
              <a:spcBef>
                <a:spcPts val="0"/>
              </a:spcBef>
              <a:spcAft>
                <a:spcPts val="750"/>
              </a:spcAft>
              <a:buSzPts val="1000"/>
              <a:tabLst>
                <a:tab pos="457200" algn="l"/>
              </a:tabLst>
            </a:pPr>
            <a:r>
              <a:rPr lang="en-US" sz="1800" kern="0" dirty="0">
                <a:solidFill>
                  <a:srgbClr val="1F1F1F"/>
                </a:solidFill>
                <a:latin typeface="+mn-lt"/>
                <a:cs typeface="Times New Roman" panose="02020603050405020304" pitchFamily="18" charset="0"/>
              </a:rPr>
              <a:t>This improves the clarity and accuracy of the prompt, leading to more reliable and accurate results.</a:t>
            </a:r>
          </a:p>
          <a:p>
            <a:pPr marL="0" indent="0">
              <a:lnSpc>
                <a:spcPts val="1800"/>
              </a:lnSpc>
              <a:spcBef>
                <a:spcPts val="0"/>
              </a:spcBef>
              <a:buNone/>
            </a:pPr>
            <a:r>
              <a:rPr lang="en-US" sz="1800" b="1" kern="0" dirty="0">
                <a:solidFill>
                  <a:srgbClr val="1F1F1F"/>
                </a:solidFill>
                <a:effectLst/>
                <a:latin typeface="+mn-lt"/>
                <a:ea typeface="Times New Roman" panose="02020603050405020304" pitchFamily="18" charset="0"/>
                <a:cs typeface="Times New Roman" panose="02020603050405020304" pitchFamily="18" charset="0"/>
              </a:rPr>
              <a:t>Provide examples for creative tasks:</a:t>
            </a:r>
            <a:endParaRPr lang="en-US" sz="1800" b="1" kern="100" dirty="0">
              <a:effectLst/>
              <a:latin typeface="+mn-lt"/>
              <a:ea typeface="Calibri" panose="020F0502020204030204" pitchFamily="34" charset="0"/>
              <a:cs typeface="Times New Roman" panose="02020603050405020304" pitchFamily="18" charset="0"/>
            </a:endParaRPr>
          </a:p>
          <a:p>
            <a:pPr>
              <a:lnSpc>
                <a:spcPts val="1800"/>
              </a:lnSpc>
              <a:spcBef>
                <a:spcPts val="0"/>
              </a:spcBef>
              <a:spcAft>
                <a:spcPts val="750"/>
              </a:spcAft>
              <a:buSzPts val="1000"/>
              <a:tabLst>
                <a:tab pos="457200" algn="l"/>
              </a:tabLst>
            </a:pPr>
            <a:r>
              <a:rPr lang="en-US" sz="1800" kern="0" dirty="0">
                <a:solidFill>
                  <a:srgbClr val="1F1F1F"/>
                </a:solidFill>
                <a:latin typeface="+mn-lt"/>
                <a:cs typeface="Times New Roman" panose="02020603050405020304" pitchFamily="18" charset="0"/>
              </a:rPr>
              <a:t>If you're asking the model to generate creative text formats like poems, code, or scripts, provide examples to guide its understanding.</a:t>
            </a:r>
          </a:p>
          <a:p>
            <a:pPr>
              <a:lnSpc>
                <a:spcPts val="1800"/>
              </a:lnSpc>
              <a:spcBef>
                <a:spcPts val="0"/>
              </a:spcBef>
              <a:spcAft>
                <a:spcPts val="750"/>
              </a:spcAft>
              <a:buSzPts val="1000"/>
              <a:tabLst>
                <a:tab pos="457200" algn="l"/>
              </a:tabLst>
            </a:pPr>
            <a:r>
              <a:rPr lang="en-US" sz="1800" kern="0" dirty="0">
                <a:solidFill>
                  <a:srgbClr val="1F1F1F"/>
                </a:solidFill>
                <a:latin typeface="+mn-lt"/>
                <a:cs typeface="Times New Roman" panose="02020603050405020304" pitchFamily="18" charset="0"/>
              </a:rPr>
              <a:t>This helps the model grasp the desired style, tone, and format of the output.</a:t>
            </a:r>
          </a:p>
          <a:p>
            <a:pPr marL="0" indent="0">
              <a:lnSpc>
                <a:spcPts val="1800"/>
              </a:lnSpc>
              <a:spcBef>
                <a:spcPts val="0"/>
              </a:spcBef>
              <a:buNone/>
            </a:pPr>
            <a:r>
              <a:rPr lang="en-US" sz="1800" b="1" kern="0" dirty="0">
                <a:solidFill>
                  <a:srgbClr val="1F1F1F"/>
                </a:solidFill>
                <a:effectLst/>
                <a:latin typeface="+mn-lt"/>
                <a:ea typeface="Times New Roman" panose="02020603050405020304" pitchFamily="18" charset="0"/>
                <a:cs typeface="Times New Roman" panose="02020603050405020304" pitchFamily="18" charset="0"/>
              </a:rPr>
              <a:t>Leverage chain-of-thought prompting:</a:t>
            </a:r>
            <a:endParaRPr lang="en-US" sz="1800" b="1" kern="100" dirty="0">
              <a:effectLst/>
              <a:latin typeface="+mn-lt"/>
              <a:ea typeface="Calibri" panose="020F0502020204030204" pitchFamily="34" charset="0"/>
              <a:cs typeface="Times New Roman" panose="02020603050405020304" pitchFamily="18" charset="0"/>
            </a:endParaRPr>
          </a:p>
          <a:p>
            <a:pPr>
              <a:lnSpc>
                <a:spcPts val="1800"/>
              </a:lnSpc>
              <a:spcBef>
                <a:spcPts val="0"/>
              </a:spcBef>
              <a:spcAft>
                <a:spcPts val="750"/>
              </a:spcAft>
              <a:buSzPts val="1000"/>
              <a:tabLst>
                <a:tab pos="457200" algn="l"/>
              </a:tabLst>
            </a:pPr>
            <a:r>
              <a:rPr lang="en-US" sz="1800" kern="0" dirty="0">
                <a:solidFill>
                  <a:srgbClr val="1F1F1F"/>
                </a:solidFill>
                <a:latin typeface="+mn-lt"/>
                <a:cs typeface="Times New Roman" panose="02020603050405020304" pitchFamily="18" charset="0"/>
              </a:rPr>
              <a:t>This technique allows you to iteratively refine your prompt based on the model's previous responses.</a:t>
            </a:r>
          </a:p>
          <a:p>
            <a:pPr>
              <a:lnSpc>
                <a:spcPts val="1800"/>
              </a:lnSpc>
              <a:spcBef>
                <a:spcPts val="0"/>
              </a:spcBef>
              <a:spcAft>
                <a:spcPts val="750"/>
              </a:spcAft>
              <a:buSzPts val="1000"/>
              <a:tabLst>
                <a:tab pos="457200" algn="l"/>
              </a:tabLst>
            </a:pPr>
            <a:r>
              <a:rPr lang="en-US" sz="1800" kern="0" dirty="0">
                <a:solidFill>
                  <a:srgbClr val="1F1F1F"/>
                </a:solidFill>
                <a:latin typeface="+mn-lt"/>
                <a:cs typeface="Times New Roman" panose="02020603050405020304" pitchFamily="18" charset="0"/>
              </a:rPr>
              <a:t>By incorporating insights and feedback from the model, you can guide it towards producing even better results.</a:t>
            </a:r>
          </a:p>
        </p:txBody>
      </p:sp>
    </p:spTree>
    <p:extLst>
      <p:ext uri="{BB962C8B-B14F-4D97-AF65-F5344CB8AC3E}">
        <p14:creationId xmlns:p14="http://schemas.microsoft.com/office/powerpoint/2010/main" val="35915097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C5BA2E58-FEC9-D54D-ACC0-E7CEEF5F42E4}"/>
              </a:ext>
            </a:extLst>
          </p:cNvPr>
          <p:cNvSpPr>
            <a:spLocks noGrp="1"/>
          </p:cNvSpPr>
          <p:nvPr>
            <p:ph type="title"/>
          </p:nvPr>
        </p:nvSpPr>
        <p:spPr>
          <a:xfrm>
            <a:off x="678884" y="603666"/>
            <a:ext cx="10834234" cy="612775"/>
          </a:xfrm>
        </p:spPr>
        <p:txBody>
          <a:bodyPr>
            <a:normAutofit/>
          </a:bodyPr>
          <a:lstStyle/>
          <a:p>
            <a:r>
              <a:rPr lang="en-US" dirty="0">
                <a:effectLst/>
                <a:latin typeface="Times New Roman" panose="02020603050405020304" pitchFamily="18" charset="0"/>
                <a:ea typeface="Calibri" panose="020F0502020204030204" pitchFamily="34" charset="0"/>
              </a:rPr>
              <a:t>Different Types of Models</a:t>
            </a:r>
            <a:endParaRPr lang="en-US" dirty="0"/>
          </a:p>
        </p:txBody>
      </p:sp>
      <p:sp>
        <p:nvSpPr>
          <p:cNvPr id="66" name="TextBox 65">
            <a:extLst>
              <a:ext uri="{FF2B5EF4-FFF2-40B4-BE49-F238E27FC236}">
                <a16:creationId xmlns:a16="http://schemas.microsoft.com/office/drawing/2014/main" xmlns="" id="{EBB3D4F9-BE1A-4519-BEFC-5F7C1E77A692}"/>
              </a:ext>
            </a:extLst>
          </p:cNvPr>
          <p:cNvSpPr txBox="1"/>
          <p:nvPr/>
        </p:nvSpPr>
        <p:spPr>
          <a:xfrm>
            <a:off x="745724" y="1216441"/>
            <a:ext cx="10449018" cy="769441"/>
          </a:xfrm>
          <a:prstGeom prst="rect">
            <a:avLst/>
          </a:prstGeom>
          <a:noFill/>
        </p:spPr>
        <p:txBody>
          <a:bodyPr wrap="square">
            <a:spAutoFit/>
          </a:bodyPr>
          <a:lstStyle/>
          <a:p>
            <a:r>
              <a:rPr lang="en-US" sz="2200" dirty="0"/>
              <a:t>All language models run on text as input. This input text is known as a ‘prompt’. Different prompts provide the user with different results.</a:t>
            </a:r>
            <a:endParaRPr lang="en-IN" sz="2200" dirty="0"/>
          </a:p>
        </p:txBody>
      </p:sp>
      <p:grpSp>
        <p:nvGrpSpPr>
          <p:cNvPr id="67" name="Group 66">
            <a:extLst>
              <a:ext uri="{FF2B5EF4-FFF2-40B4-BE49-F238E27FC236}">
                <a16:creationId xmlns:a16="http://schemas.microsoft.com/office/drawing/2014/main" xmlns="" id="{DEEDEAC6-3077-4834-9AA2-B5BBDA882775}"/>
              </a:ext>
            </a:extLst>
          </p:cNvPr>
          <p:cNvGrpSpPr/>
          <p:nvPr/>
        </p:nvGrpSpPr>
        <p:grpSpPr>
          <a:xfrm>
            <a:off x="479028" y="1985882"/>
            <a:ext cx="10967248" cy="2030423"/>
            <a:chOff x="661075" y="1659835"/>
            <a:chExt cx="10967248" cy="2030423"/>
          </a:xfrm>
        </p:grpSpPr>
        <p:sp>
          <p:nvSpPr>
            <p:cNvPr id="68" name="Freeform 6">
              <a:extLst>
                <a:ext uri="{FF2B5EF4-FFF2-40B4-BE49-F238E27FC236}">
                  <a16:creationId xmlns:a16="http://schemas.microsoft.com/office/drawing/2014/main" xmlns="" id="{C760C121-45E7-46AE-9C4B-BEEAD71D6BA3}"/>
                </a:ext>
              </a:extLst>
            </p:cNvPr>
            <p:cNvSpPr>
              <a:spLocks/>
            </p:cNvSpPr>
            <p:nvPr/>
          </p:nvSpPr>
          <p:spPr bwMode="auto">
            <a:xfrm>
              <a:off x="776848" y="1680017"/>
              <a:ext cx="373861" cy="274869"/>
            </a:xfrm>
            <a:custGeom>
              <a:avLst/>
              <a:gdLst>
                <a:gd name="T0" fmla="*/ 81 w 162"/>
                <a:gd name="T1" fmla="*/ 0 h 119"/>
                <a:gd name="T2" fmla="*/ 0 w 162"/>
                <a:gd name="T3" fmla="*/ 119 h 119"/>
                <a:gd name="T4" fmla="*/ 162 w 162"/>
                <a:gd name="T5" fmla="*/ 119 h 119"/>
                <a:gd name="T6" fmla="*/ 81 w 162"/>
                <a:gd name="T7" fmla="*/ 0 h 119"/>
              </a:gdLst>
              <a:ahLst/>
              <a:cxnLst>
                <a:cxn ang="0">
                  <a:pos x="T0" y="T1"/>
                </a:cxn>
                <a:cxn ang="0">
                  <a:pos x="T2" y="T3"/>
                </a:cxn>
                <a:cxn ang="0">
                  <a:pos x="T4" y="T5"/>
                </a:cxn>
                <a:cxn ang="0">
                  <a:pos x="T6" y="T7"/>
                </a:cxn>
              </a:cxnLst>
              <a:rect l="0" t="0" r="r" b="b"/>
              <a:pathLst>
                <a:path w="162" h="119">
                  <a:moveTo>
                    <a:pt x="81" y="0"/>
                  </a:moveTo>
                  <a:cubicBezTo>
                    <a:pt x="34" y="18"/>
                    <a:pt x="0" y="65"/>
                    <a:pt x="0" y="119"/>
                  </a:cubicBezTo>
                  <a:cubicBezTo>
                    <a:pt x="162" y="119"/>
                    <a:pt x="162" y="119"/>
                    <a:pt x="162" y="119"/>
                  </a:cubicBezTo>
                  <a:cubicBezTo>
                    <a:pt x="162" y="65"/>
                    <a:pt x="129" y="19"/>
                    <a:pt x="81" y="0"/>
                  </a:cubicBez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ru-RU"/>
            </a:p>
          </p:txBody>
        </p:sp>
        <p:sp>
          <p:nvSpPr>
            <p:cNvPr id="69" name="Rectangle: Rounded Corners 68">
              <a:extLst>
                <a:ext uri="{FF2B5EF4-FFF2-40B4-BE49-F238E27FC236}">
                  <a16:creationId xmlns:a16="http://schemas.microsoft.com/office/drawing/2014/main" xmlns="" id="{65C22E47-6E17-474C-B286-A10F50BF45DB}"/>
                </a:ext>
              </a:extLst>
            </p:cNvPr>
            <p:cNvSpPr/>
            <p:nvPr/>
          </p:nvSpPr>
          <p:spPr>
            <a:xfrm>
              <a:off x="776848" y="1953670"/>
              <a:ext cx="10851475" cy="567664"/>
            </a:xfrm>
            <a:prstGeom prst="roundRect">
              <a:avLst>
                <a:gd name="adj" fmla="val 9723"/>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404000" rtlCol="0" anchor="ctr"/>
            <a:lstStyle/>
            <a:p>
              <a:r>
                <a:rPr lang="en-US" sz="2200" b="1" dirty="0">
                  <a:solidFill>
                    <a:schemeClr val="tx1"/>
                  </a:solidFill>
                  <a:effectLst/>
                  <a:latin typeface="Times New Roman" panose="02020603050405020304" pitchFamily="18" charset="0"/>
                  <a:ea typeface="Calibri" panose="020F0502020204030204" pitchFamily="34" charset="0"/>
                </a:rPr>
                <a:t>Text-to-Text Models</a:t>
              </a:r>
              <a:endParaRPr lang="en-IN" sz="2200" b="1" dirty="0">
                <a:solidFill>
                  <a:schemeClr val="tx1"/>
                </a:solidFill>
                <a:latin typeface="Calibri" panose="020F0502020204030204" pitchFamily="34" charset="0"/>
              </a:endParaRPr>
            </a:p>
          </p:txBody>
        </p:sp>
        <p:sp>
          <p:nvSpPr>
            <p:cNvPr id="70" name="Content Placeholder 2">
              <a:extLst>
                <a:ext uri="{FF2B5EF4-FFF2-40B4-BE49-F238E27FC236}">
                  <a16:creationId xmlns:a16="http://schemas.microsoft.com/office/drawing/2014/main" xmlns="" id="{7FF21849-F54A-48A1-9EBB-8E3F4803C6C0}"/>
                </a:ext>
              </a:extLst>
            </p:cNvPr>
            <p:cNvSpPr txBox="1">
              <a:spLocks/>
            </p:cNvSpPr>
            <p:nvPr/>
          </p:nvSpPr>
          <p:spPr>
            <a:xfrm>
              <a:off x="661075" y="2814219"/>
              <a:ext cx="10834234" cy="876039"/>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Nunito"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Nunito"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Nunito"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400"/>
                </a:spcBef>
                <a:spcAft>
                  <a:spcPts val="400"/>
                </a:spcAft>
                <a:buNone/>
              </a:pPr>
              <a:r>
                <a:rPr lang="en-US" sz="2200" dirty="0">
                  <a:latin typeface="+mn-lt"/>
                </a:rPr>
                <a:t>The input, given by the user, and the output generated by the model are in text formats. Text-to-text models generate human-like text allowing applications such as translation, summarization, and question answering.</a:t>
              </a:r>
            </a:p>
            <a:p>
              <a:pPr marL="0" indent="0">
                <a:lnSpc>
                  <a:spcPct val="100000"/>
                </a:lnSpc>
                <a:spcBef>
                  <a:spcPts val="400"/>
                </a:spcBef>
                <a:spcAft>
                  <a:spcPts val="400"/>
                </a:spcAft>
                <a:buNone/>
              </a:pPr>
              <a:endParaRPr lang="en-US" sz="2200" dirty="0">
                <a:latin typeface="+mn-lt"/>
              </a:endParaRPr>
            </a:p>
          </p:txBody>
        </p:sp>
        <p:sp>
          <p:nvSpPr>
            <p:cNvPr id="71" name="Freeform 7">
              <a:extLst>
                <a:ext uri="{FF2B5EF4-FFF2-40B4-BE49-F238E27FC236}">
                  <a16:creationId xmlns:a16="http://schemas.microsoft.com/office/drawing/2014/main" xmlns="" id="{4926A8EB-0167-411D-9A69-DE6FAE9B7E85}"/>
                </a:ext>
              </a:extLst>
            </p:cNvPr>
            <p:cNvSpPr>
              <a:spLocks/>
            </p:cNvSpPr>
            <p:nvPr/>
          </p:nvSpPr>
          <p:spPr bwMode="auto">
            <a:xfrm>
              <a:off x="871995" y="1659835"/>
              <a:ext cx="1061994" cy="1111971"/>
            </a:xfrm>
            <a:custGeom>
              <a:avLst/>
              <a:gdLst>
                <a:gd name="T0" fmla="*/ 332 w 461"/>
                <a:gd name="T1" fmla="*/ 0 h 482"/>
                <a:gd name="T2" fmla="*/ 88 w 461"/>
                <a:gd name="T3" fmla="*/ 0 h 482"/>
                <a:gd name="T4" fmla="*/ 40 w 461"/>
                <a:gd name="T5" fmla="*/ 9 h 482"/>
                <a:gd name="T6" fmla="*/ 0 w 461"/>
                <a:gd name="T7" fmla="*/ 35 h 482"/>
                <a:gd name="T8" fmla="*/ 81 w 461"/>
                <a:gd name="T9" fmla="*/ 35 h 482"/>
                <a:gd name="T10" fmla="*/ 121 w 461"/>
                <a:gd name="T11" fmla="*/ 128 h 482"/>
                <a:gd name="T12" fmla="*/ 121 w 461"/>
                <a:gd name="T13" fmla="*/ 311 h 482"/>
                <a:gd name="T14" fmla="*/ 121 w 461"/>
                <a:gd name="T15" fmla="*/ 312 h 482"/>
                <a:gd name="T16" fmla="*/ 291 w 461"/>
                <a:gd name="T17" fmla="*/ 482 h 482"/>
                <a:gd name="T18" fmla="*/ 461 w 461"/>
                <a:gd name="T19" fmla="*/ 312 h 482"/>
                <a:gd name="T20" fmla="*/ 461 w 461"/>
                <a:gd name="T21" fmla="*/ 312 h 482"/>
                <a:gd name="T22" fmla="*/ 461 w 461"/>
                <a:gd name="T23" fmla="*/ 128 h 482"/>
                <a:gd name="T24" fmla="*/ 332 w 461"/>
                <a:gd name="T25" fmla="*/ 0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 h="482">
                  <a:moveTo>
                    <a:pt x="332" y="0"/>
                  </a:moveTo>
                  <a:cubicBezTo>
                    <a:pt x="88" y="0"/>
                    <a:pt x="88" y="0"/>
                    <a:pt x="88" y="0"/>
                  </a:cubicBezTo>
                  <a:cubicBezTo>
                    <a:pt x="71" y="0"/>
                    <a:pt x="55" y="3"/>
                    <a:pt x="40" y="9"/>
                  </a:cubicBezTo>
                  <a:cubicBezTo>
                    <a:pt x="25" y="15"/>
                    <a:pt x="11" y="24"/>
                    <a:pt x="0" y="35"/>
                  </a:cubicBezTo>
                  <a:cubicBezTo>
                    <a:pt x="22" y="13"/>
                    <a:pt x="58" y="13"/>
                    <a:pt x="81" y="35"/>
                  </a:cubicBezTo>
                  <a:cubicBezTo>
                    <a:pt x="106" y="58"/>
                    <a:pt x="121" y="91"/>
                    <a:pt x="121" y="128"/>
                  </a:cubicBezTo>
                  <a:cubicBezTo>
                    <a:pt x="121" y="311"/>
                    <a:pt x="121" y="311"/>
                    <a:pt x="121" y="311"/>
                  </a:cubicBezTo>
                  <a:cubicBezTo>
                    <a:pt x="121" y="311"/>
                    <a:pt x="121" y="311"/>
                    <a:pt x="121" y="312"/>
                  </a:cubicBezTo>
                  <a:cubicBezTo>
                    <a:pt x="121" y="405"/>
                    <a:pt x="197" y="482"/>
                    <a:pt x="291" y="482"/>
                  </a:cubicBezTo>
                  <a:cubicBezTo>
                    <a:pt x="385" y="482"/>
                    <a:pt x="461" y="405"/>
                    <a:pt x="461" y="312"/>
                  </a:cubicBezTo>
                  <a:cubicBezTo>
                    <a:pt x="461" y="312"/>
                    <a:pt x="461" y="312"/>
                    <a:pt x="461" y="312"/>
                  </a:cubicBezTo>
                  <a:cubicBezTo>
                    <a:pt x="461" y="128"/>
                    <a:pt x="461" y="128"/>
                    <a:pt x="461" y="128"/>
                  </a:cubicBezTo>
                  <a:cubicBezTo>
                    <a:pt x="461" y="57"/>
                    <a:pt x="403" y="0"/>
                    <a:pt x="332"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ru-RU"/>
            </a:p>
          </p:txBody>
        </p:sp>
        <p:sp>
          <p:nvSpPr>
            <p:cNvPr id="72" name="Oval 8">
              <a:extLst>
                <a:ext uri="{FF2B5EF4-FFF2-40B4-BE49-F238E27FC236}">
                  <a16:creationId xmlns:a16="http://schemas.microsoft.com/office/drawing/2014/main" xmlns="" id="{29F26A10-655D-4C77-8BC6-1357AE315F51}"/>
                </a:ext>
              </a:extLst>
            </p:cNvPr>
            <p:cNvSpPr>
              <a:spLocks noChangeArrowheads="1"/>
            </p:cNvSpPr>
            <p:nvPr/>
          </p:nvSpPr>
          <p:spPr bwMode="auto">
            <a:xfrm>
              <a:off x="1215101" y="2051956"/>
              <a:ext cx="654496" cy="652574"/>
            </a:xfrm>
            <a:prstGeom prst="ellipse">
              <a:avLst/>
            </a:prstGeom>
            <a:solidFill>
              <a:schemeClr val="bg2"/>
            </a:solidFill>
            <a:ln>
              <a:noFill/>
            </a:ln>
          </p:spPr>
          <p:txBody>
            <a:bodyPr vert="horz" wrap="square" lIns="91440" tIns="45720" rIns="91440" bIns="45720" numCol="1" anchor="t" anchorCtr="0" compatLnSpc="1">
              <a:prstTxWarp prst="textNoShape">
                <a:avLst/>
              </a:prstTxWarp>
            </a:bodyPr>
            <a:lstStyle/>
            <a:p>
              <a:endParaRPr lang="ru-RU"/>
            </a:p>
          </p:txBody>
        </p:sp>
        <p:grpSp>
          <p:nvGrpSpPr>
            <p:cNvPr id="73" name="Shape 7784">
              <a:extLst>
                <a:ext uri="{FF2B5EF4-FFF2-40B4-BE49-F238E27FC236}">
                  <a16:creationId xmlns:a16="http://schemas.microsoft.com/office/drawing/2014/main" xmlns="" id="{9B0F71E6-9F79-4DAA-81E0-D556E51D2C53}"/>
                </a:ext>
              </a:extLst>
            </p:cNvPr>
            <p:cNvGrpSpPr/>
            <p:nvPr/>
          </p:nvGrpSpPr>
          <p:grpSpPr>
            <a:xfrm>
              <a:off x="1389773" y="2214880"/>
              <a:ext cx="330464" cy="352116"/>
              <a:chOff x="5538788" y="2417763"/>
              <a:chExt cx="557213" cy="593725"/>
            </a:xfrm>
            <a:solidFill>
              <a:schemeClr val="tx1"/>
            </a:solidFill>
          </p:grpSpPr>
          <p:sp>
            <p:nvSpPr>
              <p:cNvPr id="74" name="Shape 7785">
                <a:extLst>
                  <a:ext uri="{FF2B5EF4-FFF2-40B4-BE49-F238E27FC236}">
                    <a16:creationId xmlns:a16="http://schemas.microsoft.com/office/drawing/2014/main" xmlns="" id="{75055B75-EFCC-49B0-BD4A-8EEA344F24F3}"/>
                  </a:ext>
                </a:extLst>
              </p:cNvPr>
              <p:cNvSpPr/>
              <p:nvPr/>
            </p:nvSpPr>
            <p:spPr>
              <a:xfrm>
                <a:off x="5538788" y="2727325"/>
                <a:ext cx="188913" cy="284162"/>
              </a:xfrm>
              <a:custGeom>
                <a:avLst/>
                <a:gdLst/>
                <a:ahLst/>
                <a:cxnLst/>
                <a:rect l="0" t="0" r="0" b="0"/>
                <a:pathLst>
                  <a:path w="160" h="242" extrusionOk="0">
                    <a:moveTo>
                      <a:pt x="0" y="233"/>
                    </a:moveTo>
                    <a:cubicBezTo>
                      <a:pt x="0" y="238"/>
                      <a:pt x="4" y="242"/>
                      <a:pt x="9" y="242"/>
                    </a:cubicBezTo>
                    <a:cubicBezTo>
                      <a:pt x="151" y="242"/>
                      <a:pt x="151" y="242"/>
                      <a:pt x="151" y="242"/>
                    </a:cubicBezTo>
                    <a:cubicBezTo>
                      <a:pt x="156" y="242"/>
                      <a:pt x="160" y="238"/>
                      <a:pt x="160" y="233"/>
                    </a:cubicBezTo>
                    <a:cubicBezTo>
                      <a:pt x="160" y="0"/>
                      <a:pt x="160" y="0"/>
                      <a:pt x="160" y="0"/>
                    </a:cubicBezTo>
                    <a:cubicBezTo>
                      <a:pt x="0" y="0"/>
                      <a:pt x="0" y="0"/>
                      <a:pt x="0" y="0"/>
                    </a:cubicBezTo>
                    <a:lnTo>
                      <a:pt x="0" y="233"/>
                    </a:lnTo>
                    <a:close/>
                    <a:moveTo>
                      <a:pt x="80" y="227"/>
                    </a:moveTo>
                    <a:cubicBezTo>
                      <a:pt x="71" y="227"/>
                      <a:pt x="63" y="220"/>
                      <a:pt x="63" y="210"/>
                    </a:cubicBezTo>
                    <a:cubicBezTo>
                      <a:pt x="63" y="200"/>
                      <a:pt x="71" y="192"/>
                      <a:pt x="80" y="192"/>
                    </a:cubicBezTo>
                    <a:cubicBezTo>
                      <a:pt x="90" y="192"/>
                      <a:pt x="98" y="200"/>
                      <a:pt x="98" y="210"/>
                    </a:cubicBezTo>
                    <a:cubicBezTo>
                      <a:pt x="98" y="220"/>
                      <a:pt x="90" y="227"/>
                      <a:pt x="80" y="227"/>
                    </a:cubicBezTo>
                    <a:close/>
                    <a:moveTo>
                      <a:pt x="73" y="175"/>
                    </a:moveTo>
                    <a:cubicBezTo>
                      <a:pt x="73" y="171"/>
                      <a:pt x="76" y="167"/>
                      <a:pt x="80" y="167"/>
                    </a:cubicBezTo>
                    <a:cubicBezTo>
                      <a:pt x="85" y="167"/>
                      <a:pt x="88" y="171"/>
                      <a:pt x="88" y="175"/>
                    </a:cubicBezTo>
                    <a:cubicBezTo>
                      <a:pt x="88" y="179"/>
                      <a:pt x="85" y="183"/>
                      <a:pt x="80" y="183"/>
                    </a:cubicBezTo>
                    <a:cubicBezTo>
                      <a:pt x="76" y="183"/>
                      <a:pt x="73" y="179"/>
                      <a:pt x="73" y="175"/>
                    </a:cubicBezTo>
                    <a:close/>
                    <a:moveTo>
                      <a:pt x="29" y="12"/>
                    </a:moveTo>
                    <a:cubicBezTo>
                      <a:pt x="131" y="12"/>
                      <a:pt x="131" y="12"/>
                      <a:pt x="131" y="12"/>
                    </a:cubicBezTo>
                    <a:cubicBezTo>
                      <a:pt x="131" y="33"/>
                      <a:pt x="131" y="33"/>
                      <a:pt x="131" y="33"/>
                    </a:cubicBezTo>
                    <a:cubicBezTo>
                      <a:pt x="29" y="33"/>
                      <a:pt x="29" y="33"/>
                      <a:pt x="29" y="33"/>
                    </a:cubicBezTo>
                    <a:lnTo>
                      <a:pt x="29" y="12"/>
                    </a:lnTo>
                    <a:close/>
                    <a:moveTo>
                      <a:pt x="29" y="43"/>
                    </a:moveTo>
                    <a:cubicBezTo>
                      <a:pt x="131" y="43"/>
                      <a:pt x="131" y="43"/>
                      <a:pt x="131" y="43"/>
                    </a:cubicBezTo>
                    <a:cubicBezTo>
                      <a:pt x="131" y="64"/>
                      <a:pt x="131" y="64"/>
                      <a:pt x="131" y="64"/>
                    </a:cubicBezTo>
                    <a:cubicBezTo>
                      <a:pt x="29" y="64"/>
                      <a:pt x="29" y="64"/>
                      <a:pt x="29" y="64"/>
                    </a:cubicBezTo>
                    <a:lnTo>
                      <a:pt x="29" y="43"/>
                    </a:lnTo>
                    <a:close/>
                    <a:moveTo>
                      <a:pt x="29" y="73"/>
                    </a:moveTo>
                    <a:cubicBezTo>
                      <a:pt x="131" y="73"/>
                      <a:pt x="131" y="73"/>
                      <a:pt x="131" y="73"/>
                    </a:cubicBezTo>
                    <a:cubicBezTo>
                      <a:pt x="131" y="94"/>
                      <a:pt x="131" y="94"/>
                      <a:pt x="131" y="94"/>
                    </a:cubicBezTo>
                    <a:cubicBezTo>
                      <a:pt x="29" y="94"/>
                      <a:pt x="29" y="94"/>
                      <a:pt x="29" y="94"/>
                    </a:cubicBezTo>
                    <a:lnTo>
                      <a:pt x="29" y="73"/>
                    </a:lnTo>
                    <a:close/>
                    <a:moveTo>
                      <a:pt x="29" y="104"/>
                    </a:moveTo>
                    <a:cubicBezTo>
                      <a:pt x="131" y="104"/>
                      <a:pt x="131" y="104"/>
                      <a:pt x="131" y="104"/>
                    </a:cubicBezTo>
                    <a:cubicBezTo>
                      <a:pt x="131" y="125"/>
                      <a:pt x="131" y="125"/>
                      <a:pt x="131" y="125"/>
                    </a:cubicBezTo>
                    <a:cubicBezTo>
                      <a:pt x="29" y="125"/>
                      <a:pt x="29" y="125"/>
                      <a:pt x="29" y="125"/>
                    </a:cubicBezTo>
                    <a:lnTo>
                      <a:pt x="29" y="104"/>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75" name="Shape 7786">
                <a:extLst>
                  <a:ext uri="{FF2B5EF4-FFF2-40B4-BE49-F238E27FC236}">
                    <a16:creationId xmlns:a16="http://schemas.microsoft.com/office/drawing/2014/main" xmlns="" id="{4998B620-368B-443B-B055-86719F414404}"/>
                  </a:ext>
                </a:extLst>
              </p:cNvPr>
              <p:cNvSpPr/>
              <p:nvPr/>
            </p:nvSpPr>
            <p:spPr>
              <a:xfrm>
                <a:off x="5538788" y="2651125"/>
                <a:ext cx="188913" cy="63500"/>
              </a:xfrm>
              <a:custGeom>
                <a:avLst/>
                <a:gdLst/>
                <a:ahLst/>
                <a:cxnLst/>
                <a:rect l="0" t="0" r="0" b="0"/>
                <a:pathLst>
                  <a:path w="160" h="55" extrusionOk="0">
                    <a:moveTo>
                      <a:pt x="151" y="0"/>
                    </a:moveTo>
                    <a:cubicBezTo>
                      <a:pt x="9" y="0"/>
                      <a:pt x="9" y="0"/>
                      <a:pt x="9" y="0"/>
                    </a:cubicBezTo>
                    <a:cubicBezTo>
                      <a:pt x="4" y="0"/>
                      <a:pt x="0" y="4"/>
                      <a:pt x="0" y="9"/>
                    </a:cubicBezTo>
                    <a:cubicBezTo>
                      <a:pt x="0" y="55"/>
                      <a:pt x="0" y="55"/>
                      <a:pt x="0" y="55"/>
                    </a:cubicBezTo>
                    <a:cubicBezTo>
                      <a:pt x="160" y="55"/>
                      <a:pt x="160" y="55"/>
                      <a:pt x="160" y="55"/>
                    </a:cubicBezTo>
                    <a:cubicBezTo>
                      <a:pt x="160" y="9"/>
                      <a:pt x="160" y="9"/>
                      <a:pt x="160" y="9"/>
                    </a:cubicBezTo>
                    <a:cubicBezTo>
                      <a:pt x="160" y="4"/>
                      <a:pt x="156" y="0"/>
                      <a:pt x="151" y="0"/>
                    </a:cubicBezTo>
                    <a:close/>
                    <a:moveTo>
                      <a:pt x="43" y="43"/>
                    </a:moveTo>
                    <a:cubicBezTo>
                      <a:pt x="36" y="43"/>
                      <a:pt x="30" y="37"/>
                      <a:pt x="30" y="30"/>
                    </a:cubicBezTo>
                    <a:cubicBezTo>
                      <a:pt x="30" y="22"/>
                      <a:pt x="36" y="16"/>
                      <a:pt x="43" y="16"/>
                    </a:cubicBezTo>
                    <a:cubicBezTo>
                      <a:pt x="51" y="16"/>
                      <a:pt x="57" y="22"/>
                      <a:pt x="57" y="30"/>
                    </a:cubicBezTo>
                    <a:cubicBezTo>
                      <a:pt x="57" y="37"/>
                      <a:pt x="51" y="43"/>
                      <a:pt x="43" y="43"/>
                    </a:cubicBezTo>
                    <a:close/>
                    <a:moveTo>
                      <a:pt x="131" y="38"/>
                    </a:moveTo>
                    <a:cubicBezTo>
                      <a:pt x="68" y="38"/>
                      <a:pt x="68" y="38"/>
                      <a:pt x="68" y="38"/>
                    </a:cubicBezTo>
                    <a:cubicBezTo>
                      <a:pt x="68" y="22"/>
                      <a:pt x="68" y="22"/>
                      <a:pt x="68" y="22"/>
                    </a:cubicBezTo>
                    <a:cubicBezTo>
                      <a:pt x="131" y="22"/>
                      <a:pt x="131" y="22"/>
                      <a:pt x="131" y="22"/>
                    </a:cubicBezTo>
                    <a:lnTo>
                      <a:pt x="131" y="38"/>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76" name="Shape 7787">
                <a:extLst>
                  <a:ext uri="{FF2B5EF4-FFF2-40B4-BE49-F238E27FC236}">
                    <a16:creationId xmlns:a16="http://schemas.microsoft.com/office/drawing/2014/main" xmlns="" id="{C0965614-960E-4655-8981-19CC7E37C839}"/>
                  </a:ext>
                </a:extLst>
              </p:cNvPr>
              <p:cNvSpPr/>
              <p:nvPr/>
            </p:nvSpPr>
            <p:spPr>
              <a:xfrm>
                <a:off x="6013450" y="2990850"/>
                <a:ext cx="28575" cy="20637"/>
              </a:xfrm>
              <a:custGeom>
                <a:avLst/>
                <a:gdLst/>
                <a:ahLst/>
                <a:cxnLst/>
                <a:rect l="0" t="0" r="0" b="0"/>
                <a:pathLst>
                  <a:path w="24" h="18" extrusionOk="0">
                    <a:moveTo>
                      <a:pt x="1" y="4"/>
                    </a:moveTo>
                    <a:cubicBezTo>
                      <a:pt x="0" y="4"/>
                      <a:pt x="0" y="4"/>
                      <a:pt x="0" y="4"/>
                    </a:cubicBezTo>
                    <a:cubicBezTo>
                      <a:pt x="0" y="18"/>
                      <a:pt x="0" y="18"/>
                      <a:pt x="0" y="18"/>
                    </a:cubicBezTo>
                    <a:cubicBezTo>
                      <a:pt x="1" y="18"/>
                      <a:pt x="1" y="18"/>
                      <a:pt x="1" y="18"/>
                    </a:cubicBezTo>
                    <a:cubicBezTo>
                      <a:pt x="9" y="18"/>
                      <a:pt x="17" y="16"/>
                      <a:pt x="24" y="12"/>
                    </a:cubicBezTo>
                    <a:cubicBezTo>
                      <a:pt x="17" y="0"/>
                      <a:pt x="17" y="0"/>
                      <a:pt x="17" y="0"/>
                    </a:cubicBezTo>
                    <a:cubicBezTo>
                      <a:pt x="12" y="3"/>
                      <a:pt x="6" y="4"/>
                      <a:pt x="1" y="4"/>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77" name="Shape 7788">
                <a:extLst>
                  <a:ext uri="{FF2B5EF4-FFF2-40B4-BE49-F238E27FC236}">
                    <a16:creationId xmlns:a16="http://schemas.microsoft.com/office/drawing/2014/main" xmlns="" id="{1622A607-9E52-4BA5-9876-71ECECB17656}"/>
                  </a:ext>
                </a:extLst>
              </p:cNvPr>
              <p:cNvSpPr/>
              <p:nvPr/>
            </p:nvSpPr>
            <p:spPr>
              <a:xfrm>
                <a:off x="5964238" y="299561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78" name="Shape 7789">
                <a:extLst>
                  <a:ext uri="{FF2B5EF4-FFF2-40B4-BE49-F238E27FC236}">
                    <a16:creationId xmlns:a16="http://schemas.microsoft.com/office/drawing/2014/main" xmlns="" id="{5F811A3B-C542-4C9F-87F8-E0E220DC98A9}"/>
                  </a:ext>
                </a:extLst>
              </p:cNvPr>
              <p:cNvSpPr/>
              <p:nvPr/>
            </p:nvSpPr>
            <p:spPr>
              <a:xfrm>
                <a:off x="5913438" y="2995613"/>
                <a:ext cx="23813"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79" name="Shape 7790">
                <a:extLst>
                  <a:ext uri="{FF2B5EF4-FFF2-40B4-BE49-F238E27FC236}">
                    <a16:creationId xmlns:a16="http://schemas.microsoft.com/office/drawing/2014/main" xmlns="" id="{4616035F-49FC-42CA-903A-C7B51550253A}"/>
                  </a:ext>
                </a:extLst>
              </p:cNvPr>
              <p:cNvSpPr/>
              <p:nvPr/>
            </p:nvSpPr>
            <p:spPr>
              <a:xfrm>
                <a:off x="5862638" y="299561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80" name="Shape 7791">
                <a:extLst>
                  <a:ext uri="{FF2B5EF4-FFF2-40B4-BE49-F238E27FC236}">
                    <a16:creationId xmlns:a16="http://schemas.microsoft.com/office/drawing/2014/main" xmlns="" id="{4C5C7E15-B5DD-4EDC-A1DB-2F7B88426BF4}"/>
                  </a:ext>
                </a:extLst>
              </p:cNvPr>
              <p:cNvSpPr/>
              <p:nvPr/>
            </p:nvSpPr>
            <p:spPr>
              <a:xfrm>
                <a:off x="5807075" y="2995613"/>
                <a:ext cx="23813"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81" name="Shape 7792">
                <a:extLst>
                  <a:ext uri="{FF2B5EF4-FFF2-40B4-BE49-F238E27FC236}">
                    <a16:creationId xmlns:a16="http://schemas.microsoft.com/office/drawing/2014/main" xmlns="" id="{360F3639-EA82-4660-8A93-7FD6869AC770}"/>
                  </a:ext>
                </a:extLst>
              </p:cNvPr>
              <p:cNvSpPr/>
              <p:nvPr/>
            </p:nvSpPr>
            <p:spPr>
              <a:xfrm>
                <a:off x="5753100" y="299561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82" name="Shape 7793">
                <a:extLst>
                  <a:ext uri="{FF2B5EF4-FFF2-40B4-BE49-F238E27FC236}">
                    <a16:creationId xmlns:a16="http://schemas.microsoft.com/office/drawing/2014/main" xmlns="" id="{F9BDB9C5-2AE3-4455-910B-33B8B4574EF7}"/>
                  </a:ext>
                </a:extLst>
              </p:cNvPr>
              <p:cNvSpPr/>
              <p:nvPr/>
            </p:nvSpPr>
            <p:spPr>
              <a:xfrm>
                <a:off x="6048375" y="2955925"/>
                <a:ext cx="22225" cy="28575"/>
              </a:xfrm>
              <a:custGeom>
                <a:avLst/>
                <a:gdLst/>
                <a:ahLst/>
                <a:cxnLst/>
                <a:rect l="0" t="0" r="0" b="0"/>
                <a:pathLst>
                  <a:path w="19" h="24" extrusionOk="0">
                    <a:moveTo>
                      <a:pt x="0" y="17"/>
                    </a:moveTo>
                    <a:cubicBezTo>
                      <a:pt x="12" y="24"/>
                      <a:pt x="12" y="24"/>
                      <a:pt x="12" y="24"/>
                    </a:cubicBezTo>
                    <a:cubicBezTo>
                      <a:pt x="17" y="17"/>
                      <a:pt x="19" y="9"/>
                      <a:pt x="19" y="0"/>
                    </a:cubicBezTo>
                    <a:cubicBezTo>
                      <a:pt x="6" y="0"/>
                      <a:pt x="6" y="0"/>
                      <a:pt x="6" y="0"/>
                    </a:cubicBezTo>
                    <a:cubicBezTo>
                      <a:pt x="5" y="6"/>
                      <a:pt x="3" y="12"/>
                      <a:pt x="0" y="17"/>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83" name="Shape 7794">
                <a:extLst>
                  <a:ext uri="{FF2B5EF4-FFF2-40B4-BE49-F238E27FC236}">
                    <a16:creationId xmlns:a16="http://schemas.microsoft.com/office/drawing/2014/main" xmlns="" id="{4D85F88C-8615-4B84-A3D5-2F76E1F45E30}"/>
                  </a:ext>
                </a:extLst>
              </p:cNvPr>
              <p:cNvSpPr/>
              <p:nvPr/>
            </p:nvSpPr>
            <p:spPr>
              <a:xfrm>
                <a:off x="6056313" y="2906713"/>
                <a:ext cx="15875" cy="23812"/>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84" name="Shape 7795">
                <a:extLst>
                  <a:ext uri="{FF2B5EF4-FFF2-40B4-BE49-F238E27FC236}">
                    <a16:creationId xmlns:a16="http://schemas.microsoft.com/office/drawing/2014/main" xmlns="" id="{024510CE-19C8-4A64-9931-6DAE2AC90221}"/>
                  </a:ext>
                </a:extLst>
              </p:cNvPr>
              <p:cNvSpPr/>
              <p:nvPr/>
            </p:nvSpPr>
            <p:spPr>
              <a:xfrm>
                <a:off x="6030913" y="2820988"/>
                <a:ext cx="65088" cy="57150"/>
              </a:xfrm>
              <a:custGeom>
                <a:avLst/>
                <a:gdLst/>
                <a:ahLst/>
                <a:cxnLst/>
                <a:rect l="0" t="0" r="0" b="0"/>
                <a:pathLst>
                  <a:path w="41" h="36" extrusionOk="0">
                    <a:moveTo>
                      <a:pt x="0" y="36"/>
                    </a:moveTo>
                    <a:lnTo>
                      <a:pt x="41" y="36"/>
                    </a:lnTo>
                    <a:lnTo>
                      <a:pt x="21" y="0"/>
                    </a:lnTo>
                    <a:lnTo>
                      <a:pt x="0" y="36"/>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85" name="Shape 7796">
                <a:extLst>
                  <a:ext uri="{FF2B5EF4-FFF2-40B4-BE49-F238E27FC236}">
                    <a16:creationId xmlns:a16="http://schemas.microsoft.com/office/drawing/2014/main" xmlns="" id="{D9B602E5-3D77-442C-88F9-1864E34D07E6}"/>
                  </a:ext>
                </a:extLst>
              </p:cNvPr>
              <p:cNvSpPr/>
              <p:nvPr/>
            </p:nvSpPr>
            <p:spPr>
              <a:xfrm>
                <a:off x="5908675" y="2495550"/>
                <a:ext cx="187325" cy="282575"/>
              </a:xfrm>
              <a:custGeom>
                <a:avLst/>
                <a:gdLst/>
                <a:ahLst/>
                <a:cxnLst/>
                <a:rect l="0" t="0" r="0" b="0"/>
                <a:pathLst>
                  <a:path w="160" h="242" extrusionOk="0">
                    <a:moveTo>
                      <a:pt x="0" y="233"/>
                    </a:moveTo>
                    <a:cubicBezTo>
                      <a:pt x="0" y="238"/>
                      <a:pt x="4" y="242"/>
                      <a:pt x="9" y="242"/>
                    </a:cubicBezTo>
                    <a:cubicBezTo>
                      <a:pt x="151" y="242"/>
                      <a:pt x="151" y="242"/>
                      <a:pt x="151" y="242"/>
                    </a:cubicBezTo>
                    <a:cubicBezTo>
                      <a:pt x="156" y="242"/>
                      <a:pt x="160" y="238"/>
                      <a:pt x="160" y="233"/>
                    </a:cubicBezTo>
                    <a:cubicBezTo>
                      <a:pt x="160" y="0"/>
                      <a:pt x="160" y="0"/>
                      <a:pt x="160" y="0"/>
                    </a:cubicBezTo>
                    <a:cubicBezTo>
                      <a:pt x="0" y="0"/>
                      <a:pt x="0" y="0"/>
                      <a:pt x="0" y="0"/>
                    </a:cubicBezTo>
                    <a:lnTo>
                      <a:pt x="0" y="233"/>
                    </a:lnTo>
                    <a:close/>
                    <a:moveTo>
                      <a:pt x="80" y="227"/>
                    </a:moveTo>
                    <a:cubicBezTo>
                      <a:pt x="71" y="227"/>
                      <a:pt x="63" y="220"/>
                      <a:pt x="63" y="210"/>
                    </a:cubicBezTo>
                    <a:cubicBezTo>
                      <a:pt x="63" y="200"/>
                      <a:pt x="71" y="192"/>
                      <a:pt x="80" y="192"/>
                    </a:cubicBezTo>
                    <a:cubicBezTo>
                      <a:pt x="90" y="192"/>
                      <a:pt x="98" y="200"/>
                      <a:pt x="98" y="210"/>
                    </a:cubicBezTo>
                    <a:cubicBezTo>
                      <a:pt x="98" y="220"/>
                      <a:pt x="90" y="227"/>
                      <a:pt x="80" y="227"/>
                    </a:cubicBezTo>
                    <a:close/>
                    <a:moveTo>
                      <a:pt x="72" y="175"/>
                    </a:moveTo>
                    <a:cubicBezTo>
                      <a:pt x="72" y="171"/>
                      <a:pt x="76" y="167"/>
                      <a:pt x="80" y="167"/>
                    </a:cubicBezTo>
                    <a:cubicBezTo>
                      <a:pt x="85" y="167"/>
                      <a:pt x="88" y="171"/>
                      <a:pt x="88" y="175"/>
                    </a:cubicBezTo>
                    <a:cubicBezTo>
                      <a:pt x="88" y="179"/>
                      <a:pt x="85" y="183"/>
                      <a:pt x="80" y="183"/>
                    </a:cubicBezTo>
                    <a:cubicBezTo>
                      <a:pt x="76" y="183"/>
                      <a:pt x="72" y="179"/>
                      <a:pt x="72" y="175"/>
                    </a:cubicBezTo>
                    <a:close/>
                    <a:moveTo>
                      <a:pt x="29" y="12"/>
                    </a:moveTo>
                    <a:cubicBezTo>
                      <a:pt x="131" y="12"/>
                      <a:pt x="131" y="12"/>
                      <a:pt x="131" y="12"/>
                    </a:cubicBezTo>
                    <a:cubicBezTo>
                      <a:pt x="131" y="33"/>
                      <a:pt x="131" y="33"/>
                      <a:pt x="131" y="33"/>
                    </a:cubicBezTo>
                    <a:cubicBezTo>
                      <a:pt x="29" y="33"/>
                      <a:pt x="29" y="33"/>
                      <a:pt x="29" y="33"/>
                    </a:cubicBezTo>
                    <a:lnTo>
                      <a:pt x="29" y="12"/>
                    </a:lnTo>
                    <a:close/>
                    <a:moveTo>
                      <a:pt x="29" y="43"/>
                    </a:moveTo>
                    <a:cubicBezTo>
                      <a:pt x="131" y="43"/>
                      <a:pt x="131" y="43"/>
                      <a:pt x="131" y="43"/>
                    </a:cubicBezTo>
                    <a:cubicBezTo>
                      <a:pt x="131" y="64"/>
                      <a:pt x="131" y="64"/>
                      <a:pt x="131" y="64"/>
                    </a:cubicBezTo>
                    <a:cubicBezTo>
                      <a:pt x="29" y="64"/>
                      <a:pt x="29" y="64"/>
                      <a:pt x="29" y="64"/>
                    </a:cubicBezTo>
                    <a:lnTo>
                      <a:pt x="29" y="43"/>
                    </a:lnTo>
                    <a:close/>
                    <a:moveTo>
                      <a:pt x="29" y="73"/>
                    </a:moveTo>
                    <a:cubicBezTo>
                      <a:pt x="131" y="73"/>
                      <a:pt x="131" y="73"/>
                      <a:pt x="131" y="73"/>
                    </a:cubicBezTo>
                    <a:cubicBezTo>
                      <a:pt x="131" y="94"/>
                      <a:pt x="131" y="94"/>
                      <a:pt x="131" y="94"/>
                    </a:cubicBezTo>
                    <a:cubicBezTo>
                      <a:pt x="29" y="94"/>
                      <a:pt x="29" y="94"/>
                      <a:pt x="29" y="94"/>
                    </a:cubicBezTo>
                    <a:lnTo>
                      <a:pt x="29" y="73"/>
                    </a:lnTo>
                    <a:close/>
                    <a:moveTo>
                      <a:pt x="29" y="104"/>
                    </a:moveTo>
                    <a:cubicBezTo>
                      <a:pt x="131" y="104"/>
                      <a:pt x="131" y="104"/>
                      <a:pt x="131" y="104"/>
                    </a:cubicBezTo>
                    <a:cubicBezTo>
                      <a:pt x="131" y="125"/>
                      <a:pt x="131" y="125"/>
                      <a:pt x="131" y="125"/>
                    </a:cubicBezTo>
                    <a:cubicBezTo>
                      <a:pt x="29" y="125"/>
                      <a:pt x="29" y="125"/>
                      <a:pt x="29" y="125"/>
                    </a:cubicBezTo>
                    <a:lnTo>
                      <a:pt x="29" y="104"/>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86" name="Shape 7797">
                <a:extLst>
                  <a:ext uri="{FF2B5EF4-FFF2-40B4-BE49-F238E27FC236}">
                    <a16:creationId xmlns:a16="http://schemas.microsoft.com/office/drawing/2014/main" xmlns="" id="{B9921951-0868-4EE7-964C-EA509AED6BF7}"/>
                  </a:ext>
                </a:extLst>
              </p:cNvPr>
              <p:cNvSpPr/>
              <p:nvPr/>
            </p:nvSpPr>
            <p:spPr>
              <a:xfrm>
                <a:off x="5908675" y="2417763"/>
                <a:ext cx="187325" cy="65087"/>
              </a:xfrm>
              <a:custGeom>
                <a:avLst/>
                <a:gdLst/>
                <a:ahLst/>
                <a:cxnLst/>
                <a:rect l="0" t="0" r="0" b="0"/>
                <a:pathLst>
                  <a:path w="160" h="55" extrusionOk="0">
                    <a:moveTo>
                      <a:pt x="151" y="0"/>
                    </a:moveTo>
                    <a:cubicBezTo>
                      <a:pt x="9" y="0"/>
                      <a:pt x="9" y="0"/>
                      <a:pt x="9" y="0"/>
                    </a:cubicBezTo>
                    <a:cubicBezTo>
                      <a:pt x="4" y="0"/>
                      <a:pt x="0" y="4"/>
                      <a:pt x="0" y="9"/>
                    </a:cubicBezTo>
                    <a:cubicBezTo>
                      <a:pt x="0" y="55"/>
                      <a:pt x="0" y="55"/>
                      <a:pt x="0" y="55"/>
                    </a:cubicBezTo>
                    <a:cubicBezTo>
                      <a:pt x="160" y="55"/>
                      <a:pt x="160" y="55"/>
                      <a:pt x="160" y="55"/>
                    </a:cubicBezTo>
                    <a:cubicBezTo>
                      <a:pt x="160" y="9"/>
                      <a:pt x="160" y="9"/>
                      <a:pt x="160" y="9"/>
                    </a:cubicBezTo>
                    <a:cubicBezTo>
                      <a:pt x="160" y="4"/>
                      <a:pt x="156" y="0"/>
                      <a:pt x="151" y="0"/>
                    </a:cubicBezTo>
                    <a:close/>
                    <a:moveTo>
                      <a:pt x="93" y="38"/>
                    </a:moveTo>
                    <a:cubicBezTo>
                      <a:pt x="29" y="38"/>
                      <a:pt x="29" y="38"/>
                      <a:pt x="29" y="38"/>
                    </a:cubicBezTo>
                    <a:cubicBezTo>
                      <a:pt x="29" y="22"/>
                      <a:pt x="29" y="22"/>
                      <a:pt x="29" y="22"/>
                    </a:cubicBezTo>
                    <a:cubicBezTo>
                      <a:pt x="93" y="22"/>
                      <a:pt x="93" y="22"/>
                      <a:pt x="93" y="22"/>
                    </a:cubicBezTo>
                    <a:lnTo>
                      <a:pt x="93" y="38"/>
                    </a:lnTo>
                    <a:close/>
                    <a:moveTo>
                      <a:pt x="117" y="43"/>
                    </a:moveTo>
                    <a:cubicBezTo>
                      <a:pt x="110" y="43"/>
                      <a:pt x="104" y="37"/>
                      <a:pt x="104" y="30"/>
                    </a:cubicBezTo>
                    <a:cubicBezTo>
                      <a:pt x="104" y="22"/>
                      <a:pt x="110" y="16"/>
                      <a:pt x="117" y="16"/>
                    </a:cubicBezTo>
                    <a:cubicBezTo>
                      <a:pt x="125" y="16"/>
                      <a:pt x="131" y="22"/>
                      <a:pt x="131" y="30"/>
                    </a:cubicBezTo>
                    <a:cubicBezTo>
                      <a:pt x="131" y="37"/>
                      <a:pt x="125" y="43"/>
                      <a:pt x="117" y="43"/>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87" name="Shape 7798">
                <a:extLst>
                  <a:ext uri="{FF2B5EF4-FFF2-40B4-BE49-F238E27FC236}">
                    <a16:creationId xmlns:a16="http://schemas.microsoft.com/office/drawing/2014/main" xmlns="" id="{56D5D84E-4674-40B4-B10C-7D31F9CFCED4}"/>
                  </a:ext>
                </a:extLst>
              </p:cNvPr>
              <p:cNvSpPr/>
              <p:nvPr/>
            </p:nvSpPr>
            <p:spPr>
              <a:xfrm>
                <a:off x="5592763" y="2417763"/>
                <a:ext cx="30163" cy="20637"/>
              </a:xfrm>
              <a:custGeom>
                <a:avLst/>
                <a:gdLst/>
                <a:ahLst/>
                <a:cxnLst/>
                <a:rect l="0" t="0" r="0" b="0"/>
                <a:pathLst>
                  <a:path w="25" h="18" extrusionOk="0">
                    <a:moveTo>
                      <a:pt x="24" y="14"/>
                    </a:moveTo>
                    <a:cubicBezTo>
                      <a:pt x="25" y="14"/>
                      <a:pt x="25" y="14"/>
                      <a:pt x="25" y="14"/>
                    </a:cubicBezTo>
                    <a:cubicBezTo>
                      <a:pt x="25" y="0"/>
                      <a:pt x="25" y="0"/>
                      <a:pt x="25" y="0"/>
                    </a:cubicBezTo>
                    <a:cubicBezTo>
                      <a:pt x="24" y="0"/>
                      <a:pt x="24" y="0"/>
                      <a:pt x="24" y="0"/>
                    </a:cubicBezTo>
                    <a:cubicBezTo>
                      <a:pt x="16" y="0"/>
                      <a:pt x="8" y="2"/>
                      <a:pt x="0" y="6"/>
                    </a:cubicBezTo>
                    <a:cubicBezTo>
                      <a:pt x="7" y="18"/>
                      <a:pt x="7" y="18"/>
                      <a:pt x="7" y="18"/>
                    </a:cubicBezTo>
                    <a:cubicBezTo>
                      <a:pt x="12" y="15"/>
                      <a:pt x="18" y="14"/>
                      <a:pt x="24" y="14"/>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88" name="Shape 7799">
                <a:extLst>
                  <a:ext uri="{FF2B5EF4-FFF2-40B4-BE49-F238E27FC236}">
                    <a16:creationId xmlns:a16="http://schemas.microsoft.com/office/drawing/2014/main" xmlns="" id="{EE8DCC50-45B7-4006-B1CD-7EF51C5C293C}"/>
                  </a:ext>
                </a:extLst>
              </p:cNvPr>
              <p:cNvSpPr/>
              <p:nvPr/>
            </p:nvSpPr>
            <p:spPr>
              <a:xfrm>
                <a:off x="5646738" y="2417763"/>
                <a:ext cx="26988"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89" name="Shape 7800">
                <a:extLst>
                  <a:ext uri="{FF2B5EF4-FFF2-40B4-BE49-F238E27FC236}">
                    <a16:creationId xmlns:a16="http://schemas.microsoft.com/office/drawing/2014/main" xmlns="" id="{6200B3F1-8358-447A-8D26-6296D5A201E8}"/>
                  </a:ext>
                </a:extLst>
              </p:cNvPr>
              <p:cNvSpPr/>
              <p:nvPr/>
            </p:nvSpPr>
            <p:spPr>
              <a:xfrm>
                <a:off x="5697538" y="241776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90" name="Shape 7801">
                <a:extLst>
                  <a:ext uri="{FF2B5EF4-FFF2-40B4-BE49-F238E27FC236}">
                    <a16:creationId xmlns:a16="http://schemas.microsoft.com/office/drawing/2014/main" xmlns="" id="{132E2040-F712-4F57-8849-D97E2D2B728F}"/>
                  </a:ext>
                </a:extLst>
              </p:cNvPr>
              <p:cNvSpPr/>
              <p:nvPr/>
            </p:nvSpPr>
            <p:spPr>
              <a:xfrm>
                <a:off x="5748338" y="241776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91" name="Shape 7802">
                <a:extLst>
                  <a:ext uri="{FF2B5EF4-FFF2-40B4-BE49-F238E27FC236}">
                    <a16:creationId xmlns:a16="http://schemas.microsoft.com/office/drawing/2014/main" xmlns="" id="{91072B3A-C50E-46DC-A042-12239F5D4520}"/>
                  </a:ext>
                </a:extLst>
              </p:cNvPr>
              <p:cNvSpPr/>
              <p:nvPr/>
            </p:nvSpPr>
            <p:spPr>
              <a:xfrm>
                <a:off x="5799138" y="241776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92" name="Shape 7803">
                <a:extLst>
                  <a:ext uri="{FF2B5EF4-FFF2-40B4-BE49-F238E27FC236}">
                    <a16:creationId xmlns:a16="http://schemas.microsoft.com/office/drawing/2014/main" xmlns="" id="{EBDCD9A5-B0E3-4893-8A83-7A230CB7036F}"/>
                  </a:ext>
                </a:extLst>
              </p:cNvPr>
              <p:cNvSpPr/>
              <p:nvPr/>
            </p:nvSpPr>
            <p:spPr>
              <a:xfrm>
                <a:off x="5857875" y="241776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93" name="Shape 7804">
                <a:extLst>
                  <a:ext uri="{FF2B5EF4-FFF2-40B4-BE49-F238E27FC236}">
                    <a16:creationId xmlns:a16="http://schemas.microsoft.com/office/drawing/2014/main" xmlns="" id="{1670FDEC-1828-43B6-A59F-DD6C64E49A28}"/>
                  </a:ext>
                </a:extLst>
              </p:cNvPr>
              <p:cNvSpPr/>
              <p:nvPr/>
            </p:nvSpPr>
            <p:spPr>
              <a:xfrm>
                <a:off x="5564188" y="2444750"/>
                <a:ext cx="22225" cy="28575"/>
              </a:xfrm>
              <a:custGeom>
                <a:avLst/>
                <a:gdLst/>
                <a:ahLst/>
                <a:cxnLst/>
                <a:rect l="0" t="0" r="0" b="0"/>
                <a:pathLst>
                  <a:path w="19" h="24" extrusionOk="0">
                    <a:moveTo>
                      <a:pt x="19" y="7"/>
                    </a:moveTo>
                    <a:cubicBezTo>
                      <a:pt x="7" y="0"/>
                      <a:pt x="7" y="0"/>
                      <a:pt x="7" y="0"/>
                    </a:cubicBezTo>
                    <a:cubicBezTo>
                      <a:pt x="3" y="7"/>
                      <a:pt x="0" y="15"/>
                      <a:pt x="0" y="23"/>
                    </a:cubicBezTo>
                    <a:cubicBezTo>
                      <a:pt x="14" y="24"/>
                      <a:pt x="14" y="24"/>
                      <a:pt x="14" y="24"/>
                    </a:cubicBezTo>
                    <a:cubicBezTo>
                      <a:pt x="14" y="18"/>
                      <a:pt x="16" y="12"/>
                      <a:pt x="19" y="7"/>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94" name="Shape 7805">
                <a:extLst>
                  <a:ext uri="{FF2B5EF4-FFF2-40B4-BE49-F238E27FC236}">
                    <a16:creationId xmlns:a16="http://schemas.microsoft.com/office/drawing/2014/main" xmlns="" id="{30345421-D6FB-43B2-8892-CEEB1034D7D4}"/>
                  </a:ext>
                </a:extLst>
              </p:cNvPr>
              <p:cNvSpPr/>
              <p:nvPr/>
            </p:nvSpPr>
            <p:spPr>
              <a:xfrm>
                <a:off x="5564188" y="2497138"/>
                <a:ext cx="15875" cy="25400"/>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95" name="Shape 7806">
                <a:extLst>
                  <a:ext uri="{FF2B5EF4-FFF2-40B4-BE49-F238E27FC236}">
                    <a16:creationId xmlns:a16="http://schemas.microsoft.com/office/drawing/2014/main" xmlns="" id="{EC408B58-1969-4F21-877D-6D3613EDD8FA}"/>
                  </a:ext>
                </a:extLst>
              </p:cNvPr>
              <p:cNvSpPr/>
              <p:nvPr/>
            </p:nvSpPr>
            <p:spPr>
              <a:xfrm>
                <a:off x="5538788" y="2551113"/>
                <a:ext cx="66675" cy="55562"/>
              </a:xfrm>
              <a:custGeom>
                <a:avLst/>
                <a:gdLst/>
                <a:ahLst/>
                <a:cxnLst/>
                <a:rect l="0" t="0" r="0" b="0"/>
                <a:pathLst>
                  <a:path w="42" h="35" extrusionOk="0">
                    <a:moveTo>
                      <a:pt x="42" y="0"/>
                    </a:moveTo>
                    <a:lnTo>
                      <a:pt x="0" y="0"/>
                    </a:lnTo>
                    <a:lnTo>
                      <a:pt x="21" y="35"/>
                    </a:lnTo>
                    <a:lnTo>
                      <a:pt x="42" y="0"/>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grpSp>
      </p:grpSp>
    </p:spTree>
    <p:extLst>
      <p:ext uri="{BB962C8B-B14F-4D97-AF65-F5344CB8AC3E}">
        <p14:creationId xmlns:p14="http://schemas.microsoft.com/office/powerpoint/2010/main" val="17310315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CEC86B9-0817-BB25-B9EE-A7138662E38A}"/>
              </a:ext>
            </a:extLst>
          </p:cNvPr>
          <p:cNvSpPr>
            <a:spLocks noGrp="1"/>
          </p:cNvSpPr>
          <p:nvPr>
            <p:ph type="title"/>
          </p:nvPr>
        </p:nvSpPr>
        <p:spPr/>
        <p:txBody>
          <a:bodyPr>
            <a:normAutofit/>
          </a:bodyPr>
          <a:lstStyle/>
          <a:p>
            <a:r>
              <a:rPr lang="en-US" dirty="0" err="1">
                <a:latin typeface="Times New Roman" panose="02020603050405020304" pitchFamily="18" charset="0"/>
              </a:rPr>
              <a:t>ChatGPT</a:t>
            </a:r>
            <a:r>
              <a:rPr lang="en-US" dirty="0">
                <a:latin typeface="Times New Roman" panose="02020603050405020304" pitchFamily="18" charset="0"/>
              </a:rPr>
              <a:t>: A Conversational AI Powerhouse</a:t>
            </a:r>
          </a:p>
        </p:txBody>
      </p:sp>
      <p:sp>
        <p:nvSpPr>
          <p:cNvPr id="3" name="Content Placeholder 2">
            <a:extLst>
              <a:ext uri="{FF2B5EF4-FFF2-40B4-BE49-F238E27FC236}">
                <a16:creationId xmlns:a16="http://schemas.microsoft.com/office/drawing/2014/main" xmlns="" id="{D53A7B45-BC6D-672C-F383-17E6B8815CA0}"/>
              </a:ext>
            </a:extLst>
          </p:cNvPr>
          <p:cNvSpPr>
            <a:spLocks noGrp="1"/>
          </p:cNvSpPr>
          <p:nvPr>
            <p:ph idx="1"/>
          </p:nvPr>
        </p:nvSpPr>
        <p:spPr/>
        <p:txBody>
          <a:bodyPr>
            <a:normAutofit fontScale="92500" lnSpcReduction="10000"/>
          </a:bodyPr>
          <a:lstStyle/>
          <a:p>
            <a:pPr marL="0" indent="0">
              <a:buNone/>
            </a:pPr>
            <a:r>
              <a:rPr lang="en-US" sz="2400" dirty="0" err="1">
                <a:latin typeface="+mn-lt"/>
              </a:rPr>
              <a:t>ChatGPT</a:t>
            </a:r>
            <a:r>
              <a:rPr lang="en-US" sz="2400" dirty="0">
                <a:latin typeface="+mn-lt"/>
              </a:rPr>
              <a:t>, developed by </a:t>
            </a:r>
            <a:r>
              <a:rPr lang="en-US" sz="2400" dirty="0" err="1">
                <a:latin typeface="+mn-lt"/>
              </a:rPr>
              <a:t>OpenAI</a:t>
            </a:r>
            <a:r>
              <a:rPr lang="en-US" sz="2400" dirty="0">
                <a:latin typeface="+mn-lt"/>
              </a:rPr>
              <a:t>, is another powerful conversational AI chatbot based on the GPT-3.5 and GPT-4 language models. It allows users to engage in natural and engaging conversations, even steering them towards desired formats, styles, and levels of detail.</a:t>
            </a:r>
          </a:p>
          <a:p>
            <a:pPr marL="0" indent="0">
              <a:buNone/>
            </a:pPr>
            <a:r>
              <a:rPr lang="en-US" sz="2100" b="1" dirty="0"/>
              <a:t>What can it do?</a:t>
            </a:r>
          </a:p>
          <a:p>
            <a:r>
              <a:rPr lang="en-US" sz="2100" dirty="0"/>
              <a:t>Engage in open-ended, back-and-forth conversations, including follow-up questions and admissions of mistakes.</a:t>
            </a:r>
          </a:p>
          <a:p>
            <a:r>
              <a:rPr lang="en-US" sz="2100" dirty="0"/>
              <a:t>Challenge incorrect premises and reject inappropriate requests while maintaining a professional and polite demeanor.</a:t>
            </a:r>
          </a:p>
          <a:p>
            <a:r>
              <a:rPr lang="en-US" sz="2100" dirty="0"/>
              <a:t>Offer insights and automate tasks, making it a versatile tool for various purposes.</a:t>
            </a:r>
          </a:p>
          <a:p>
            <a:pPr marL="0" indent="0">
              <a:buNone/>
            </a:pPr>
            <a:r>
              <a:rPr lang="en-US" sz="2100" b="1" dirty="0"/>
              <a:t>Unique features:</a:t>
            </a:r>
            <a:r>
              <a:rPr lang="en-US" sz="2100" dirty="0"/>
              <a:t> </a:t>
            </a:r>
          </a:p>
          <a:p>
            <a:r>
              <a:rPr lang="en-US" sz="2100" dirty="0"/>
              <a:t>Vision: Process and respond to images within the conversation.</a:t>
            </a:r>
          </a:p>
          <a:p>
            <a:r>
              <a:rPr lang="en-US" sz="2100" dirty="0" err="1"/>
              <a:t>Dalle</a:t>
            </a:r>
            <a:r>
              <a:rPr lang="en-US" sz="2100" dirty="0"/>
              <a:t> 3 Integration: Generate new images based on textual descriptions.</a:t>
            </a:r>
          </a:p>
          <a:p>
            <a:r>
              <a:rPr lang="en-US" sz="2100" dirty="0"/>
              <a:t>Voice Chat: Converse with </a:t>
            </a:r>
            <a:r>
              <a:rPr lang="en-US" sz="2100" dirty="0" err="1"/>
              <a:t>ChatGPT</a:t>
            </a:r>
            <a:r>
              <a:rPr lang="en-US" sz="2100" dirty="0"/>
              <a:t> using your voice.</a:t>
            </a:r>
          </a:p>
          <a:p>
            <a:endParaRPr lang="en-US" sz="2100" dirty="0"/>
          </a:p>
        </p:txBody>
      </p:sp>
    </p:spTree>
    <p:extLst>
      <p:ext uri="{BB962C8B-B14F-4D97-AF65-F5344CB8AC3E}">
        <p14:creationId xmlns:p14="http://schemas.microsoft.com/office/powerpoint/2010/main" val="1466271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D605791-E2FC-7578-E4A6-B2250FD16F75}"/>
              </a:ext>
            </a:extLst>
          </p:cNvPr>
          <p:cNvSpPr>
            <a:spLocks noGrp="1"/>
          </p:cNvSpPr>
          <p:nvPr>
            <p:ph type="title"/>
          </p:nvPr>
        </p:nvSpPr>
        <p:spPr/>
        <p:txBody>
          <a:bodyPr/>
          <a:lstStyle/>
          <a:p>
            <a:r>
              <a:rPr lang="en-US" dirty="0" err="1"/>
              <a:t>Cont</a:t>
            </a:r>
            <a:r>
              <a:rPr lang="en-US" dirty="0"/>
              <a:t>…</a:t>
            </a:r>
          </a:p>
        </p:txBody>
      </p:sp>
      <p:sp>
        <p:nvSpPr>
          <p:cNvPr id="3" name="Content Placeholder 2">
            <a:extLst>
              <a:ext uri="{FF2B5EF4-FFF2-40B4-BE49-F238E27FC236}">
                <a16:creationId xmlns:a16="http://schemas.microsoft.com/office/drawing/2014/main" xmlns="" id="{4236A4EA-6A9D-D08C-7F8A-6EC27357C06E}"/>
              </a:ext>
            </a:extLst>
          </p:cNvPr>
          <p:cNvSpPr>
            <a:spLocks noGrp="1"/>
          </p:cNvSpPr>
          <p:nvPr>
            <p:ph idx="1"/>
          </p:nvPr>
        </p:nvSpPr>
        <p:spPr>
          <a:xfrm>
            <a:off x="678884" y="1659835"/>
            <a:ext cx="6427972" cy="4398066"/>
          </a:xfrm>
        </p:spPr>
        <p:txBody>
          <a:bodyPr>
            <a:normAutofit lnSpcReduction="10000"/>
          </a:bodyPr>
          <a:lstStyle/>
          <a:p>
            <a:pPr marL="0" indent="0">
              <a:buNone/>
            </a:pPr>
            <a:r>
              <a:rPr lang="en-US" sz="2200" dirty="0"/>
              <a:t>How to use it:</a:t>
            </a:r>
          </a:p>
          <a:p>
            <a:pPr marL="0" indent="0">
              <a:buNone/>
            </a:pPr>
            <a:r>
              <a:rPr lang="en-US" sz="2200" dirty="0"/>
              <a:t>Visit the </a:t>
            </a:r>
            <a:r>
              <a:rPr lang="en-US" sz="2200" dirty="0" err="1"/>
              <a:t>ChatGPT</a:t>
            </a:r>
            <a:r>
              <a:rPr lang="en-US" sz="2200" dirty="0"/>
              <a:t> website: </a:t>
            </a:r>
          </a:p>
          <a:p>
            <a:pPr marL="0" indent="0">
              <a:buNone/>
            </a:pPr>
            <a:r>
              <a:rPr lang="en-US" sz="2200" dirty="0">
                <a:hlinkClick r:id="rId3"/>
              </a:rPr>
              <a:t>https://chat.openai.com/</a:t>
            </a:r>
            <a:endParaRPr lang="en-US" sz="2200" dirty="0"/>
          </a:p>
          <a:p>
            <a:pPr marL="0" indent="0">
              <a:buNone/>
            </a:pPr>
            <a:r>
              <a:rPr lang="en-US" sz="2200" b="1" dirty="0"/>
              <a:t>Sign up for an account (free and paid options available).</a:t>
            </a:r>
          </a:p>
          <a:p>
            <a:r>
              <a:rPr lang="en-US" sz="2200" dirty="0"/>
              <a:t>Start chatting with </a:t>
            </a:r>
            <a:r>
              <a:rPr lang="en-US" sz="2200" dirty="0" err="1"/>
              <a:t>ChatGPT</a:t>
            </a:r>
            <a:r>
              <a:rPr lang="en-US" sz="2200" dirty="0"/>
              <a:t>!</a:t>
            </a:r>
          </a:p>
          <a:p>
            <a:pPr marL="0" indent="0">
              <a:buNone/>
            </a:pPr>
            <a:r>
              <a:rPr lang="en-US" sz="2200" dirty="0"/>
              <a:t>In short:</a:t>
            </a:r>
          </a:p>
          <a:p>
            <a:r>
              <a:rPr lang="en-US" sz="2200" dirty="0" err="1">
                <a:latin typeface="+mn-lt"/>
              </a:rPr>
              <a:t>ChatGPT</a:t>
            </a:r>
            <a:r>
              <a:rPr lang="en-US" sz="2200" dirty="0">
                <a:latin typeface="+mn-lt"/>
              </a:rPr>
              <a:t> is a user-friendly AI chatbot capable of engaging in natural and informative conversations. Its unique features, like vision integration and voice chat, make it stand out among other conversational AI tools.</a:t>
            </a:r>
          </a:p>
          <a:p>
            <a:endParaRPr lang="en-US" dirty="0"/>
          </a:p>
        </p:txBody>
      </p:sp>
      <p:graphicFrame>
        <p:nvGraphicFramePr>
          <p:cNvPr id="4" name="Object 3">
            <a:extLst>
              <a:ext uri="{FF2B5EF4-FFF2-40B4-BE49-F238E27FC236}">
                <a16:creationId xmlns:a16="http://schemas.microsoft.com/office/drawing/2014/main" xmlns="" id="{15FB9E11-7516-E15D-97C6-0F5AC2E18619}"/>
              </a:ext>
            </a:extLst>
          </p:cNvPr>
          <p:cNvGraphicFramePr>
            <a:graphicFrameLocks noChangeAspect="1"/>
          </p:cNvGraphicFramePr>
          <p:nvPr>
            <p:extLst>
              <p:ext uri="{D42A27DB-BD31-4B8C-83A1-F6EECF244321}">
                <p14:modId xmlns:p14="http://schemas.microsoft.com/office/powerpoint/2010/main" val="1517782316"/>
              </p:ext>
            </p:extLst>
          </p:nvPr>
        </p:nvGraphicFramePr>
        <p:xfrm>
          <a:off x="10826618" y="2928131"/>
          <a:ext cx="914400" cy="792163"/>
        </p:xfrm>
        <a:graphic>
          <a:graphicData uri="http://schemas.openxmlformats.org/presentationml/2006/ole">
            <mc:AlternateContent xmlns:mc="http://schemas.openxmlformats.org/markup-compatibility/2006">
              <mc:Choice xmlns:v="urn:schemas-microsoft-com:vml" Requires="v">
                <p:oleObj spid="_x0000_s1026" name="Document" showAsIcon="1" r:id="rId5" imgW="914400" imgH="792360" progId="Word.Document.12">
                  <p:embed/>
                </p:oleObj>
              </mc:Choice>
              <mc:Fallback>
                <p:oleObj name="Document" showAsIcon="1" r:id="rId5" imgW="914400" imgH="792360" progId="Word.Document.12">
                  <p:embed/>
                  <p:pic>
                    <p:nvPicPr>
                      <p:cNvPr id="4" name="Object 3">
                        <a:extLst>
                          <a:ext uri="{FF2B5EF4-FFF2-40B4-BE49-F238E27FC236}">
                            <a16:creationId xmlns:a16="http://schemas.microsoft.com/office/drawing/2014/main" xmlns="" id="{15FB9E11-7516-E15D-97C6-0F5AC2E18619}"/>
                          </a:ext>
                        </a:extLst>
                      </p:cNvPr>
                      <p:cNvPicPr/>
                      <p:nvPr/>
                    </p:nvPicPr>
                    <p:blipFill>
                      <a:blip r:embed="rId6"/>
                      <a:stretch>
                        <a:fillRect/>
                      </a:stretch>
                    </p:blipFill>
                    <p:spPr>
                      <a:xfrm>
                        <a:off x="10826618" y="2928131"/>
                        <a:ext cx="914400" cy="792163"/>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xmlns="" id="{A3842BC1-660A-F545-AF0B-EA390F44CC06}"/>
              </a:ext>
            </a:extLst>
          </p:cNvPr>
          <p:cNvGraphicFramePr>
            <a:graphicFrameLocks noChangeAspect="1"/>
          </p:cNvGraphicFramePr>
          <p:nvPr>
            <p:extLst>
              <p:ext uri="{D42A27DB-BD31-4B8C-83A1-F6EECF244321}">
                <p14:modId xmlns:p14="http://schemas.microsoft.com/office/powerpoint/2010/main" val="1605778578"/>
              </p:ext>
            </p:extLst>
          </p:nvPr>
        </p:nvGraphicFramePr>
        <p:xfrm>
          <a:off x="10826618" y="3848549"/>
          <a:ext cx="914400" cy="792163"/>
        </p:xfrm>
        <a:graphic>
          <a:graphicData uri="http://schemas.openxmlformats.org/presentationml/2006/ole">
            <mc:AlternateContent xmlns:mc="http://schemas.openxmlformats.org/markup-compatibility/2006">
              <mc:Choice xmlns:v="urn:schemas-microsoft-com:vml" Requires="v">
                <p:oleObj spid="_x0000_s1027" name="Document" showAsIcon="1" r:id="rId8" imgW="914400" imgH="792360" progId="Word.Document.12">
                  <p:embed/>
                </p:oleObj>
              </mc:Choice>
              <mc:Fallback>
                <p:oleObj name="Document" showAsIcon="1" r:id="rId8" imgW="914400" imgH="792360" progId="Word.Document.12">
                  <p:embed/>
                  <p:pic>
                    <p:nvPicPr>
                      <p:cNvPr id="5" name="Object 4">
                        <a:extLst>
                          <a:ext uri="{FF2B5EF4-FFF2-40B4-BE49-F238E27FC236}">
                            <a16:creationId xmlns:a16="http://schemas.microsoft.com/office/drawing/2014/main" xmlns="" id="{A3842BC1-660A-F545-AF0B-EA390F44CC06}"/>
                          </a:ext>
                        </a:extLst>
                      </p:cNvPr>
                      <p:cNvPicPr/>
                      <p:nvPr/>
                    </p:nvPicPr>
                    <p:blipFill>
                      <a:blip r:embed="rId9"/>
                      <a:stretch>
                        <a:fillRect/>
                      </a:stretch>
                    </p:blipFill>
                    <p:spPr>
                      <a:xfrm>
                        <a:off x="10826618" y="3848549"/>
                        <a:ext cx="914400" cy="792163"/>
                      </a:xfrm>
                      <a:prstGeom prst="rect">
                        <a:avLst/>
                      </a:prstGeom>
                    </p:spPr>
                  </p:pic>
                </p:oleObj>
              </mc:Fallback>
            </mc:AlternateContent>
          </a:graphicData>
        </a:graphic>
      </p:graphicFrame>
      <p:sp>
        <p:nvSpPr>
          <p:cNvPr id="7" name="TextBox 6">
            <a:extLst>
              <a:ext uri="{FF2B5EF4-FFF2-40B4-BE49-F238E27FC236}">
                <a16:creationId xmlns:a16="http://schemas.microsoft.com/office/drawing/2014/main" xmlns="" id="{095137F9-E759-5B21-F0C9-F6E5D5230FF9}"/>
              </a:ext>
            </a:extLst>
          </p:cNvPr>
          <p:cNvSpPr txBox="1"/>
          <p:nvPr/>
        </p:nvSpPr>
        <p:spPr>
          <a:xfrm>
            <a:off x="7578421" y="2916556"/>
            <a:ext cx="3248197" cy="1508105"/>
          </a:xfrm>
          <a:prstGeom prst="rect">
            <a:avLst/>
          </a:prstGeom>
          <a:noFill/>
        </p:spPr>
        <p:txBody>
          <a:bodyPr wrap="square">
            <a:spAutoFit/>
          </a:bodyPr>
          <a:lstStyle/>
          <a:p>
            <a:pPr marL="0" indent="0">
              <a:lnSpc>
                <a:spcPct val="100000"/>
              </a:lnSpc>
              <a:spcBef>
                <a:spcPts val="400"/>
              </a:spcBef>
              <a:spcAft>
                <a:spcPts val="400"/>
              </a:spcAft>
              <a:buNone/>
            </a:pPr>
            <a:r>
              <a:rPr lang="en-US" sz="1800" b="1" dirty="0"/>
              <a:t>Applications of </a:t>
            </a:r>
            <a:r>
              <a:rPr lang="en-US" sz="1800" b="1" dirty="0" err="1"/>
              <a:t>ChatGPT</a:t>
            </a:r>
            <a:r>
              <a:rPr lang="en-US" sz="1800" b="1" dirty="0"/>
              <a:t>:</a:t>
            </a:r>
          </a:p>
          <a:p>
            <a:pPr marL="0" indent="0">
              <a:lnSpc>
                <a:spcPct val="100000"/>
              </a:lnSpc>
              <a:spcBef>
                <a:spcPts val="400"/>
              </a:spcBef>
              <a:spcAft>
                <a:spcPts val="400"/>
              </a:spcAft>
              <a:buNone/>
            </a:pPr>
            <a:r>
              <a:rPr lang="en-US" sz="1800" dirty="0"/>
              <a:t>Using </a:t>
            </a:r>
            <a:r>
              <a:rPr lang="en-US" sz="1800" dirty="0" err="1"/>
              <a:t>ChatGPT</a:t>
            </a:r>
            <a:r>
              <a:rPr lang="en-US" sz="1800" dirty="0"/>
              <a:t> for article: </a:t>
            </a:r>
          </a:p>
          <a:p>
            <a:pPr marL="0" indent="0">
              <a:lnSpc>
                <a:spcPct val="100000"/>
              </a:lnSpc>
              <a:spcBef>
                <a:spcPts val="400"/>
              </a:spcBef>
              <a:spcAft>
                <a:spcPts val="400"/>
              </a:spcAft>
              <a:buNone/>
            </a:pPr>
            <a:endParaRPr lang="en-US" sz="1800" dirty="0"/>
          </a:p>
          <a:p>
            <a:pPr marL="0" indent="0">
              <a:lnSpc>
                <a:spcPct val="100000"/>
              </a:lnSpc>
              <a:spcBef>
                <a:spcPts val="400"/>
              </a:spcBef>
              <a:spcAft>
                <a:spcPts val="400"/>
              </a:spcAft>
              <a:buNone/>
            </a:pPr>
            <a:r>
              <a:rPr lang="en-US" sz="1800" dirty="0"/>
              <a:t>Using </a:t>
            </a:r>
            <a:r>
              <a:rPr lang="en-US" sz="1800" dirty="0" err="1"/>
              <a:t>ChatGPT</a:t>
            </a:r>
            <a:r>
              <a:rPr lang="en-US" sz="1800" dirty="0"/>
              <a:t> for email:</a:t>
            </a:r>
          </a:p>
        </p:txBody>
      </p:sp>
    </p:spTree>
    <p:extLst>
      <p:ext uri="{BB962C8B-B14F-4D97-AF65-F5344CB8AC3E}">
        <p14:creationId xmlns:p14="http://schemas.microsoft.com/office/powerpoint/2010/main" val="1460804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129F902-B8CB-3F49-AA3C-E5318B955897}"/>
              </a:ext>
            </a:extLst>
          </p:cNvPr>
          <p:cNvSpPr>
            <a:spLocks noGrp="1"/>
          </p:cNvSpPr>
          <p:nvPr>
            <p:ph type="title"/>
          </p:nvPr>
        </p:nvSpPr>
        <p:spPr/>
        <p:txBody>
          <a:bodyPr>
            <a:normAutofit fontScale="90000"/>
          </a:bodyPr>
          <a:lstStyle/>
          <a:p>
            <a:r>
              <a:rPr lang="en-US" dirty="0">
                <a:latin typeface="Calibri"/>
                <a:cs typeface="Calibri"/>
              </a:rPr>
              <a:t>Google </a:t>
            </a:r>
            <a:r>
              <a:rPr lang="en-US" b="0" dirty="0">
                <a:latin typeface="Calibri"/>
                <a:cs typeface="Calibri"/>
              </a:rPr>
              <a:t>Gemini</a:t>
            </a:r>
            <a:r>
              <a:rPr lang="en-US" dirty="0">
                <a:latin typeface="Calibri"/>
                <a:cs typeface="Calibri"/>
              </a:rPr>
              <a:t>: </a:t>
            </a:r>
            <a:r>
              <a:rPr lang="en-US" sz="3600" dirty="0">
                <a:latin typeface="+mn-lt"/>
              </a:rPr>
              <a:t>AI Chat Tool in a Nutshell</a:t>
            </a:r>
            <a:r>
              <a:rPr lang="en-US" sz="3600" dirty="0">
                <a:solidFill>
                  <a:schemeClr val="tx1"/>
                </a:solidFill>
                <a:latin typeface="+mn-lt"/>
              </a:rPr>
              <a:t/>
            </a:r>
            <a:br>
              <a:rPr lang="en-US" sz="3600" dirty="0">
                <a:solidFill>
                  <a:schemeClr val="tx1"/>
                </a:solidFill>
                <a:latin typeface="+mn-lt"/>
              </a:rPr>
            </a:br>
            <a:endParaRPr lang="en-US" dirty="0"/>
          </a:p>
        </p:txBody>
      </p:sp>
      <p:sp>
        <p:nvSpPr>
          <p:cNvPr id="3" name="Content Placeholder 2">
            <a:extLst>
              <a:ext uri="{FF2B5EF4-FFF2-40B4-BE49-F238E27FC236}">
                <a16:creationId xmlns:a16="http://schemas.microsoft.com/office/drawing/2014/main" xmlns="" id="{614EB3C0-7A93-284F-2686-105BCBA503DD}"/>
              </a:ext>
            </a:extLst>
          </p:cNvPr>
          <p:cNvSpPr>
            <a:spLocks noGrp="1"/>
          </p:cNvSpPr>
          <p:nvPr>
            <p:ph idx="1"/>
          </p:nvPr>
        </p:nvSpPr>
        <p:spPr>
          <a:xfrm>
            <a:off x="678883" y="1370468"/>
            <a:ext cx="10834234" cy="4398066"/>
          </a:xfrm>
        </p:spPr>
        <p:txBody>
          <a:bodyPr vert="horz" lIns="91440" tIns="45720" rIns="91440" bIns="45720" rtlCol="0" anchor="t">
            <a:noAutofit/>
          </a:bodyPr>
          <a:lstStyle/>
          <a:p>
            <a:pPr marL="0" indent="0">
              <a:lnSpc>
                <a:spcPct val="120000"/>
              </a:lnSpc>
              <a:spcBef>
                <a:spcPts val="400"/>
              </a:spcBef>
              <a:spcAft>
                <a:spcPts val="400"/>
              </a:spcAft>
              <a:buNone/>
            </a:pPr>
            <a:r>
              <a:rPr lang="en-US" sz="2200" dirty="0">
                <a:solidFill>
                  <a:schemeClr val="tx1"/>
                </a:solidFill>
                <a:latin typeface="+mn-lt"/>
              </a:rPr>
              <a:t>Google Gemini is a conversational generative AI tool developed by Google AI. It utilizes the power of large language models (LLMs) to understand and respond to your queries in a comprehensive and informative way.</a:t>
            </a:r>
          </a:p>
          <a:p>
            <a:pPr marL="0" indent="0">
              <a:lnSpc>
                <a:spcPct val="120000"/>
              </a:lnSpc>
              <a:spcBef>
                <a:spcPts val="400"/>
              </a:spcBef>
              <a:spcAft>
                <a:spcPts val="400"/>
              </a:spcAft>
              <a:buNone/>
            </a:pPr>
            <a:r>
              <a:rPr lang="en-US" sz="2200" dirty="0">
                <a:solidFill>
                  <a:schemeClr val="tx1"/>
                </a:solidFill>
                <a:latin typeface="+mn-lt"/>
              </a:rPr>
              <a:t>What can it do?</a:t>
            </a:r>
          </a:p>
          <a:p>
            <a:pPr>
              <a:lnSpc>
                <a:spcPct val="120000"/>
              </a:lnSpc>
              <a:spcBef>
                <a:spcPts val="400"/>
              </a:spcBef>
              <a:spcAft>
                <a:spcPts val="400"/>
              </a:spcAft>
            </a:pPr>
            <a:r>
              <a:rPr lang="en-US" sz="1800" dirty="0">
                <a:solidFill>
                  <a:schemeClr val="tx1"/>
                </a:solidFill>
                <a:latin typeface="+mn-lt"/>
              </a:rPr>
              <a:t>Answer your questions in an informative way, even if they are open-ended, challenging, or strange.</a:t>
            </a:r>
          </a:p>
          <a:p>
            <a:pPr>
              <a:lnSpc>
                <a:spcPct val="120000"/>
              </a:lnSpc>
              <a:spcBef>
                <a:spcPts val="400"/>
              </a:spcBef>
              <a:spcAft>
                <a:spcPts val="400"/>
              </a:spcAft>
            </a:pPr>
            <a:r>
              <a:rPr lang="en-US" sz="1800" dirty="0">
                <a:solidFill>
                  <a:schemeClr val="tx1"/>
                </a:solidFill>
                <a:latin typeface="+mn-lt"/>
              </a:rPr>
              <a:t>Follow your instructions and complete requests thoughtfully.</a:t>
            </a:r>
          </a:p>
          <a:p>
            <a:pPr>
              <a:lnSpc>
                <a:spcPct val="120000"/>
              </a:lnSpc>
              <a:spcBef>
                <a:spcPts val="400"/>
              </a:spcBef>
              <a:spcAft>
                <a:spcPts val="400"/>
              </a:spcAft>
            </a:pPr>
            <a:r>
              <a:rPr lang="en-US" sz="1800" dirty="0">
                <a:solidFill>
                  <a:schemeClr val="tx1"/>
                </a:solidFill>
                <a:latin typeface="+mn-lt"/>
              </a:rPr>
              <a:t>Generate different creative text formats like poems, code, scripts, musical pieces, email, letters, etc.</a:t>
            </a:r>
          </a:p>
          <a:p>
            <a:pPr>
              <a:lnSpc>
                <a:spcPct val="120000"/>
              </a:lnSpc>
              <a:spcBef>
                <a:spcPts val="400"/>
              </a:spcBef>
              <a:spcAft>
                <a:spcPts val="400"/>
              </a:spcAft>
            </a:pPr>
            <a:r>
              <a:rPr lang="en-US" sz="1800" dirty="0">
                <a:solidFill>
                  <a:schemeClr val="tx1"/>
                </a:solidFill>
                <a:latin typeface="+mn-lt"/>
              </a:rPr>
              <a:t>Translate languages.</a:t>
            </a:r>
          </a:p>
          <a:p>
            <a:pPr>
              <a:lnSpc>
                <a:spcPct val="120000"/>
              </a:lnSpc>
              <a:spcBef>
                <a:spcPts val="400"/>
              </a:spcBef>
              <a:spcAft>
                <a:spcPts val="400"/>
              </a:spcAft>
            </a:pPr>
            <a:r>
              <a:rPr lang="en-US" sz="1800" dirty="0">
                <a:solidFill>
                  <a:schemeClr val="tx1"/>
                </a:solidFill>
                <a:latin typeface="+mn-lt"/>
              </a:rPr>
              <a:t>Be a professional and helpful conversational partner.</a:t>
            </a:r>
          </a:p>
          <a:p>
            <a:pPr marL="0" indent="0">
              <a:lnSpc>
                <a:spcPct val="120000"/>
              </a:lnSpc>
              <a:spcBef>
                <a:spcPts val="400"/>
              </a:spcBef>
              <a:spcAft>
                <a:spcPts val="400"/>
              </a:spcAft>
              <a:buNone/>
            </a:pPr>
            <a:endParaRPr lang="en-US" sz="2200" dirty="0">
              <a:solidFill>
                <a:schemeClr val="tx1"/>
              </a:solidFill>
              <a:latin typeface="+mn-lt"/>
            </a:endParaRPr>
          </a:p>
        </p:txBody>
      </p:sp>
    </p:spTree>
    <p:extLst>
      <p:ext uri="{BB962C8B-B14F-4D97-AF65-F5344CB8AC3E}">
        <p14:creationId xmlns:p14="http://schemas.microsoft.com/office/powerpoint/2010/main" val="8868242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8D66501-57B5-1F31-46D1-CDA10355B30C}"/>
              </a:ext>
            </a:extLst>
          </p:cNvPr>
          <p:cNvSpPr>
            <a:spLocks noGrp="1"/>
          </p:cNvSpPr>
          <p:nvPr>
            <p:ph type="title"/>
          </p:nvPr>
        </p:nvSpPr>
        <p:spPr/>
        <p:txBody>
          <a:bodyPr/>
          <a:lstStyle/>
          <a:p>
            <a:r>
              <a:rPr lang="en-US" dirty="0" err="1"/>
              <a:t>Cont</a:t>
            </a:r>
            <a:r>
              <a:rPr lang="en-US" dirty="0"/>
              <a:t>…</a:t>
            </a:r>
          </a:p>
        </p:txBody>
      </p:sp>
      <p:sp>
        <p:nvSpPr>
          <p:cNvPr id="3" name="Content Placeholder 2">
            <a:extLst>
              <a:ext uri="{FF2B5EF4-FFF2-40B4-BE49-F238E27FC236}">
                <a16:creationId xmlns:a16="http://schemas.microsoft.com/office/drawing/2014/main" xmlns="" id="{2DF00069-537E-B98A-4AE8-1B4BF4DE677A}"/>
              </a:ext>
            </a:extLst>
          </p:cNvPr>
          <p:cNvSpPr>
            <a:spLocks noGrp="1"/>
          </p:cNvSpPr>
          <p:nvPr>
            <p:ph idx="1"/>
          </p:nvPr>
        </p:nvSpPr>
        <p:spPr>
          <a:xfrm>
            <a:off x="678883" y="1497789"/>
            <a:ext cx="10834234" cy="4398066"/>
          </a:xfrm>
        </p:spPr>
        <p:txBody>
          <a:bodyPr vert="horz" lIns="91440" tIns="45720" rIns="91440" bIns="45720" rtlCol="0" anchor="t">
            <a:normAutofit fontScale="55000" lnSpcReduction="20000"/>
          </a:bodyPr>
          <a:lstStyle/>
          <a:p>
            <a:pPr marL="0" indent="0">
              <a:lnSpc>
                <a:spcPct val="120000"/>
              </a:lnSpc>
              <a:spcBef>
                <a:spcPts val="400"/>
              </a:spcBef>
              <a:spcAft>
                <a:spcPts val="400"/>
              </a:spcAft>
              <a:buNone/>
            </a:pPr>
            <a:r>
              <a:rPr lang="en-US" sz="2800" b="1" dirty="0">
                <a:solidFill>
                  <a:schemeClr val="tx1"/>
                </a:solidFill>
                <a:latin typeface="+mn-lt"/>
              </a:rPr>
              <a:t>How to use Google </a:t>
            </a:r>
            <a:r>
              <a:rPr lang="en-US" dirty="0">
                <a:solidFill>
                  <a:schemeClr val="tx1"/>
                </a:solidFill>
                <a:latin typeface="+mn-lt"/>
              </a:rPr>
              <a:t>Gemini</a:t>
            </a:r>
            <a:r>
              <a:rPr lang="en-US" sz="2800" b="1" dirty="0">
                <a:solidFill>
                  <a:schemeClr val="tx1"/>
                </a:solidFill>
                <a:latin typeface="+mn-lt"/>
              </a:rPr>
              <a:t>:</a:t>
            </a:r>
          </a:p>
          <a:p>
            <a:pPr marL="0" indent="0">
              <a:buNone/>
            </a:pPr>
            <a:r>
              <a:rPr lang="en-US" sz="2800" dirty="0">
                <a:solidFill>
                  <a:schemeClr val="tx1"/>
                </a:solidFill>
                <a:latin typeface="+mn-lt"/>
              </a:rPr>
              <a:t>Check the YouTube video” </a:t>
            </a:r>
            <a:r>
              <a:rPr lang="en-US" b="1" i="0" dirty="0">
                <a:solidFill>
                  <a:srgbClr val="0F0F0F"/>
                </a:solidFill>
                <a:effectLst/>
                <a:latin typeface="YouTube Sans"/>
              </a:rPr>
              <a:t>How to USE Google </a:t>
            </a:r>
            <a:r>
              <a:rPr lang="en-US" b="1" dirty="0">
                <a:solidFill>
                  <a:srgbClr val="0F0F0F"/>
                </a:solidFill>
                <a:latin typeface="YouTube Sans"/>
              </a:rPr>
              <a:t>Gemini AI</a:t>
            </a:r>
            <a:r>
              <a:rPr lang="en-US" b="1" i="0" dirty="0">
                <a:solidFill>
                  <a:srgbClr val="0F0F0F"/>
                </a:solidFill>
                <a:effectLst/>
                <a:latin typeface="YouTube Sans"/>
              </a:rPr>
              <a:t> Chatbot (In 2 Mins!)</a:t>
            </a:r>
            <a:endParaRPr lang="en-US" sz="2800" dirty="0">
              <a:solidFill>
                <a:schemeClr val="tx1"/>
              </a:solidFill>
              <a:latin typeface="+mn-lt"/>
            </a:endParaRPr>
          </a:p>
          <a:p>
            <a:pPr>
              <a:buNone/>
            </a:pPr>
            <a:r>
              <a:rPr lang="en-US" sz="3300" dirty="0">
                <a:solidFill>
                  <a:schemeClr val="tx1"/>
                </a:solidFill>
                <a:latin typeface="+mn-lt"/>
                <a:cs typeface="Calibri"/>
                <a:hlinkClick r:id="rId2">
                  <a:extLst>
                    <a:ext uri="{A12FA001-AC4F-418D-AE19-62706E023703}">
                      <ahyp:hlinkClr xmlns:ahyp="http://schemas.microsoft.com/office/drawing/2018/hyperlinkcolor" xmlns="" val="tx"/>
                    </a:ext>
                  </a:extLst>
                </a:hlinkClick>
              </a:rPr>
              <a:t>https://www.youtube.com/watch?v=cTYRwJSOP8U</a:t>
            </a:r>
            <a:endParaRPr lang="en-US" sz="3300">
              <a:solidFill>
                <a:schemeClr val="tx1"/>
              </a:solidFill>
              <a:latin typeface="+mn-lt"/>
              <a:cs typeface="Calibri"/>
            </a:endParaRPr>
          </a:p>
          <a:p>
            <a:pPr marL="0" indent="0">
              <a:lnSpc>
                <a:spcPct val="120000"/>
              </a:lnSpc>
              <a:spcBef>
                <a:spcPts val="400"/>
              </a:spcBef>
              <a:spcAft>
                <a:spcPts val="400"/>
              </a:spcAft>
              <a:buNone/>
            </a:pPr>
            <a:endParaRPr lang="en-US" dirty="0">
              <a:solidFill>
                <a:schemeClr val="tx1"/>
              </a:solidFill>
              <a:latin typeface="+mn-lt"/>
              <a:cs typeface="Calibri"/>
            </a:endParaRPr>
          </a:p>
          <a:p>
            <a:pPr marL="0" indent="0">
              <a:lnSpc>
                <a:spcPct val="120000"/>
              </a:lnSpc>
              <a:spcBef>
                <a:spcPts val="400"/>
              </a:spcBef>
              <a:spcAft>
                <a:spcPts val="400"/>
              </a:spcAft>
              <a:buNone/>
            </a:pPr>
            <a:r>
              <a:rPr lang="en-US" sz="2800" b="1" dirty="0">
                <a:solidFill>
                  <a:schemeClr val="tx1"/>
                </a:solidFill>
                <a:latin typeface="+mn-lt"/>
              </a:rPr>
              <a:t>1. Visit the </a:t>
            </a:r>
            <a:r>
              <a:rPr lang="en-US" b="1" dirty="0">
                <a:solidFill>
                  <a:schemeClr val="tx1"/>
                </a:solidFill>
                <a:latin typeface="+mn-lt"/>
              </a:rPr>
              <a:t>Gemini </a:t>
            </a:r>
            <a:r>
              <a:rPr lang="en-US" sz="2800" b="1" dirty="0">
                <a:solidFill>
                  <a:schemeClr val="tx1"/>
                </a:solidFill>
                <a:latin typeface="+mn-lt"/>
              </a:rPr>
              <a:t>website and register your account.</a:t>
            </a:r>
            <a:r>
              <a:rPr lang="en-US" b="1" dirty="0">
                <a:solidFill>
                  <a:schemeClr val="tx1"/>
                </a:solidFill>
                <a:latin typeface="+mn-lt"/>
              </a:rPr>
              <a:t> </a:t>
            </a:r>
            <a:endParaRPr lang="en-US" sz="2800" b="1" dirty="0">
              <a:solidFill>
                <a:schemeClr val="tx1"/>
              </a:solidFill>
              <a:latin typeface="+mn-lt"/>
              <a:cs typeface="Calibri"/>
            </a:endParaRPr>
          </a:p>
          <a:p>
            <a:pPr marL="0" indent="0">
              <a:lnSpc>
                <a:spcPct val="120000"/>
              </a:lnSpc>
              <a:spcBef>
                <a:spcPts val="400"/>
              </a:spcBef>
              <a:spcAft>
                <a:spcPts val="400"/>
              </a:spcAft>
              <a:buNone/>
            </a:pPr>
            <a:r>
              <a:rPr lang="en-US" dirty="0">
                <a:solidFill>
                  <a:schemeClr val="tx1"/>
                </a:solidFill>
                <a:latin typeface="+mn-lt"/>
                <a:cs typeface="Calibri"/>
                <a:hlinkClick r:id="rId3">
                  <a:extLst>
                    <a:ext uri="{A12FA001-AC4F-418D-AE19-62706E023703}">
                      <ahyp:hlinkClr xmlns:ahyp="http://schemas.microsoft.com/office/drawing/2018/hyperlinkcolor" xmlns="" val="tx"/>
                    </a:ext>
                  </a:extLst>
                </a:hlinkClick>
              </a:rPr>
              <a:t>https://gemini.google.com/</a:t>
            </a:r>
            <a:endParaRPr lang="en-US">
              <a:solidFill>
                <a:srgbClr val="181717"/>
              </a:solidFill>
              <a:cs typeface="Calibri" panose="020F0502020204030204" pitchFamily="34" charset="0"/>
            </a:endParaRPr>
          </a:p>
          <a:p>
            <a:pPr marL="0" indent="0">
              <a:lnSpc>
                <a:spcPct val="120000"/>
              </a:lnSpc>
              <a:spcBef>
                <a:spcPts val="400"/>
              </a:spcBef>
              <a:spcAft>
                <a:spcPts val="400"/>
              </a:spcAft>
              <a:buNone/>
            </a:pPr>
            <a:endParaRPr lang="en-US" dirty="0">
              <a:solidFill>
                <a:schemeClr val="tx1"/>
              </a:solidFill>
              <a:latin typeface="+mn-lt"/>
              <a:cs typeface="Calibri"/>
            </a:endParaRPr>
          </a:p>
          <a:p>
            <a:pPr marL="0" indent="0">
              <a:lnSpc>
                <a:spcPct val="120000"/>
              </a:lnSpc>
              <a:spcBef>
                <a:spcPts val="400"/>
              </a:spcBef>
              <a:spcAft>
                <a:spcPts val="400"/>
              </a:spcAft>
              <a:buNone/>
            </a:pPr>
            <a:r>
              <a:rPr lang="en-US" sz="2800" b="1" dirty="0">
                <a:solidFill>
                  <a:schemeClr val="tx1"/>
                </a:solidFill>
                <a:latin typeface="+mn-lt"/>
              </a:rPr>
              <a:t>2. Type your question or request.</a:t>
            </a:r>
          </a:p>
          <a:p>
            <a:pPr marL="0" indent="0">
              <a:lnSpc>
                <a:spcPct val="120000"/>
              </a:lnSpc>
              <a:spcBef>
                <a:spcPts val="400"/>
              </a:spcBef>
              <a:spcAft>
                <a:spcPts val="400"/>
              </a:spcAft>
              <a:buNone/>
            </a:pPr>
            <a:r>
              <a:rPr lang="en-US" dirty="0">
                <a:solidFill>
                  <a:schemeClr val="tx1"/>
                </a:solidFill>
                <a:latin typeface="+mn-lt"/>
              </a:rPr>
              <a:t>Gemini </a:t>
            </a:r>
            <a:r>
              <a:rPr lang="en-US" sz="2800" dirty="0">
                <a:solidFill>
                  <a:schemeClr val="tx1"/>
                </a:solidFill>
                <a:latin typeface="+mn-lt"/>
              </a:rPr>
              <a:t>will generate a response based on its understanding of your query.</a:t>
            </a:r>
            <a:endParaRPr lang="en-US" dirty="0">
              <a:solidFill>
                <a:schemeClr val="tx1"/>
              </a:solidFill>
            </a:endParaRPr>
          </a:p>
          <a:p>
            <a:pPr marL="0" indent="0">
              <a:lnSpc>
                <a:spcPct val="120000"/>
              </a:lnSpc>
              <a:spcBef>
                <a:spcPts val="400"/>
              </a:spcBef>
              <a:spcAft>
                <a:spcPts val="400"/>
              </a:spcAft>
              <a:buNone/>
            </a:pPr>
            <a:r>
              <a:rPr lang="en-US" sz="2800" dirty="0">
                <a:solidFill>
                  <a:schemeClr val="tx1"/>
                </a:solidFill>
                <a:latin typeface="+mn-lt"/>
              </a:rPr>
              <a:t>In short:</a:t>
            </a:r>
          </a:p>
          <a:p>
            <a:pPr marL="0" indent="0">
              <a:lnSpc>
                <a:spcPct val="120000"/>
              </a:lnSpc>
              <a:spcBef>
                <a:spcPts val="400"/>
              </a:spcBef>
              <a:spcAft>
                <a:spcPts val="400"/>
              </a:spcAft>
              <a:buNone/>
            </a:pPr>
            <a:r>
              <a:rPr lang="en-US" sz="2800" dirty="0">
                <a:solidFill>
                  <a:schemeClr val="tx1"/>
                </a:solidFill>
                <a:latin typeface="+mn-lt"/>
              </a:rPr>
              <a:t>Google </a:t>
            </a:r>
            <a:r>
              <a:rPr lang="en-US" sz="2900" dirty="0">
                <a:solidFill>
                  <a:schemeClr val="tx1"/>
                </a:solidFill>
                <a:latin typeface="+mn-lt"/>
              </a:rPr>
              <a:t>Gemini </a:t>
            </a:r>
            <a:r>
              <a:rPr lang="en-US" sz="2800" dirty="0">
                <a:solidFill>
                  <a:schemeClr val="tx1"/>
                </a:solidFill>
                <a:latin typeface="+mn-lt"/>
              </a:rPr>
              <a:t>is a powerful and versatile AI tool that can be used for various purposes. It's still under development, but it already has a lot to offer, making it a valuable tool for anyone who wants to explore the possibilities of AI.</a:t>
            </a:r>
            <a:endParaRPr lang="en-US" sz="2800" dirty="0">
              <a:solidFill>
                <a:schemeClr val="tx1"/>
              </a:solidFill>
              <a:latin typeface="+mn-lt"/>
              <a:cs typeface="Calibri"/>
            </a:endParaRPr>
          </a:p>
          <a:p>
            <a:endParaRPr lang="en-US" dirty="0"/>
          </a:p>
        </p:txBody>
      </p:sp>
    </p:spTree>
    <p:extLst>
      <p:ext uri="{BB962C8B-B14F-4D97-AF65-F5344CB8AC3E}">
        <p14:creationId xmlns:p14="http://schemas.microsoft.com/office/powerpoint/2010/main" val="10762704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4D95D31-3C2F-3EED-3965-D46CBBFD2C2D}"/>
              </a:ext>
            </a:extLst>
          </p:cNvPr>
          <p:cNvSpPr>
            <a:spLocks noGrp="1"/>
          </p:cNvSpPr>
          <p:nvPr>
            <p:ph type="title"/>
          </p:nvPr>
        </p:nvSpPr>
        <p:spPr/>
        <p:txBody>
          <a:bodyPr>
            <a:normAutofit/>
          </a:bodyPr>
          <a:lstStyle/>
          <a:p>
            <a:r>
              <a:rPr lang="en-US" dirty="0">
                <a:latin typeface="Times New Roman"/>
                <a:cs typeface="Times New Roman"/>
              </a:rPr>
              <a:t>ChatGPT GPT Vs Gemini :</a:t>
            </a:r>
          </a:p>
        </p:txBody>
      </p:sp>
      <p:graphicFrame>
        <p:nvGraphicFramePr>
          <p:cNvPr id="7" name="Content Placeholder 6">
            <a:extLst>
              <a:ext uri="{FF2B5EF4-FFF2-40B4-BE49-F238E27FC236}">
                <a16:creationId xmlns:a16="http://schemas.microsoft.com/office/drawing/2014/main" xmlns="" id="{8DAF775A-12D4-EE94-3CFA-0E57C48101C6}"/>
              </a:ext>
            </a:extLst>
          </p:cNvPr>
          <p:cNvGraphicFramePr>
            <a:graphicFrameLocks noGrp="1"/>
          </p:cNvGraphicFramePr>
          <p:nvPr>
            <p:ph idx="1"/>
            <p:extLst>
              <p:ext uri="{D42A27DB-BD31-4B8C-83A1-F6EECF244321}">
                <p14:modId xmlns:p14="http://schemas.microsoft.com/office/powerpoint/2010/main" val="4088820523"/>
              </p:ext>
            </p:extLst>
          </p:nvPr>
        </p:nvGraphicFramePr>
        <p:xfrm>
          <a:off x="874009" y="2265455"/>
          <a:ext cx="9772650" cy="2697480"/>
        </p:xfrm>
        <a:graphic>
          <a:graphicData uri="http://schemas.openxmlformats.org/drawingml/2006/table">
            <a:tbl>
              <a:tblPr/>
              <a:tblGrid>
                <a:gridCol w="1657350">
                  <a:extLst>
                    <a:ext uri="{9D8B030D-6E8A-4147-A177-3AD203B41FA5}">
                      <a16:colId xmlns:a16="http://schemas.microsoft.com/office/drawing/2014/main" xmlns="" val="3188694204"/>
                    </a:ext>
                  </a:extLst>
                </a:gridCol>
                <a:gridCol w="4352925">
                  <a:extLst>
                    <a:ext uri="{9D8B030D-6E8A-4147-A177-3AD203B41FA5}">
                      <a16:colId xmlns:a16="http://schemas.microsoft.com/office/drawing/2014/main" xmlns="" val="2389065892"/>
                    </a:ext>
                  </a:extLst>
                </a:gridCol>
                <a:gridCol w="3762375">
                  <a:extLst>
                    <a:ext uri="{9D8B030D-6E8A-4147-A177-3AD203B41FA5}">
                      <a16:colId xmlns:a16="http://schemas.microsoft.com/office/drawing/2014/main" xmlns="" val="3546415271"/>
                    </a:ext>
                  </a:extLst>
                </a:gridCol>
              </a:tblGrid>
              <a:tr h="200025">
                <a:tc>
                  <a:txBody>
                    <a:bodyPr/>
                    <a:lstStyle/>
                    <a:p>
                      <a:pPr rtl="0" fontAlgn="b"/>
                      <a:r>
                        <a:rPr lang="en-US" b="1" dirty="0">
                          <a:effectLst/>
                        </a:rPr>
                        <a:t>Feature</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r>
                        <a:rPr lang="en-US" b="1" dirty="0">
                          <a:effectLst/>
                        </a:rPr>
                        <a:t>Bard</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r>
                        <a:rPr lang="en-US" b="1" dirty="0">
                          <a:effectLst/>
                        </a:rPr>
                        <a:t>ChatGPT</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xmlns="" val="677725889"/>
                  </a:ext>
                </a:extLst>
              </a:tr>
              <a:tr h="200025">
                <a:tc>
                  <a:txBody>
                    <a:bodyPr/>
                    <a:lstStyle/>
                    <a:p>
                      <a:pPr rtl="0" fontAlgn="b"/>
                      <a:r>
                        <a:rPr lang="en-US" dirty="0">
                          <a:effectLst/>
                        </a:rPr>
                        <a:t>Developer</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r>
                        <a:rPr lang="en-US" dirty="0">
                          <a:effectLst/>
                        </a:rPr>
                        <a:t>Google </a:t>
                      </a:r>
                      <a:r>
                        <a:rPr lang="en-US" sz="1800" b="0" i="0" u="none" strike="noStrike" noProof="0" dirty="0">
                          <a:solidFill>
                            <a:schemeClr val="tx1"/>
                          </a:solidFill>
                          <a:effectLst/>
                          <a:latin typeface="Calibri"/>
                        </a:rPr>
                        <a:t>Gemini </a:t>
                      </a:r>
                      <a:endParaRPr lang="en-US" sz="1800" b="0" i="0" u="none" strike="noStrike" noProof="0">
                        <a:solidFill>
                          <a:schemeClr val="tx1"/>
                        </a:solidFill>
                        <a:effectLst/>
                        <a:latin typeface="Calibri"/>
                      </a:endParaRP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r>
                        <a:rPr lang="en-US" dirty="0">
                          <a:effectLst/>
                        </a:rPr>
                        <a:t>OpenAI</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xmlns="" val="557771604"/>
                  </a:ext>
                </a:extLst>
              </a:tr>
              <a:tr h="200025">
                <a:tc>
                  <a:txBody>
                    <a:bodyPr/>
                    <a:lstStyle/>
                    <a:p>
                      <a:pPr rtl="0" fontAlgn="b"/>
                      <a:r>
                        <a:rPr lang="en-US" dirty="0">
                          <a:effectLst/>
                        </a:rPr>
                        <a:t>Underlying Language Model</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r>
                        <a:rPr lang="en-US" dirty="0">
                          <a:effectLst/>
                        </a:rPr>
                        <a:t>Gemini</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r>
                        <a:rPr lang="en-US" dirty="0">
                          <a:effectLst/>
                        </a:rPr>
                        <a:t>GPT-3.5 and GPT-4</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xmlns="" val="677789949"/>
                  </a:ext>
                </a:extLst>
              </a:tr>
              <a:tr h="200025">
                <a:tc>
                  <a:txBody>
                    <a:bodyPr/>
                    <a:lstStyle/>
                    <a:p>
                      <a:pPr rtl="0" fontAlgn="b"/>
                      <a:r>
                        <a:rPr lang="en-US" dirty="0">
                          <a:effectLst/>
                        </a:rPr>
                        <a:t>Strengths</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r>
                        <a:rPr lang="en-US" dirty="0">
                          <a:effectLst/>
                        </a:rPr>
                        <a:t>Informative response, comprehensive answers, diverse creative text formats</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r>
                        <a:rPr lang="en-US" dirty="0">
                          <a:effectLst/>
                        </a:rPr>
                        <a:t>Engaging conversations, vision and Dalle 3 integration, voice chat</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xmlns="" val="2874364220"/>
                  </a:ext>
                </a:extLst>
              </a:tr>
              <a:tr h="200025">
                <a:tc>
                  <a:txBody>
                    <a:bodyPr/>
                    <a:lstStyle/>
                    <a:p>
                      <a:pPr rtl="0" fontAlgn="b"/>
                      <a:r>
                        <a:rPr lang="en-US" dirty="0">
                          <a:effectLst/>
                        </a:rPr>
                        <a:t>Free Version</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r>
                        <a:rPr lang="en-US" dirty="0">
                          <a:effectLst/>
                        </a:rPr>
                        <a:t>Yes</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r>
                        <a:rPr lang="en-US" dirty="0">
                          <a:effectLst/>
                        </a:rPr>
                        <a:t>Yes</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xmlns="" val="2001027931"/>
                  </a:ext>
                </a:extLst>
              </a:tr>
              <a:tr h="200025">
                <a:tc>
                  <a:txBody>
                    <a:bodyPr/>
                    <a:lstStyle/>
                    <a:p>
                      <a:pPr rtl="0" fontAlgn="b"/>
                      <a:r>
                        <a:rPr lang="en-US" dirty="0">
                          <a:effectLst/>
                        </a:rPr>
                        <a:t>Paid Version</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r>
                        <a:rPr lang="en-US" dirty="0">
                          <a:effectLst/>
                        </a:rPr>
                        <a:t>Not available</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b"/>
                      <a:r>
                        <a:rPr lang="en-US" dirty="0">
                          <a:effectLst/>
                        </a:rPr>
                        <a:t>Offers additional features and functionalities</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xmlns="" val="2986394939"/>
                  </a:ext>
                </a:extLst>
              </a:tr>
            </a:tbl>
          </a:graphicData>
        </a:graphic>
      </p:graphicFrame>
      <p:sp>
        <p:nvSpPr>
          <p:cNvPr id="9" name="TextBox 8">
            <a:extLst>
              <a:ext uri="{FF2B5EF4-FFF2-40B4-BE49-F238E27FC236}">
                <a16:creationId xmlns:a16="http://schemas.microsoft.com/office/drawing/2014/main" xmlns="" id="{97DDA413-3C04-06A7-1A3B-CC6D93F0F622}"/>
              </a:ext>
            </a:extLst>
          </p:cNvPr>
          <p:cNvSpPr txBox="1"/>
          <p:nvPr/>
        </p:nvSpPr>
        <p:spPr>
          <a:xfrm>
            <a:off x="781412" y="1556033"/>
            <a:ext cx="9772650" cy="555024"/>
          </a:xfrm>
          <a:prstGeom prst="rect">
            <a:avLst/>
          </a:prstGeom>
          <a:noFill/>
        </p:spPr>
        <p:txBody>
          <a:bodyPr wrap="square">
            <a:spAutoFit/>
          </a:bodyPr>
          <a:lstStyle/>
          <a:p>
            <a:pPr marL="0" marR="0">
              <a:lnSpc>
                <a:spcPts val="1800"/>
              </a:lnSpc>
              <a:spcBef>
                <a:spcPts val="0"/>
              </a:spcBef>
              <a:spcAft>
                <a:spcPts val="0"/>
              </a:spcAft>
            </a:pPr>
            <a:r>
              <a:rPr lang="en-US" sz="1800" kern="0" dirty="0">
                <a:solidFill>
                  <a:srgbClr val="1F1F1F"/>
                </a:solidFill>
                <a:effectLst/>
                <a:latin typeface="Helvetica Neue" panose="02000503000000020004" pitchFamily="2" charset="0"/>
                <a:ea typeface="Times New Roman" panose="02020603050405020304" pitchFamily="18" charset="0"/>
                <a:cs typeface="Times New Roman" panose="02020603050405020304" pitchFamily="18" charset="0"/>
              </a:rPr>
              <a:t>Both Bard and </a:t>
            </a:r>
            <a:r>
              <a:rPr lang="en-US" sz="1800" kern="0" dirty="0" err="1">
                <a:solidFill>
                  <a:srgbClr val="1F1F1F"/>
                </a:solidFill>
                <a:effectLst/>
                <a:latin typeface="Helvetica Neue" panose="02000503000000020004" pitchFamily="2" charset="0"/>
                <a:ea typeface="Times New Roman" panose="02020603050405020304" pitchFamily="18" charset="0"/>
                <a:cs typeface="Times New Roman" panose="02020603050405020304" pitchFamily="18" charset="0"/>
              </a:rPr>
              <a:t>ChatGPT</a:t>
            </a:r>
            <a:r>
              <a:rPr lang="en-US" sz="1800" kern="0" dirty="0">
                <a:solidFill>
                  <a:srgbClr val="1F1F1F"/>
                </a:solidFill>
                <a:effectLst/>
                <a:latin typeface="Helvetica Neue" panose="02000503000000020004" pitchFamily="2" charset="0"/>
                <a:ea typeface="Times New Roman" panose="02020603050405020304" pitchFamily="18" charset="0"/>
                <a:cs typeface="Times New Roman" panose="02020603050405020304" pitchFamily="18" charset="0"/>
              </a:rPr>
              <a:t> are powerful conversational AI tools, but they have some key differences: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8186239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7" name="Group 66">
            <a:extLst>
              <a:ext uri="{FF2B5EF4-FFF2-40B4-BE49-F238E27FC236}">
                <a16:creationId xmlns:a16="http://schemas.microsoft.com/office/drawing/2014/main" xmlns="" id="{DEEDEAC6-3077-4834-9AA2-B5BBDA882775}"/>
              </a:ext>
            </a:extLst>
          </p:cNvPr>
          <p:cNvGrpSpPr/>
          <p:nvPr/>
        </p:nvGrpSpPr>
        <p:grpSpPr>
          <a:xfrm>
            <a:off x="612376" y="503311"/>
            <a:ext cx="10967248" cy="2030423"/>
            <a:chOff x="661075" y="1659835"/>
            <a:chExt cx="10967248" cy="2030423"/>
          </a:xfrm>
        </p:grpSpPr>
        <p:sp>
          <p:nvSpPr>
            <p:cNvPr id="68" name="Freeform 6">
              <a:extLst>
                <a:ext uri="{FF2B5EF4-FFF2-40B4-BE49-F238E27FC236}">
                  <a16:creationId xmlns:a16="http://schemas.microsoft.com/office/drawing/2014/main" xmlns="" id="{C760C121-45E7-46AE-9C4B-BEEAD71D6BA3}"/>
                </a:ext>
              </a:extLst>
            </p:cNvPr>
            <p:cNvSpPr>
              <a:spLocks/>
            </p:cNvSpPr>
            <p:nvPr/>
          </p:nvSpPr>
          <p:spPr bwMode="auto">
            <a:xfrm>
              <a:off x="776848" y="1680017"/>
              <a:ext cx="373861" cy="274869"/>
            </a:xfrm>
            <a:custGeom>
              <a:avLst/>
              <a:gdLst>
                <a:gd name="T0" fmla="*/ 81 w 162"/>
                <a:gd name="T1" fmla="*/ 0 h 119"/>
                <a:gd name="T2" fmla="*/ 0 w 162"/>
                <a:gd name="T3" fmla="*/ 119 h 119"/>
                <a:gd name="T4" fmla="*/ 162 w 162"/>
                <a:gd name="T5" fmla="*/ 119 h 119"/>
                <a:gd name="T6" fmla="*/ 81 w 162"/>
                <a:gd name="T7" fmla="*/ 0 h 119"/>
              </a:gdLst>
              <a:ahLst/>
              <a:cxnLst>
                <a:cxn ang="0">
                  <a:pos x="T0" y="T1"/>
                </a:cxn>
                <a:cxn ang="0">
                  <a:pos x="T2" y="T3"/>
                </a:cxn>
                <a:cxn ang="0">
                  <a:pos x="T4" y="T5"/>
                </a:cxn>
                <a:cxn ang="0">
                  <a:pos x="T6" y="T7"/>
                </a:cxn>
              </a:cxnLst>
              <a:rect l="0" t="0" r="r" b="b"/>
              <a:pathLst>
                <a:path w="162" h="119">
                  <a:moveTo>
                    <a:pt x="81" y="0"/>
                  </a:moveTo>
                  <a:cubicBezTo>
                    <a:pt x="34" y="18"/>
                    <a:pt x="0" y="65"/>
                    <a:pt x="0" y="119"/>
                  </a:cubicBezTo>
                  <a:cubicBezTo>
                    <a:pt x="162" y="119"/>
                    <a:pt x="162" y="119"/>
                    <a:pt x="162" y="119"/>
                  </a:cubicBezTo>
                  <a:cubicBezTo>
                    <a:pt x="162" y="65"/>
                    <a:pt x="129" y="19"/>
                    <a:pt x="81" y="0"/>
                  </a:cubicBez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ru-RU"/>
            </a:p>
          </p:txBody>
        </p:sp>
        <p:sp>
          <p:nvSpPr>
            <p:cNvPr id="69" name="Rectangle: Rounded Corners 68">
              <a:extLst>
                <a:ext uri="{FF2B5EF4-FFF2-40B4-BE49-F238E27FC236}">
                  <a16:creationId xmlns:a16="http://schemas.microsoft.com/office/drawing/2014/main" xmlns="" id="{65C22E47-6E17-474C-B286-A10F50BF45DB}"/>
                </a:ext>
              </a:extLst>
            </p:cNvPr>
            <p:cNvSpPr/>
            <p:nvPr/>
          </p:nvSpPr>
          <p:spPr>
            <a:xfrm>
              <a:off x="776848" y="1953670"/>
              <a:ext cx="10851475" cy="567664"/>
            </a:xfrm>
            <a:prstGeom prst="roundRect">
              <a:avLst>
                <a:gd name="adj" fmla="val 9723"/>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404000" rtlCol="0" anchor="ctr"/>
            <a:lstStyle/>
            <a:p>
              <a:r>
                <a:rPr lang="en-US" sz="2200" b="1" dirty="0">
                  <a:solidFill>
                    <a:schemeClr val="tx1"/>
                  </a:solidFill>
                  <a:effectLst/>
                  <a:latin typeface="Times New Roman" panose="02020603050405020304" pitchFamily="18" charset="0"/>
                  <a:ea typeface="Calibri" panose="020F0502020204030204" pitchFamily="34" charset="0"/>
                </a:rPr>
                <a:t>Text-to-Image Models</a:t>
              </a:r>
              <a:endParaRPr lang="en-IN" sz="2200" b="1" dirty="0">
                <a:solidFill>
                  <a:schemeClr val="tx1"/>
                </a:solidFill>
                <a:latin typeface="Calibri" panose="020F0502020204030204" pitchFamily="34" charset="0"/>
              </a:endParaRPr>
            </a:p>
          </p:txBody>
        </p:sp>
        <p:sp>
          <p:nvSpPr>
            <p:cNvPr id="70" name="Content Placeholder 2">
              <a:extLst>
                <a:ext uri="{FF2B5EF4-FFF2-40B4-BE49-F238E27FC236}">
                  <a16:creationId xmlns:a16="http://schemas.microsoft.com/office/drawing/2014/main" xmlns="" id="{7FF21849-F54A-48A1-9EBB-8E3F4803C6C0}"/>
                </a:ext>
              </a:extLst>
            </p:cNvPr>
            <p:cNvSpPr txBox="1">
              <a:spLocks/>
            </p:cNvSpPr>
            <p:nvPr/>
          </p:nvSpPr>
          <p:spPr>
            <a:xfrm>
              <a:off x="661075" y="2814219"/>
              <a:ext cx="10834234" cy="876039"/>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Nunito"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Nunito"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Nunito"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400"/>
                </a:spcBef>
                <a:spcAft>
                  <a:spcPts val="400"/>
                </a:spcAft>
                <a:buNone/>
              </a:pPr>
              <a:r>
                <a:rPr lang="en-US" sz="2200" dirty="0">
                  <a:latin typeface="+mn-lt"/>
                </a:rPr>
                <a:t>Text-to-image models can do a lot of stuff. They help folks in graphic design and ads by turning the prompts given by users in the form of text into pictures. One could just describe an image in his mind and AI will create it. Some of its practical applications are as follows:</a:t>
              </a:r>
            </a:p>
          </p:txBody>
        </p:sp>
        <p:sp>
          <p:nvSpPr>
            <p:cNvPr id="71" name="Freeform 7">
              <a:extLst>
                <a:ext uri="{FF2B5EF4-FFF2-40B4-BE49-F238E27FC236}">
                  <a16:creationId xmlns:a16="http://schemas.microsoft.com/office/drawing/2014/main" xmlns="" id="{4926A8EB-0167-411D-9A69-DE6FAE9B7E85}"/>
                </a:ext>
              </a:extLst>
            </p:cNvPr>
            <p:cNvSpPr>
              <a:spLocks/>
            </p:cNvSpPr>
            <p:nvPr/>
          </p:nvSpPr>
          <p:spPr bwMode="auto">
            <a:xfrm>
              <a:off x="871995" y="1659835"/>
              <a:ext cx="1061994" cy="1111971"/>
            </a:xfrm>
            <a:custGeom>
              <a:avLst/>
              <a:gdLst>
                <a:gd name="T0" fmla="*/ 332 w 461"/>
                <a:gd name="T1" fmla="*/ 0 h 482"/>
                <a:gd name="T2" fmla="*/ 88 w 461"/>
                <a:gd name="T3" fmla="*/ 0 h 482"/>
                <a:gd name="T4" fmla="*/ 40 w 461"/>
                <a:gd name="T5" fmla="*/ 9 h 482"/>
                <a:gd name="T6" fmla="*/ 0 w 461"/>
                <a:gd name="T7" fmla="*/ 35 h 482"/>
                <a:gd name="T8" fmla="*/ 81 w 461"/>
                <a:gd name="T9" fmla="*/ 35 h 482"/>
                <a:gd name="T10" fmla="*/ 121 w 461"/>
                <a:gd name="T11" fmla="*/ 128 h 482"/>
                <a:gd name="T12" fmla="*/ 121 w 461"/>
                <a:gd name="T13" fmla="*/ 311 h 482"/>
                <a:gd name="T14" fmla="*/ 121 w 461"/>
                <a:gd name="T15" fmla="*/ 312 h 482"/>
                <a:gd name="T16" fmla="*/ 291 w 461"/>
                <a:gd name="T17" fmla="*/ 482 h 482"/>
                <a:gd name="T18" fmla="*/ 461 w 461"/>
                <a:gd name="T19" fmla="*/ 312 h 482"/>
                <a:gd name="T20" fmla="*/ 461 w 461"/>
                <a:gd name="T21" fmla="*/ 312 h 482"/>
                <a:gd name="T22" fmla="*/ 461 w 461"/>
                <a:gd name="T23" fmla="*/ 128 h 482"/>
                <a:gd name="T24" fmla="*/ 332 w 461"/>
                <a:gd name="T25" fmla="*/ 0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 h="482">
                  <a:moveTo>
                    <a:pt x="332" y="0"/>
                  </a:moveTo>
                  <a:cubicBezTo>
                    <a:pt x="88" y="0"/>
                    <a:pt x="88" y="0"/>
                    <a:pt x="88" y="0"/>
                  </a:cubicBezTo>
                  <a:cubicBezTo>
                    <a:pt x="71" y="0"/>
                    <a:pt x="55" y="3"/>
                    <a:pt x="40" y="9"/>
                  </a:cubicBezTo>
                  <a:cubicBezTo>
                    <a:pt x="25" y="15"/>
                    <a:pt x="11" y="24"/>
                    <a:pt x="0" y="35"/>
                  </a:cubicBezTo>
                  <a:cubicBezTo>
                    <a:pt x="22" y="13"/>
                    <a:pt x="58" y="13"/>
                    <a:pt x="81" y="35"/>
                  </a:cubicBezTo>
                  <a:cubicBezTo>
                    <a:pt x="106" y="58"/>
                    <a:pt x="121" y="91"/>
                    <a:pt x="121" y="128"/>
                  </a:cubicBezTo>
                  <a:cubicBezTo>
                    <a:pt x="121" y="311"/>
                    <a:pt x="121" y="311"/>
                    <a:pt x="121" y="311"/>
                  </a:cubicBezTo>
                  <a:cubicBezTo>
                    <a:pt x="121" y="311"/>
                    <a:pt x="121" y="311"/>
                    <a:pt x="121" y="312"/>
                  </a:cubicBezTo>
                  <a:cubicBezTo>
                    <a:pt x="121" y="405"/>
                    <a:pt x="197" y="482"/>
                    <a:pt x="291" y="482"/>
                  </a:cubicBezTo>
                  <a:cubicBezTo>
                    <a:pt x="385" y="482"/>
                    <a:pt x="461" y="405"/>
                    <a:pt x="461" y="312"/>
                  </a:cubicBezTo>
                  <a:cubicBezTo>
                    <a:pt x="461" y="312"/>
                    <a:pt x="461" y="312"/>
                    <a:pt x="461" y="312"/>
                  </a:cubicBezTo>
                  <a:cubicBezTo>
                    <a:pt x="461" y="128"/>
                    <a:pt x="461" y="128"/>
                    <a:pt x="461" y="128"/>
                  </a:cubicBezTo>
                  <a:cubicBezTo>
                    <a:pt x="461" y="57"/>
                    <a:pt x="403" y="0"/>
                    <a:pt x="332"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ru-RU"/>
            </a:p>
          </p:txBody>
        </p:sp>
        <p:sp>
          <p:nvSpPr>
            <p:cNvPr id="72" name="Oval 8">
              <a:extLst>
                <a:ext uri="{FF2B5EF4-FFF2-40B4-BE49-F238E27FC236}">
                  <a16:creationId xmlns:a16="http://schemas.microsoft.com/office/drawing/2014/main" xmlns="" id="{29F26A10-655D-4C77-8BC6-1357AE315F51}"/>
                </a:ext>
              </a:extLst>
            </p:cNvPr>
            <p:cNvSpPr>
              <a:spLocks noChangeArrowheads="1"/>
            </p:cNvSpPr>
            <p:nvPr/>
          </p:nvSpPr>
          <p:spPr bwMode="auto">
            <a:xfrm>
              <a:off x="1215101" y="2051956"/>
              <a:ext cx="654496" cy="652574"/>
            </a:xfrm>
            <a:prstGeom prst="ellipse">
              <a:avLst/>
            </a:prstGeom>
            <a:solidFill>
              <a:schemeClr val="bg2"/>
            </a:solidFill>
            <a:ln>
              <a:noFill/>
            </a:ln>
          </p:spPr>
          <p:txBody>
            <a:bodyPr vert="horz" wrap="square" lIns="91440" tIns="45720" rIns="91440" bIns="45720" numCol="1" anchor="t" anchorCtr="0" compatLnSpc="1">
              <a:prstTxWarp prst="textNoShape">
                <a:avLst/>
              </a:prstTxWarp>
            </a:bodyPr>
            <a:lstStyle/>
            <a:p>
              <a:endParaRPr lang="ru-RU"/>
            </a:p>
          </p:txBody>
        </p:sp>
        <p:grpSp>
          <p:nvGrpSpPr>
            <p:cNvPr id="73" name="Shape 7784">
              <a:extLst>
                <a:ext uri="{FF2B5EF4-FFF2-40B4-BE49-F238E27FC236}">
                  <a16:creationId xmlns:a16="http://schemas.microsoft.com/office/drawing/2014/main" xmlns="" id="{9B0F71E6-9F79-4DAA-81E0-D556E51D2C53}"/>
                </a:ext>
              </a:extLst>
            </p:cNvPr>
            <p:cNvGrpSpPr/>
            <p:nvPr/>
          </p:nvGrpSpPr>
          <p:grpSpPr>
            <a:xfrm>
              <a:off x="1389773" y="2214880"/>
              <a:ext cx="330464" cy="352116"/>
              <a:chOff x="5538788" y="2417763"/>
              <a:chExt cx="557213" cy="593725"/>
            </a:xfrm>
            <a:solidFill>
              <a:schemeClr val="tx1"/>
            </a:solidFill>
          </p:grpSpPr>
          <p:sp>
            <p:nvSpPr>
              <p:cNvPr id="74" name="Shape 7785">
                <a:extLst>
                  <a:ext uri="{FF2B5EF4-FFF2-40B4-BE49-F238E27FC236}">
                    <a16:creationId xmlns:a16="http://schemas.microsoft.com/office/drawing/2014/main" xmlns="" id="{75055B75-EFCC-49B0-BD4A-8EEA344F24F3}"/>
                  </a:ext>
                </a:extLst>
              </p:cNvPr>
              <p:cNvSpPr/>
              <p:nvPr/>
            </p:nvSpPr>
            <p:spPr>
              <a:xfrm>
                <a:off x="5538788" y="2727325"/>
                <a:ext cx="188913" cy="284162"/>
              </a:xfrm>
              <a:custGeom>
                <a:avLst/>
                <a:gdLst/>
                <a:ahLst/>
                <a:cxnLst/>
                <a:rect l="0" t="0" r="0" b="0"/>
                <a:pathLst>
                  <a:path w="160" h="242" extrusionOk="0">
                    <a:moveTo>
                      <a:pt x="0" y="233"/>
                    </a:moveTo>
                    <a:cubicBezTo>
                      <a:pt x="0" y="238"/>
                      <a:pt x="4" y="242"/>
                      <a:pt x="9" y="242"/>
                    </a:cubicBezTo>
                    <a:cubicBezTo>
                      <a:pt x="151" y="242"/>
                      <a:pt x="151" y="242"/>
                      <a:pt x="151" y="242"/>
                    </a:cubicBezTo>
                    <a:cubicBezTo>
                      <a:pt x="156" y="242"/>
                      <a:pt x="160" y="238"/>
                      <a:pt x="160" y="233"/>
                    </a:cubicBezTo>
                    <a:cubicBezTo>
                      <a:pt x="160" y="0"/>
                      <a:pt x="160" y="0"/>
                      <a:pt x="160" y="0"/>
                    </a:cubicBezTo>
                    <a:cubicBezTo>
                      <a:pt x="0" y="0"/>
                      <a:pt x="0" y="0"/>
                      <a:pt x="0" y="0"/>
                    </a:cubicBezTo>
                    <a:lnTo>
                      <a:pt x="0" y="233"/>
                    </a:lnTo>
                    <a:close/>
                    <a:moveTo>
                      <a:pt x="80" y="227"/>
                    </a:moveTo>
                    <a:cubicBezTo>
                      <a:pt x="71" y="227"/>
                      <a:pt x="63" y="220"/>
                      <a:pt x="63" y="210"/>
                    </a:cubicBezTo>
                    <a:cubicBezTo>
                      <a:pt x="63" y="200"/>
                      <a:pt x="71" y="192"/>
                      <a:pt x="80" y="192"/>
                    </a:cubicBezTo>
                    <a:cubicBezTo>
                      <a:pt x="90" y="192"/>
                      <a:pt x="98" y="200"/>
                      <a:pt x="98" y="210"/>
                    </a:cubicBezTo>
                    <a:cubicBezTo>
                      <a:pt x="98" y="220"/>
                      <a:pt x="90" y="227"/>
                      <a:pt x="80" y="227"/>
                    </a:cubicBezTo>
                    <a:close/>
                    <a:moveTo>
                      <a:pt x="73" y="175"/>
                    </a:moveTo>
                    <a:cubicBezTo>
                      <a:pt x="73" y="171"/>
                      <a:pt x="76" y="167"/>
                      <a:pt x="80" y="167"/>
                    </a:cubicBezTo>
                    <a:cubicBezTo>
                      <a:pt x="85" y="167"/>
                      <a:pt x="88" y="171"/>
                      <a:pt x="88" y="175"/>
                    </a:cubicBezTo>
                    <a:cubicBezTo>
                      <a:pt x="88" y="179"/>
                      <a:pt x="85" y="183"/>
                      <a:pt x="80" y="183"/>
                    </a:cubicBezTo>
                    <a:cubicBezTo>
                      <a:pt x="76" y="183"/>
                      <a:pt x="73" y="179"/>
                      <a:pt x="73" y="175"/>
                    </a:cubicBezTo>
                    <a:close/>
                    <a:moveTo>
                      <a:pt x="29" y="12"/>
                    </a:moveTo>
                    <a:cubicBezTo>
                      <a:pt x="131" y="12"/>
                      <a:pt x="131" y="12"/>
                      <a:pt x="131" y="12"/>
                    </a:cubicBezTo>
                    <a:cubicBezTo>
                      <a:pt x="131" y="33"/>
                      <a:pt x="131" y="33"/>
                      <a:pt x="131" y="33"/>
                    </a:cubicBezTo>
                    <a:cubicBezTo>
                      <a:pt x="29" y="33"/>
                      <a:pt x="29" y="33"/>
                      <a:pt x="29" y="33"/>
                    </a:cubicBezTo>
                    <a:lnTo>
                      <a:pt x="29" y="12"/>
                    </a:lnTo>
                    <a:close/>
                    <a:moveTo>
                      <a:pt x="29" y="43"/>
                    </a:moveTo>
                    <a:cubicBezTo>
                      <a:pt x="131" y="43"/>
                      <a:pt x="131" y="43"/>
                      <a:pt x="131" y="43"/>
                    </a:cubicBezTo>
                    <a:cubicBezTo>
                      <a:pt x="131" y="64"/>
                      <a:pt x="131" y="64"/>
                      <a:pt x="131" y="64"/>
                    </a:cubicBezTo>
                    <a:cubicBezTo>
                      <a:pt x="29" y="64"/>
                      <a:pt x="29" y="64"/>
                      <a:pt x="29" y="64"/>
                    </a:cubicBezTo>
                    <a:lnTo>
                      <a:pt x="29" y="43"/>
                    </a:lnTo>
                    <a:close/>
                    <a:moveTo>
                      <a:pt x="29" y="73"/>
                    </a:moveTo>
                    <a:cubicBezTo>
                      <a:pt x="131" y="73"/>
                      <a:pt x="131" y="73"/>
                      <a:pt x="131" y="73"/>
                    </a:cubicBezTo>
                    <a:cubicBezTo>
                      <a:pt x="131" y="94"/>
                      <a:pt x="131" y="94"/>
                      <a:pt x="131" y="94"/>
                    </a:cubicBezTo>
                    <a:cubicBezTo>
                      <a:pt x="29" y="94"/>
                      <a:pt x="29" y="94"/>
                      <a:pt x="29" y="94"/>
                    </a:cubicBezTo>
                    <a:lnTo>
                      <a:pt x="29" y="73"/>
                    </a:lnTo>
                    <a:close/>
                    <a:moveTo>
                      <a:pt x="29" y="104"/>
                    </a:moveTo>
                    <a:cubicBezTo>
                      <a:pt x="131" y="104"/>
                      <a:pt x="131" y="104"/>
                      <a:pt x="131" y="104"/>
                    </a:cubicBezTo>
                    <a:cubicBezTo>
                      <a:pt x="131" y="125"/>
                      <a:pt x="131" y="125"/>
                      <a:pt x="131" y="125"/>
                    </a:cubicBezTo>
                    <a:cubicBezTo>
                      <a:pt x="29" y="125"/>
                      <a:pt x="29" y="125"/>
                      <a:pt x="29" y="125"/>
                    </a:cubicBezTo>
                    <a:lnTo>
                      <a:pt x="29" y="104"/>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75" name="Shape 7786">
                <a:extLst>
                  <a:ext uri="{FF2B5EF4-FFF2-40B4-BE49-F238E27FC236}">
                    <a16:creationId xmlns:a16="http://schemas.microsoft.com/office/drawing/2014/main" xmlns="" id="{4998B620-368B-443B-B055-86719F414404}"/>
                  </a:ext>
                </a:extLst>
              </p:cNvPr>
              <p:cNvSpPr/>
              <p:nvPr/>
            </p:nvSpPr>
            <p:spPr>
              <a:xfrm>
                <a:off x="5538788" y="2651125"/>
                <a:ext cx="188913" cy="63500"/>
              </a:xfrm>
              <a:custGeom>
                <a:avLst/>
                <a:gdLst/>
                <a:ahLst/>
                <a:cxnLst/>
                <a:rect l="0" t="0" r="0" b="0"/>
                <a:pathLst>
                  <a:path w="160" h="55" extrusionOk="0">
                    <a:moveTo>
                      <a:pt x="151" y="0"/>
                    </a:moveTo>
                    <a:cubicBezTo>
                      <a:pt x="9" y="0"/>
                      <a:pt x="9" y="0"/>
                      <a:pt x="9" y="0"/>
                    </a:cubicBezTo>
                    <a:cubicBezTo>
                      <a:pt x="4" y="0"/>
                      <a:pt x="0" y="4"/>
                      <a:pt x="0" y="9"/>
                    </a:cubicBezTo>
                    <a:cubicBezTo>
                      <a:pt x="0" y="55"/>
                      <a:pt x="0" y="55"/>
                      <a:pt x="0" y="55"/>
                    </a:cubicBezTo>
                    <a:cubicBezTo>
                      <a:pt x="160" y="55"/>
                      <a:pt x="160" y="55"/>
                      <a:pt x="160" y="55"/>
                    </a:cubicBezTo>
                    <a:cubicBezTo>
                      <a:pt x="160" y="9"/>
                      <a:pt x="160" y="9"/>
                      <a:pt x="160" y="9"/>
                    </a:cubicBezTo>
                    <a:cubicBezTo>
                      <a:pt x="160" y="4"/>
                      <a:pt x="156" y="0"/>
                      <a:pt x="151" y="0"/>
                    </a:cubicBezTo>
                    <a:close/>
                    <a:moveTo>
                      <a:pt x="43" y="43"/>
                    </a:moveTo>
                    <a:cubicBezTo>
                      <a:pt x="36" y="43"/>
                      <a:pt x="30" y="37"/>
                      <a:pt x="30" y="30"/>
                    </a:cubicBezTo>
                    <a:cubicBezTo>
                      <a:pt x="30" y="22"/>
                      <a:pt x="36" y="16"/>
                      <a:pt x="43" y="16"/>
                    </a:cubicBezTo>
                    <a:cubicBezTo>
                      <a:pt x="51" y="16"/>
                      <a:pt x="57" y="22"/>
                      <a:pt x="57" y="30"/>
                    </a:cubicBezTo>
                    <a:cubicBezTo>
                      <a:pt x="57" y="37"/>
                      <a:pt x="51" y="43"/>
                      <a:pt x="43" y="43"/>
                    </a:cubicBezTo>
                    <a:close/>
                    <a:moveTo>
                      <a:pt x="131" y="38"/>
                    </a:moveTo>
                    <a:cubicBezTo>
                      <a:pt x="68" y="38"/>
                      <a:pt x="68" y="38"/>
                      <a:pt x="68" y="38"/>
                    </a:cubicBezTo>
                    <a:cubicBezTo>
                      <a:pt x="68" y="22"/>
                      <a:pt x="68" y="22"/>
                      <a:pt x="68" y="22"/>
                    </a:cubicBezTo>
                    <a:cubicBezTo>
                      <a:pt x="131" y="22"/>
                      <a:pt x="131" y="22"/>
                      <a:pt x="131" y="22"/>
                    </a:cubicBezTo>
                    <a:lnTo>
                      <a:pt x="131" y="38"/>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76" name="Shape 7787">
                <a:extLst>
                  <a:ext uri="{FF2B5EF4-FFF2-40B4-BE49-F238E27FC236}">
                    <a16:creationId xmlns:a16="http://schemas.microsoft.com/office/drawing/2014/main" xmlns="" id="{C0965614-960E-4655-8981-19CC7E37C839}"/>
                  </a:ext>
                </a:extLst>
              </p:cNvPr>
              <p:cNvSpPr/>
              <p:nvPr/>
            </p:nvSpPr>
            <p:spPr>
              <a:xfrm>
                <a:off x="6013450" y="2990850"/>
                <a:ext cx="28575" cy="20637"/>
              </a:xfrm>
              <a:custGeom>
                <a:avLst/>
                <a:gdLst/>
                <a:ahLst/>
                <a:cxnLst/>
                <a:rect l="0" t="0" r="0" b="0"/>
                <a:pathLst>
                  <a:path w="24" h="18" extrusionOk="0">
                    <a:moveTo>
                      <a:pt x="1" y="4"/>
                    </a:moveTo>
                    <a:cubicBezTo>
                      <a:pt x="0" y="4"/>
                      <a:pt x="0" y="4"/>
                      <a:pt x="0" y="4"/>
                    </a:cubicBezTo>
                    <a:cubicBezTo>
                      <a:pt x="0" y="18"/>
                      <a:pt x="0" y="18"/>
                      <a:pt x="0" y="18"/>
                    </a:cubicBezTo>
                    <a:cubicBezTo>
                      <a:pt x="1" y="18"/>
                      <a:pt x="1" y="18"/>
                      <a:pt x="1" y="18"/>
                    </a:cubicBezTo>
                    <a:cubicBezTo>
                      <a:pt x="9" y="18"/>
                      <a:pt x="17" y="16"/>
                      <a:pt x="24" y="12"/>
                    </a:cubicBezTo>
                    <a:cubicBezTo>
                      <a:pt x="17" y="0"/>
                      <a:pt x="17" y="0"/>
                      <a:pt x="17" y="0"/>
                    </a:cubicBezTo>
                    <a:cubicBezTo>
                      <a:pt x="12" y="3"/>
                      <a:pt x="6" y="4"/>
                      <a:pt x="1" y="4"/>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77" name="Shape 7788">
                <a:extLst>
                  <a:ext uri="{FF2B5EF4-FFF2-40B4-BE49-F238E27FC236}">
                    <a16:creationId xmlns:a16="http://schemas.microsoft.com/office/drawing/2014/main" xmlns="" id="{1622A607-9E52-4BA5-9876-71ECECB17656}"/>
                  </a:ext>
                </a:extLst>
              </p:cNvPr>
              <p:cNvSpPr/>
              <p:nvPr/>
            </p:nvSpPr>
            <p:spPr>
              <a:xfrm>
                <a:off x="5964238" y="299561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78" name="Shape 7789">
                <a:extLst>
                  <a:ext uri="{FF2B5EF4-FFF2-40B4-BE49-F238E27FC236}">
                    <a16:creationId xmlns:a16="http://schemas.microsoft.com/office/drawing/2014/main" xmlns="" id="{5F811A3B-C542-4C9F-87F8-E0E220DC98A9}"/>
                  </a:ext>
                </a:extLst>
              </p:cNvPr>
              <p:cNvSpPr/>
              <p:nvPr/>
            </p:nvSpPr>
            <p:spPr>
              <a:xfrm>
                <a:off x="5913438" y="2995613"/>
                <a:ext cx="23813"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79" name="Shape 7790">
                <a:extLst>
                  <a:ext uri="{FF2B5EF4-FFF2-40B4-BE49-F238E27FC236}">
                    <a16:creationId xmlns:a16="http://schemas.microsoft.com/office/drawing/2014/main" xmlns="" id="{4616035F-49FC-42CA-903A-C7B51550253A}"/>
                  </a:ext>
                </a:extLst>
              </p:cNvPr>
              <p:cNvSpPr/>
              <p:nvPr/>
            </p:nvSpPr>
            <p:spPr>
              <a:xfrm>
                <a:off x="5862638" y="299561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80" name="Shape 7791">
                <a:extLst>
                  <a:ext uri="{FF2B5EF4-FFF2-40B4-BE49-F238E27FC236}">
                    <a16:creationId xmlns:a16="http://schemas.microsoft.com/office/drawing/2014/main" xmlns="" id="{4C5C7E15-B5DD-4EDC-A1DB-2F7B88426BF4}"/>
                  </a:ext>
                </a:extLst>
              </p:cNvPr>
              <p:cNvSpPr/>
              <p:nvPr/>
            </p:nvSpPr>
            <p:spPr>
              <a:xfrm>
                <a:off x="5807075" y="2995613"/>
                <a:ext cx="23813"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81" name="Shape 7792">
                <a:extLst>
                  <a:ext uri="{FF2B5EF4-FFF2-40B4-BE49-F238E27FC236}">
                    <a16:creationId xmlns:a16="http://schemas.microsoft.com/office/drawing/2014/main" xmlns="" id="{360F3639-EA82-4660-8A93-7FD6869AC770}"/>
                  </a:ext>
                </a:extLst>
              </p:cNvPr>
              <p:cNvSpPr/>
              <p:nvPr/>
            </p:nvSpPr>
            <p:spPr>
              <a:xfrm>
                <a:off x="5753100" y="299561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82" name="Shape 7793">
                <a:extLst>
                  <a:ext uri="{FF2B5EF4-FFF2-40B4-BE49-F238E27FC236}">
                    <a16:creationId xmlns:a16="http://schemas.microsoft.com/office/drawing/2014/main" xmlns="" id="{F9BDB9C5-2AE3-4455-910B-33B8B4574EF7}"/>
                  </a:ext>
                </a:extLst>
              </p:cNvPr>
              <p:cNvSpPr/>
              <p:nvPr/>
            </p:nvSpPr>
            <p:spPr>
              <a:xfrm>
                <a:off x="6048375" y="2955925"/>
                <a:ext cx="22225" cy="28575"/>
              </a:xfrm>
              <a:custGeom>
                <a:avLst/>
                <a:gdLst/>
                <a:ahLst/>
                <a:cxnLst/>
                <a:rect l="0" t="0" r="0" b="0"/>
                <a:pathLst>
                  <a:path w="19" h="24" extrusionOk="0">
                    <a:moveTo>
                      <a:pt x="0" y="17"/>
                    </a:moveTo>
                    <a:cubicBezTo>
                      <a:pt x="12" y="24"/>
                      <a:pt x="12" y="24"/>
                      <a:pt x="12" y="24"/>
                    </a:cubicBezTo>
                    <a:cubicBezTo>
                      <a:pt x="17" y="17"/>
                      <a:pt x="19" y="9"/>
                      <a:pt x="19" y="0"/>
                    </a:cubicBezTo>
                    <a:cubicBezTo>
                      <a:pt x="6" y="0"/>
                      <a:pt x="6" y="0"/>
                      <a:pt x="6" y="0"/>
                    </a:cubicBezTo>
                    <a:cubicBezTo>
                      <a:pt x="5" y="6"/>
                      <a:pt x="3" y="12"/>
                      <a:pt x="0" y="17"/>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83" name="Shape 7794">
                <a:extLst>
                  <a:ext uri="{FF2B5EF4-FFF2-40B4-BE49-F238E27FC236}">
                    <a16:creationId xmlns:a16="http://schemas.microsoft.com/office/drawing/2014/main" xmlns="" id="{4D85F88C-8615-4B84-A3D5-2F76E1F45E30}"/>
                  </a:ext>
                </a:extLst>
              </p:cNvPr>
              <p:cNvSpPr/>
              <p:nvPr/>
            </p:nvSpPr>
            <p:spPr>
              <a:xfrm>
                <a:off x="6056313" y="2906713"/>
                <a:ext cx="15875" cy="23812"/>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84" name="Shape 7795">
                <a:extLst>
                  <a:ext uri="{FF2B5EF4-FFF2-40B4-BE49-F238E27FC236}">
                    <a16:creationId xmlns:a16="http://schemas.microsoft.com/office/drawing/2014/main" xmlns="" id="{024510CE-19C8-4A64-9931-6DAE2AC90221}"/>
                  </a:ext>
                </a:extLst>
              </p:cNvPr>
              <p:cNvSpPr/>
              <p:nvPr/>
            </p:nvSpPr>
            <p:spPr>
              <a:xfrm>
                <a:off x="6030913" y="2820988"/>
                <a:ext cx="65088" cy="57150"/>
              </a:xfrm>
              <a:custGeom>
                <a:avLst/>
                <a:gdLst/>
                <a:ahLst/>
                <a:cxnLst/>
                <a:rect l="0" t="0" r="0" b="0"/>
                <a:pathLst>
                  <a:path w="41" h="36" extrusionOk="0">
                    <a:moveTo>
                      <a:pt x="0" y="36"/>
                    </a:moveTo>
                    <a:lnTo>
                      <a:pt x="41" y="36"/>
                    </a:lnTo>
                    <a:lnTo>
                      <a:pt x="21" y="0"/>
                    </a:lnTo>
                    <a:lnTo>
                      <a:pt x="0" y="36"/>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85" name="Shape 7796">
                <a:extLst>
                  <a:ext uri="{FF2B5EF4-FFF2-40B4-BE49-F238E27FC236}">
                    <a16:creationId xmlns:a16="http://schemas.microsoft.com/office/drawing/2014/main" xmlns="" id="{D9B602E5-3D77-442C-88F9-1864E34D07E6}"/>
                  </a:ext>
                </a:extLst>
              </p:cNvPr>
              <p:cNvSpPr/>
              <p:nvPr/>
            </p:nvSpPr>
            <p:spPr>
              <a:xfrm>
                <a:off x="5908675" y="2495550"/>
                <a:ext cx="187325" cy="282575"/>
              </a:xfrm>
              <a:custGeom>
                <a:avLst/>
                <a:gdLst/>
                <a:ahLst/>
                <a:cxnLst/>
                <a:rect l="0" t="0" r="0" b="0"/>
                <a:pathLst>
                  <a:path w="160" h="242" extrusionOk="0">
                    <a:moveTo>
                      <a:pt x="0" y="233"/>
                    </a:moveTo>
                    <a:cubicBezTo>
                      <a:pt x="0" y="238"/>
                      <a:pt x="4" y="242"/>
                      <a:pt x="9" y="242"/>
                    </a:cubicBezTo>
                    <a:cubicBezTo>
                      <a:pt x="151" y="242"/>
                      <a:pt x="151" y="242"/>
                      <a:pt x="151" y="242"/>
                    </a:cubicBezTo>
                    <a:cubicBezTo>
                      <a:pt x="156" y="242"/>
                      <a:pt x="160" y="238"/>
                      <a:pt x="160" y="233"/>
                    </a:cubicBezTo>
                    <a:cubicBezTo>
                      <a:pt x="160" y="0"/>
                      <a:pt x="160" y="0"/>
                      <a:pt x="160" y="0"/>
                    </a:cubicBezTo>
                    <a:cubicBezTo>
                      <a:pt x="0" y="0"/>
                      <a:pt x="0" y="0"/>
                      <a:pt x="0" y="0"/>
                    </a:cubicBezTo>
                    <a:lnTo>
                      <a:pt x="0" y="233"/>
                    </a:lnTo>
                    <a:close/>
                    <a:moveTo>
                      <a:pt x="80" y="227"/>
                    </a:moveTo>
                    <a:cubicBezTo>
                      <a:pt x="71" y="227"/>
                      <a:pt x="63" y="220"/>
                      <a:pt x="63" y="210"/>
                    </a:cubicBezTo>
                    <a:cubicBezTo>
                      <a:pt x="63" y="200"/>
                      <a:pt x="71" y="192"/>
                      <a:pt x="80" y="192"/>
                    </a:cubicBezTo>
                    <a:cubicBezTo>
                      <a:pt x="90" y="192"/>
                      <a:pt x="98" y="200"/>
                      <a:pt x="98" y="210"/>
                    </a:cubicBezTo>
                    <a:cubicBezTo>
                      <a:pt x="98" y="220"/>
                      <a:pt x="90" y="227"/>
                      <a:pt x="80" y="227"/>
                    </a:cubicBezTo>
                    <a:close/>
                    <a:moveTo>
                      <a:pt x="72" y="175"/>
                    </a:moveTo>
                    <a:cubicBezTo>
                      <a:pt x="72" y="171"/>
                      <a:pt x="76" y="167"/>
                      <a:pt x="80" y="167"/>
                    </a:cubicBezTo>
                    <a:cubicBezTo>
                      <a:pt x="85" y="167"/>
                      <a:pt x="88" y="171"/>
                      <a:pt x="88" y="175"/>
                    </a:cubicBezTo>
                    <a:cubicBezTo>
                      <a:pt x="88" y="179"/>
                      <a:pt x="85" y="183"/>
                      <a:pt x="80" y="183"/>
                    </a:cubicBezTo>
                    <a:cubicBezTo>
                      <a:pt x="76" y="183"/>
                      <a:pt x="72" y="179"/>
                      <a:pt x="72" y="175"/>
                    </a:cubicBezTo>
                    <a:close/>
                    <a:moveTo>
                      <a:pt x="29" y="12"/>
                    </a:moveTo>
                    <a:cubicBezTo>
                      <a:pt x="131" y="12"/>
                      <a:pt x="131" y="12"/>
                      <a:pt x="131" y="12"/>
                    </a:cubicBezTo>
                    <a:cubicBezTo>
                      <a:pt x="131" y="33"/>
                      <a:pt x="131" y="33"/>
                      <a:pt x="131" y="33"/>
                    </a:cubicBezTo>
                    <a:cubicBezTo>
                      <a:pt x="29" y="33"/>
                      <a:pt x="29" y="33"/>
                      <a:pt x="29" y="33"/>
                    </a:cubicBezTo>
                    <a:lnTo>
                      <a:pt x="29" y="12"/>
                    </a:lnTo>
                    <a:close/>
                    <a:moveTo>
                      <a:pt x="29" y="43"/>
                    </a:moveTo>
                    <a:cubicBezTo>
                      <a:pt x="131" y="43"/>
                      <a:pt x="131" y="43"/>
                      <a:pt x="131" y="43"/>
                    </a:cubicBezTo>
                    <a:cubicBezTo>
                      <a:pt x="131" y="64"/>
                      <a:pt x="131" y="64"/>
                      <a:pt x="131" y="64"/>
                    </a:cubicBezTo>
                    <a:cubicBezTo>
                      <a:pt x="29" y="64"/>
                      <a:pt x="29" y="64"/>
                      <a:pt x="29" y="64"/>
                    </a:cubicBezTo>
                    <a:lnTo>
                      <a:pt x="29" y="43"/>
                    </a:lnTo>
                    <a:close/>
                    <a:moveTo>
                      <a:pt x="29" y="73"/>
                    </a:moveTo>
                    <a:cubicBezTo>
                      <a:pt x="131" y="73"/>
                      <a:pt x="131" y="73"/>
                      <a:pt x="131" y="73"/>
                    </a:cubicBezTo>
                    <a:cubicBezTo>
                      <a:pt x="131" y="94"/>
                      <a:pt x="131" y="94"/>
                      <a:pt x="131" y="94"/>
                    </a:cubicBezTo>
                    <a:cubicBezTo>
                      <a:pt x="29" y="94"/>
                      <a:pt x="29" y="94"/>
                      <a:pt x="29" y="94"/>
                    </a:cubicBezTo>
                    <a:lnTo>
                      <a:pt x="29" y="73"/>
                    </a:lnTo>
                    <a:close/>
                    <a:moveTo>
                      <a:pt x="29" y="104"/>
                    </a:moveTo>
                    <a:cubicBezTo>
                      <a:pt x="131" y="104"/>
                      <a:pt x="131" y="104"/>
                      <a:pt x="131" y="104"/>
                    </a:cubicBezTo>
                    <a:cubicBezTo>
                      <a:pt x="131" y="125"/>
                      <a:pt x="131" y="125"/>
                      <a:pt x="131" y="125"/>
                    </a:cubicBezTo>
                    <a:cubicBezTo>
                      <a:pt x="29" y="125"/>
                      <a:pt x="29" y="125"/>
                      <a:pt x="29" y="125"/>
                    </a:cubicBezTo>
                    <a:lnTo>
                      <a:pt x="29" y="104"/>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86" name="Shape 7797">
                <a:extLst>
                  <a:ext uri="{FF2B5EF4-FFF2-40B4-BE49-F238E27FC236}">
                    <a16:creationId xmlns:a16="http://schemas.microsoft.com/office/drawing/2014/main" xmlns="" id="{B9921951-0868-4EE7-964C-EA509AED6BF7}"/>
                  </a:ext>
                </a:extLst>
              </p:cNvPr>
              <p:cNvSpPr/>
              <p:nvPr/>
            </p:nvSpPr>
            <p:spPr>
              <a:xfrm>
                <a:off x="5908675" y="2417763"/>
                <a:ext cx="187325" cy="65087"/>
              </a:xfrm>
              <a:custGeom>
                <a:avLst/>
                <a:gdLst/>
                <a:ahLst/>
                <a:cxnLst/>
                <a:rect l="0" t="0" r="0" b="0"/>
                <a:pathLst>
                  <a:path w="160" h="55" extrusionOk="0">
                    <a:moveTo>
                      <a:pt x="151" y="0"/>
                    </a:moveTo>
                    <a:cubicBezTo>
                      <a:pt x="9" y="0"/>
                      <a:pt x="9" y="0"/>
                      <a:pt x="9" y="0"/>
                    </a:cubicBezTo>
                    <a:cubicBezTo>
                      <a:pt x="4" y="0"/>
                      <a:pt x="0" y="4"/>
                      <a:pt x="0" y="9"/>
                    </a:cubicBezTo>
                    <a:cubicBezTo>
                      <a:pt x="0" y="55"/>
                      <a:pt x="0" y="55"/>
                      <a:pt x="0" y="55"/>
                    </a:cubicBezTo>
                    <a:cubicBezTo>
                      <a:pt x="160" y="55"/>
                      <a:pt x="160" y="55"/>
                      <a:pt x="160" y="55"/>
                    </a:cubicBezTo>
                    <a:cubicBezTo>
                      <a:pt x="160" y="9"/>
                      <a:pt x="160" y="9"/>
                      <a:pt x="160" y="9"/>
                    </a:cubicBezTo>
                    <a:cubicBezTo>
                      <a:pt x="160" y="4"/>
                      <a:pt x="156" y="0"/>
                      <a:pt x="151" y="0"/>
                    </a:cubicBezTo>
                    <a:close/>
                    <a:moveTo>
                      <a:pt x="93" y="38"/>
                    </a:moveTo>
                    <a:cubicBezTo>
                      <a:pt x="29" y="38"/>
                      <a:pt x="29" y="38"/>
                      <a:pt x="29" y="38"/>
                    </a:cubicBezTo>
                    <a:cubicBezTo>
                      <a:pt x="29" y="22"/>
                      <a:pt x="29" y="22"/>
                      <a:pt x="29" y="22"/>
                    </a:cubicBezTo>
                    <a:cubicBezTo>
                      <a:pt x="93" y="22"/>
                      <a:pt x="93" y="22"/>
                      <a:pt x="93" y="22"/>
                    </a:cubicBezTo>
                    <a:lnTo>
                      <a:pt x="93" y="38"/>
                    </a:lnTo>
                    <a:close/>
                    <a:moveTo>
                      <a:pt x="117" y="43"/>
                    </a:moveTo>
                    <a:cubicBezTo>
                      <a:pt x="110" y="43"/>
                      <a:pt x="104" y="37"/>
                      <a:pt x="104" y="30"/>
                    </a:cubicBezTo>
                    <a:cubicBezTo>
                      <a:pt x="104" y="22"/>
                      <a:pt x="110" y="16"/>
                      <a:pt x="117" y="16"/>
                    </a:cubicBezTo>
                    <a:cubicBezTo>
                      <a:pt x="125" y="16"/>
                      <a:pt x="131" y="22"/>
                      <a:pt x="131" y="30"/>
                    </a:cubicBezTo>
                    <a:cubicBezTo>
                      <a:pt x="131" y="37"/>
                      <a:pt x="125" y="43"/>
                      <a:pt x="117" y="43"/>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87" name="Shape 7798">
                <a:extLst>
                  <a:ext uri="{FF2B5EF4-FFF2-40B4-BE49-F238E27FC236}">
                    <a16:creationId xmlns:a16="http://schemas.microsoft.com/office/drawing/2014/main" xmlns="" id="{56D5D84E-4674-40B4-B10C-7D31F9CFCED4}"/>
                  </a:ext>
                </a:extLst>
              </p:cNvPr>
              <p:cNvSpPr/>
              <p:nvPr/>
            </p:nvSpPr>
            <p:spPr>
              <a:xfrm>
                <a:off x="5592763" y="2417763"/>
                <a:ext cx="30163" cy="20637"/>
              </a:xfrm>
              <a:custGeom>
                <a:avLst/>
                <a:gdLst/>
                <a:ahLst/>
                <a:cxnLst/>
                <a:rect l="0" t="0" r="0" b="0"/>
                <a:pathLst>
                  <a:path w="25" h="18" extrusionOk="0">
                    <a:moveTo>
                      <a:pt x="24" y="14"/>
                    </a:moveTo>
                    <a:cubicBezTo>
                      <a:pt x="25" y="14"/>
                      <a:pt x="25" y="14"/>
                      <a:pt x="25" y="14"/>
                    </a:cubicBezTo>
                    <a:cubicBezTo>
                      <a:pt x="25" y="0"/>
                      <a:pt x="25" y="0"/>
                      <a:pt x="25" y="0"/>
                    </a:cubicBezTo>
                    <a:cubicBezTo>
                      <a:pt x="24" y="0"/>
                      <a:pt x="24" y="0"/>
                      <a:pt x="24" y="0"/>
                    </a:cubicBezTo>
                    <a:cubicBezTo>
                      <a:pt x="16" y="0"/>
                      <a:pt x="8" y="2"/>
                      <a:pt x="0" y="6"/>
                    </a:cubicBezTo>
                    <a:cubicBezTo>
                      <a:pt x="7" y="18"/>
                      <a:pt x="7" y="18"/>
                      <a:pt x="7" y="18"/>
                    </a:cubicBezTo>
                    <a:cubicBezTo>
                      <a:pt x="12" y="15"/>
                      <a:pt x="18" y="14"/>
                      <a:pt x="24" y="14"/>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88" name="Shape 7799">
                <a:extLst>
                  <a:ext uri="{FF2B5EF4-FFF2-40B4-BE49-F238E27FC236}">
                    <a16:creationId xmlns:a16="http://schemas.microsoft.com/office/drawing/2014/main" xmlns="" id="{EE8DCC50-45B7-4006-B1CD-7EF51C5C293C}"/>
                  </a:ext>
                </a:extLst>
              </p:cNvPr>
              <p:cNvSpPr/>
              <p:nvPr/>
            </p:nvSpPr>
            <p:spPr>
              <a:xfrm>
                <a:off x="5646738" y="2417763"/>
                <a:ext cx="26988"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89" name="Shape 7800">
                <a:extLst>
                  <a:ext uri="{FF2B5EF4-FFF2-40B4-BE49-F238E27FC236}">
                    <a16:creationId xmlns:a16="http://schemas.microsoft.com/office/drawing/2014/main" xmlns="" id="{6200B3F1-8358-447A-8D26-6296D5A201E8}"/>
                  </a:ext>
                </a:extLst>
              </p:cNvPr>
              <p:cNvSpPr/>
              <p:nvPr/>
            </p:nvSpPr>
            <p:spPr>
              <a:xfrm>
                <a:off x="5697538" y="241776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90" name="Shape 7801">
                <a:extLst>
                  <a:ext uri="{FF2B5EF4-FFF2-40B4-BE49-F238E27FC236}">
                    <a16:creationId xmlns:a16="http://schemas.microsoft.com/office/drawing/2014/main" xmlns="" id="{132E2040-F712-4F57-8849-D97E2D2B728F}"/>
                  </a:ext>
                </a:extLst>
              </p:cNvPr>
              <p:cNvSpPr/>
              <p:nvPr/>
            </p:nvSpPr>
            <p:spPr>
              <a:xfrm>
                <a:off x="5748338" y="241776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91" name="Shape 7802">
                <a:extLst>
                  <a:ext uri="{FF2B5EF4-FFF2-40B4-BE49-F238E27FC236}">
                    <a16:creationId xmlns:a16="http://schemas.microsoft.com/office/drawing/2014/main" xmlns="" id="{91072B3A-C50E-46DC-A042-12239F5D4520}"/>
                  </a:ext>
                </a:extLst>
              </p:cNvPr>
              <p:cNvSpPr/>
              <p:nvPr/>
            </p:nvSpPr>
            <p:spPr>
              <a:xfrm>
                <a:off x="5799138" y="241776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92" name="Shape 7803">
                <a:extLst>
                  <a:ext uri="{FF2B5EF4-FFF2-40B4-BE49-F238E27FC236}">
                    <a16:creationId xmlns:a16="http://schemas.microsoft.com/office/drawing/2014/main" xmlns="" id="{EBDCD9A5-B0E3-4893-8A83-7A230CB7036F}"/>
                  </a:ext>
                </a:extLst>
              </p:cNvPr>
              <p:cNvSpPr/>
              <p:nvPr/>
            </p:nvSpPr>
            <p:spPr>
              <a:xfrm>
                <a:off x="5857875" y="241776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93" name="Shape 7804">
                <a:extLst>
                  <a:ext uri="{FF2B5EF4-FFF2-40B4-BE49-F238E27FC236}">
                    <a16:creationId xmlns:a16="http://schemas.microsoft.com/office/drawing/2014/main" xmlns="" id="{1670FDEC-1828-43B6-A59F-DD6C64E49A28}"/>
                  </a:ext>
                </a:extLst>
              </p:cNvPr>
              <p:cNvSpPr/>
              <p:nvPr/>
            </p:nvSpPr>
            <p:spPr>
              <a:xfrm>
                <a:off x="5564188" y="2444750"/>
                <a:ext cx="22225" cy="28575"/>
              </a:xfrm>
              <a:custGeom>
                <a:avLst/>
                <a:gdLst/>
                <a:ahLst/>
                <a:cxnLst/>
                <a:rect l="0" t="0" r="0" b="0"/>
                <a:pathLst>
                  <a:path w="19" h="24" extrusionOk="0">
                    <a:moveTo>
                      <a:pt x="19" y="7"/>
                    </a:moveTo>
                    <a:cubicBezTo>
                      <a:pt x="7" y="0"/>
                      <a:pt x="7" y="0"/>
                      <a:pt x="7" y="0"/>
                    </a:cubicBezTo>
                    <a:cubicBezTo>
                      <a:pt x="3" y="7"/>
                      <a:pt x="0" y="15"/>
                      <a:pt x="0" y="23"/>
                    </a:cubicBezTo>
                    <a:cubicBezTo>
                      <a:pt x="14" y="24"/>
                      <a:pt x="14" y="24"/>
                      <a:pt x="14" y="24"/>
                    </a:cubicBezTo>
                    <a:cubicBezTo>
                      <a:pt x="14" y="18"/>
                      <a:pt x="16" y="12"/>
                      <a:pt x="19" y="7"/>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94" name="Shape 7805">
                <a:extLst>
                  <a:ext uri="{FF2B5EF4-FFF2-40B4-BE49-F238E27FC236}">
                    <a16:creationId xmlns:a16="http://schemas.microsoft.com/office/drawing/2014/main" xmlns="" id="{30345421-D6FB-43B2-8892-CEEB1034D7D4}"/>
                  </a:ext>
                </a:extLst>
              </p:cNvPr>
              <p:cNvSpPr/>
              <p:nvPr/>
            </p:nvSpPr>
            <p:spPr>
              <a:xfrm>
                <a:off x="5564188" y="2497138"/>
                <a:ext cx="15875" cy="25400"/>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95" name="Shape 7806">
                <a:extLst>
                  <a:ext uri="{FF2B5EF4-FFF2-40B4-BE49-F238E27FC236}">
                    <a16:creationId xmlns:a16="http://schemas.microsoft.com/office/drawing/2014/main" xmlns="" id="{EC408B58-1969-4F21-877D-6D3613EDD8FA}"/>
                  </a:ext>
                </a:extLst>
              </p:cNvPr>
              <p:cNvSpPr/>
              <p:nvPr/>
            </p:nvSpPr>
            <p:spPr>
              <a:xfrm>
                <a:off x="5538788" y="2551113"/>
                <a:ext cx="66675" cy="55562"/>
              </a:xfrm>
              <a:custGeom>
                <a:avLst/>
                <a:gdLst/>
                <a:ahLst/>
                <a:cxnLst/>
                <a:rect l="0" t="0" r="0" b="0"/>
                <a:pathLst>
                  <a:path w="42" h="35" extrusionOk="0">
                    <a:moveTo>
                      <a:pt x="42" y="0"/>
                    </a:moveTo>
                    <a:lnTo>
                      <a:pt x="0" y="0"/>
                    </a:lnTo>
                    <a:lnTo>
                      <a:pt x="21" y="35"/>
                    </a:lnTo>
                    <a:lnTo>
                      <a:pt x="42" y="0"/>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grpSp>
      </p:grpSp>
      <p:sp>
        <p:nvSpPr>
          <p:cNvPr id="37" name="Content Placeholder 2">
            <a:extLst>
              <a:ext uri="{FF2B5EF4-FFF2-40B4-BE49-F238E27FC236}">
                <a16:creationId xmlns:a16="http://schemas.microsoft.com/office/drawing/2014/main" xmlns="" id="{C9EA185E-ADA5-4A49-90AF-D823B54E096B}"/>
              </a:ext>
            </a:extLst>
          </p:cNvPr>
          <p:cNvSpPr txBox="1">
            <a:spLocks/>
          </p:cNvSpPr>
          <p:nvPr/>
        </p:nvSpPr>
        <p:spPr>
          <a:xfrm>
            <a:off x="612376" y="2826619"/>
            <a:ext cx="10834234" cy="876039"/>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Nunito"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Nunito"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Nunito"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400"/>
              </a:spcBef>
              <a:spcAft>
                <a:spcPts val="400"/>
              </a:spcAft>
              <a:buFont typeface="Wingdings" panose="05000000000000000000" pitchFamily="2" charset="2"/>
              <a:buChar char="Ø"/>
            </a:pPr>
            <a:r>
              <a:rPr lang="en-US" sz="2200" dirty="0">
                <a:latin typeface="+mn-lt"/>
              </a:rPr>
              <a:t>In online shopping, they make product listings better by creating images from descriptions.</a:t>
            </a:r>
          </a:p>
          <a:p>
            <a:pPr>
              <a:lnSpc>
                <a:spcPct val="100000"/>
              </a:lnSpc>
              <a:spcBef>
                <a:spcPts val="400"/>
              </a:spcBef>
              <a:spcAft>
                <a:spcPts val="400"/>
              </a:spcAft>
              <a:buFont typeface="Wingdings" panose="05000000000000000000" pitchFamily="2" charset="2"/>
              <a:buChar char="Ø"/>
            </a:pPr>
            <a:r>
              <a:rPr lang="en-US" sz="2200" dirty="0">
                <a:latin typeface="+mn-lt"/>
              </a:rPr>
              <a:t>In social media, they help spice up posts by turning text into eye-catching visuals. Businesses use them in marketing to create appealing graphics and advertisements.</a:t>
            </a:r>
          </a:p>
          <a:p>
            <a:pPr marL="0" indent="0">
              <a:lnSpc>
                <a:spcPct val="100000"/>
              </a:lnSpc>
              <a:spcBef>
                <a:spcPts val="400"/>
              </a:spcBef>
              <a:spcAft>
                <a:spcPts val="400"/>
              </a:spcAft>
              <a:buNone/>
            </a:pPr>
            <a:r>
              <a:rPr lang="en-US" sz="2200" b="1" dirty="0">
                <a:latin typeface="+mn-lt"/>
              </a:rPr>
              <a:t>Here is an exercise: </a:t>
            </a:r>
          </a:p>
          <a:p>
            <a:pPr marL="0" indent="0">
              <a:lnSpc>
                <a:spcPct val="100000"/>
              </a:lnSpc>
              <a:spcBef>
                <a:spcPts val="400"/>
              </a:spcBef>
              <a:spcAft>
                <a:spcPts val="400"/>
              </a:spcAft>
              <a:buNone/>
            </a:pPr>
            <a:endParaRPr lang="en-US" sz="2200" dirty="0">
              <a:latin typeface="+mn-lt"/>
            </a:endParaRPr>
          </a:p>
        </p:txBody>
      </p:sp>
      <p:graphicFrame>
        <p:nvGraphicFramePr>
          <p:cNvPr id="7" name="Object 6">
            <a:extLst>
              <a:ext uri="{FF2B5EF4-FFF2-40B4-BE49-F238E27FC236}">
                <a16:creationId xmlns:a16="http://schemas.microsoft.com/office/drawing/2014/main" xmlns="" id="{B6035BBD-BCCC-43A5-B19A-D08A55CC32FC}"/>
              </a:ext>
            </a:extLst>
          </p:cNvPr>
          <p:cNvGraphicFramePr>
            <a:graphicFrameLocks noChangeAspect="1"/>
          </p:cNvGraphicFramePr>
          <p:nvPr>
            <p:extLst>
              <p:ext uri="{D42A27DB-BD31-4B8C-83A1-F6EECF244321}">
                <p14:modId xmlns:p14="http://schemas.microsoft.com/office/powerpoint/2010/main" val="3724145632"/>
              </p:ext>
            </p:extLst>
          </p:nvPr>
        </p:nvGraphicFramePr>
        <p:xfrm>
          <a:off x="2939989" y="4097445"/>
          <a:ext cx="914400" cy="792163"/>
        </p:xfrm>
        <a:graphic>
          <a:graphicData uri="http://schemas.openxmlformats.org/presentationml/2006/ole">
            <mc:AlternateContent xmlns:mc="http://schemas.openxmlformats.org/markup-compatibility/2006">
              <mc:Choice xmlns:v="urn:schemas-microsoft-com:vml" Requires="v">
                <p:oleObj spid="_x0000_s2050" name="Document" showAsIcon="1" r:id="rId5" imgW="914400" imgH="792360" progId="Word.Document.12">
                  <p:embed/>
                </p:oleObj>
              </mc:Choice>
              <mc:Fallback>
                <p:oleObj name="Document" showAsIcon="1" r:id="rId5" imgW="914400" imgH="792360" progId="Word.Document.12">
                  <p:embed/>
                  <p:pic>
                    <p:nvPicPr>
                      <p:cNvPr id="7" name="Object 6">
                        <a:extLst>
                          <a:ext uri="{FF2B5EF4-FFF2-40B4-BE49-F238E27FC236}">
                            <a16:creationId xmlns:a16="http://schemas.microsoft.com/office/drawing/2014/main" xmlns="" id="{B6035BBD-BCCC-43A5-B19A-D08A55CC32FC}"/>
                          </a:ext>
                        </a:extLst>
                      </p:cNvPr>
                      <p:cNvPicPr/>
                      <p:nvPr/>
                    </p:nvPicPr>
                    <p:blipFill>
                      <a:blip r:embed="rId6"/>
                      <a:stretch>
                        <a:fillRect/>
                      </a:stretch>
                    </p:blipFill>
                    <p:spPr>
                      <a:xfrm>
                        <a:off x="2939989" y="4097445"/>
                        <a:ext cx="914400" cy="792163"/>
                      </a:xfrm>
                      <a:prstGeom prst="rect">
                        <a:avLst/>
                      </a:prstGeom>
                    </p:spPr>
                  </p:pic>
                </p:oleObj>
              </mc:Fallback>
            </mc:AlternateContent>
          </a:graphicData>
        </a:graphic>
      </p:graphicFrame>
    </p:spTree>
    <p:extLst>
      <p:ext uri="{BB962C8B-B14F-4D97-AF65-F5344CB8AC3E}">
        <p14:creationId xmlns:p14="http://schemas.microsoft.com/office/powerpoint/2010/main" val="582464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7" name="Group 66">
            <a:extLst>
              <a:ext uri="{FF2B5EF4-FFF2-40B4-BE49-F238E27FC236}">
                <a16:creationId xmlns:a16="http://schemas.microsoft.com/office/drawing/2014/main" xmlns="" id="{DEEDEAC6-3077-4834-9AA2-B5BBDA882775}"/>
              </a:ext>
            </a:extLst>
          </p:cNvPr>
          <p:cNvGrpSpPr/>
          <p:nvPr/>
        </p:nvGrpSpPr>
        <p:grpSpPr>
          <a:xfrm>
            <a:off x="612376" y="503311"/>
            <a:ext cx="10967248" cy="2030423"/>
            <a:chOff x="661075" y="1659835"/>
            <a:chExt cx="10967248" cy="2030423"/>
          </a:xfrm>
        </p:grpSpPr>
        <p:sp>
          <p:nvSpPr>
            <p:cNvPr id="68" name="Freeform 6">
              <a:extLst>
                <a:ext uri="{FF2B5EF4-FFF2-40B4-BE49-F238E27FC236}">
                  <a16:creationId xmlns:a16="http://schemas.microsoft.com/office/drawing/2014/main" xmlns="" id="{C760C121-45E7-46AE-9C4B-BEEAD71D6BA3}"/>
                </a:ext>
              </a:extLst>
            </p:cNvPr>
            <p:cNvSpPr>
              <a:spLocks/>
            </p:cNvSpPr>
            <p:nvPr/>
          </p:nvSpPr>
          <p:spPr bwMode="auto">
            <a:xfrm>
              <a:off x="776848" y="1680017"/>
              <a:ext cx="373861" cy="274869"/>
            </a:xfrm>
            <a:custGeom>
              <a:avLst/>
              <a:gdLst>
                <a:gd name="T0" fmla="*/ 81 w 162"/>
                <a:gd name="T1" fmla="*/ 0 h 119"/>
                <a:gd name="T2" fmla="*/ 0 w 162"/>
                <a:gd name="T3" fmla="*/ 119 h 119"/>
                <a:gd name="T4" fmla="*/ 162 w 162"/>
                <a:gd name="T5" fmla="*/ 119 h 119"/>
                <a:gd name="T6" fmla="*/ 81 w 162"/>
                <a:gd name="T7" fmla="*/ 0 h 119"/>
              </a:gdLst>
              <a:ahLst/>
              <a:cxnLst>
                <a:cxn ang="0">
                  <a:pos x="T0" y="T1"/>
                </a:cxn>
                <a:cxn ang="0">
                  <a:pos x="T2" y="T3"/>
                </a:cxn>
                <a:cxn ang="0">
                  <a:pos x="T4" y="T5"/>
                </a:cxn>
                <a:cxn ang="0">
                  <a:pos x="T6" y="T7"/>
                </a:cxn>
              </a:cxnLst>
              <a:rect l="0" t="0" r="r" b="b"/>
              <a:pathLst>
                <a:path w="162" h="119">
                  <a:moveTo>
                    <a:pt x="81" y="0"/>
                  </a:moveTo>
                  <a:cubicBezTo>
                    <a:pt x="34" y="18"/>
                    <a:pt x="0" y="65"/>
                    <a:pt x="0" y="119"/>
                  </a:cubicBezTo>
                  <a:cubicBezTo>
                    <a:pt x="162" y="119"/>
                    <a:pt x="162" y="119"/>
                    <a:pt x="162" y="119"/>
                  </a:cubicBezTo>
                  <a:cubicBezTo>
                    <a:pt x="162" y="65"/>
                    <a:pt x="129" y="19"/>
                    <a:pt x="81" y="0"/>
                  </a:cubicBez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ru-RU"/>
            </a:p>
          </p:txBody>
        </p:sp>
        <p:sp>
          <p:nvSpPr>
            <p:cNvPr id="69" name="Rectangle: Rounded Corners 68">
              <a:extLst>
                <a:ext uri="{FF2B5EF4-FFF2-40B4-BE49-F238E27FC236}">
                  <a16:creationId xmlns:a16="http://schemas.microsoft.com/office/drawing/2014/main" xmlns="" id="{65C22E47-6E17-474C-B286-A10F50BF45DB}"/>
                </a:ext>
              </a:extLst>
            </p:cNvPr>
            <p:cNvSpPr/>
            <p:nvPr/>
          </p:nvSpPr>
          <p:spPr>
            <a:xfrm>
              <a:off x="776848" y="1953670"/>
              <a:ext cx="10851475" cy="567664"/>
            </a:xfrm>
            <a:prstGeom prst="roundRect">
              <a:avLst>
                <a:gd name="adj" fmla="val 9723"/>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404000" rtlCol="0" anchor="ctr"/>
            <a:lstStyle/>
            <a:p>
              <a:r>
                <a:rPr lang="en-US" sz="2200" b="1" dirty="0">
                  <a:solidFill>
                    <a:schemeClr val="tx1"/>
                  </a:solidFill>
                  <a:effectLst/>
                  <a:latin typeface="Times New Roman" panose="02020603050405020304" pitchFamily="18" charset="0"/>
                  <a:ea typeface="Calibri" panose="020F0502020204030204" pitchFamily="34" charset="0"/>
                </a:rPr>
                <a:t>Text-to-Video Models</a:t>
              </a:r>
              <a:endParaRPr lang="en-IN" sz="2200" b="1" dirty="0">
                <a:solidFill>
                  <a:schemeClr val="tx1"/>
                </a:solidFill>
                <a:latin typeface="Calibri" panose="020F0502020204030204" pitchFamily="34" charset="0"/>
              </a:endParaRPr>
            </a:p>
          </p:txBody>
        </p:sp>
        <p:sp>
          <p:nvSpPr>
            <p:cNvPr id="70" name="Content Placeholder 2">
              <a:extLst>
                <a:ext uri="{FF2B5EF4-FFF2-40B4-BE49-F238E27FC236}">
                  <a16:creationId xmlns:a16="http://schemas.microsoft.com/office/drawing/2014/main" xmlns="" id="{7FF21849-F54A-48A1-9EBB-8E3F4803C6C0}"/>
                </a:ext>
              </a:extLst>
            </p:cNvPr>
            <p:cNvSpPr txBox="1">
              <a:spLocks/>
            </p:cNvSpPr>
            <p:nvPr/>
          </p:nvSpPr>
          <p:spPr>
            <a:xfrm>
              <a:off x="661075" y="2814219"/>
              <a:ext cx="10834234" cy="876039"/>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Nunito"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Nunito"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Nunito"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400"/>
                </a:spcBef>
                <a:spcAft>
                  <a:spcPts val="400"/>
                </a:spcAft>
                <a:buNone/>
              </a:pPr>
              <a:r>
                <a:rPr lang="en-US" sz="2200" dirty="0">
                  <a:latin typeface="+mn-lt"/>
                </a:rPr>
                <a:t>Text-to-video language models, at the convergence of natural language processing and computer vision, offer diverse applications across various sectors. Following are some of them: </a:t>
              </a:r>
            </a:p>
            <a:p>
              <a:pPr marL="0" indent="0">
                <a:lnSpc>
                  <a:spcPct val="100000"/>
                </a:lnSpc>
                <a:spcBef>
                  <a:spcPts val="400"/>
                </a:spcBef>
                <a:spcAft>
                  <a:spcPts val="400"/>
                </a:spcAft>
                <a:buNone/>
              </a:pPr>
              <a:endParaRPr lang="en-US" sz="2200" dirty="0">
                <a:latin typeface="+mn-lt"/>
              </a:endParaRPr>
            </a:p>
          </p:txBody>
        </p:sp>
        <p:sp>
          <p:nvSpPr>
            <p:cNvPr id="71" name="Freeform 7">
              <a:extLst>
                <a:ext uri="{FF2B5EF4-FFF2-40B4-BE49-F238E27FC236}">
                  <a16:creationId xmlns:a16="http://schemas.microsoft.com/office/drawing/2014/main" xmlns="" id="{4926A8EB-0167-411D-9A69-DE6FAE9B7E85}"/>
                </a:ext>
              </a:extLst>
            </p:cNvPr>
            <p:cNvSpPr>
              <a:spLocks/>
            </p:cNvSpPr>
            <p:nvPr/>
          </p:nvSpPr>
          <p:spPr bwMode="auto">
            <a:xfrm>
              <a:off x="871995" y="1659835"/>
              <a:ext cx="1061994" cy="1111971"/>
            </a:xfrm>
            <a:custGeom>
              <a:avLst/>
              <a:gdLst>
                <a:gd name="T0" fmla="*/ 332 w 461"/>
                <a:gd name="T1" fmla="*/ 0 h 482"/>
                <a:gd name="T2" fmla="*/ 88 w 461"/>
                <a:gd name="T3" fmla="*/ 0 h 482"/>
                <a:gd name="T4" fmla="*/ 40 w 461"/>
                <a:gd name="T5" fmla="*/ 9 h 482"/>
                <a:gd name="T6" fmla="*/ 0 w 461"/>
                <a:gd name="T7" fmla="*/ 35 h 482"/>
                <a:gd name="T8" fmla="*/ 81 w 461"/>
                <a:gd name="T9" fmla="*/ 35 h 482"/>
                <a:gd name="T10" fmla="*/ 121 w 461"/>
                <a:gd name="T11" fmla="*/ 128 h 482"/>
                <a:gd name="T12" fmla="*/ 121 w 461"/>
                <a:gd name="T13" fmla="*/ 311 h 482"/>
                <a:gd name="T14" fmla="*/ 121 w 461"/>
                <a:gd name="T15" fmla="*/ 312 h 482"/>
                <a:gd name="T16" fmla="*/ 291 w 461"/>
                <a:gd name="T17" fmla="*/ 482 h 482"/>
                <a:gd name="T18" fmla="*/ 461 w 461"/>
                <a:gd name="T19" fmla="*/ 312 h 482"/>
                <a:gd name="T20" fmla="*/ 461 w 461"/>
                <a:gd name="T21" fmla="*/ 312 h 482"/>
                <a:gd name="T22" fmla="*/ 461 w 461"/>
                <a:gd name="T23" fmla="*/ 128 h 482"/>
                <a:gd name="T24" fmla="*/ 332 w 461"/>
                <a:gd name="T25" fmla="*/ 0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 h="482">
                  <a:moveTo>
                    <a:pt x="332" y="0"/>
                  </a:moveTo>
                  <a:cubicBezTo>
                    <a:pt x="88" y="0"/>
                    <a:pt x="88" y="0"/>
                    <a:pt x="88" y="0"/>
                  </a:cubicBezTo>
                  <a:cubicBezTo>
                    <a:pt x="71" y="0"/>
                    <a:pt x="55" y="3"/>
                    <a:pt x="40" y="9"/>
                  </a:cubicBezTo>
                  <a:cubicBezTo>
                    <a:pt x="25" y="15"/>
                    <a:pt x="11" y="24"/>
                    <a:pt x="0" y="35"/>
                  </a:cubicBezTo>
                  <a:cubicBezTo>
                    <a:pt x="22" y="13"/>
                    <a:pt x="58" y="13"/>
                    <a:pt x="81" y="35"/>
                  </a:cubicBezTo>
                  <a:cubicBezTo>
                    <a:pt x="106" y="58"/>
                    <a:pt x="121" y="91"/>
                    <a:pt x="121" y="128"/>
                  </a:cubicBezTo>
                  <a:cubicBezTo>
                    <a:pt x="121" y="311"/>
                    <a:pt x="121" y="311"/>
                    <a:pt x="121" y="311"/>
                  </a:cubicBezTo>
                  <a:cubicBezTo>
                    <a:pt x="121" y="311"/>
                    <a:pt x="121" y="311"/>
                    <a:pt x="121" y="312"/>
                  </a:cubicBezTo>
                  <a:cubicBezTo>
                    <a:pt x="121" y="405"/>
                    <a:pt x="197" y="482"/>
                    <a:pt x="291" y="482"/>
                  </a:cubicBezTo>
                  <a:cubicBezTo>
                    <a:pt x="385" y="482"/>
                    <a:pt x="461" y="405"/>
                    <a:pt x="461" y="312"/>
                  </a:cubicBezTo>
                  <a:cubicBezTo>
                    <a:pt x="461" y="312"/>
                    <a:pt x="461" y="312"/>
                    <a:pt x="461" y="312"/>
                  </a:cubicBezTo>
                  <a:cubicBezTo>
                    <a:pt x="461" y="128"/>
                    <a:pt x="461" y="128"/>
                    <a:pt x="461" y="128"/>
                  </a:cubicBezTo>
                  <a:cubicBezTo>
                    <a:pt x="461" y="57"/>
                    <a:pt x="403" y="0"/>
                    <a:pt x="332"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ru-RU"/>
            </a:p>
          </p:txBody>
        </p:sp>
        <p:sp>
          <p:nvSpPr>
            <p:cNvPr id="72" name="Oval 8">
              <a:extLst>
                <a:ext uri="{FF2B5EF4-FFF2-40B4-BE49-F238E27FC236}">
                  <a16:creationId xmlns:a16="http://schemas.microsoft.com/office/drawing/2014/main" xmlns="" id="{29F26A10-655D-4C77-8BC6-1357AE315F51}"/>
                </a:ext>
              </a:extLst>
            </p:cNvPr>
            <p:cNvSpPr>
              <a:spLocks noChangeArrowheads="1"/>
            </p:cNvSpPr>
            <p:nvPr/>
          </p:nvSpPr>
          <p:spPr bwMode="auto">
            <a:xfrm>
              <a:off x="1215101" y="2051956"/>
              <a:ext cx="654496" cy="652574"/>
            </a:xfrm>
            <a:prstGeom prst="ellipse">
              <a:avLst/>
            </a:prstGeom>
            <a:solidFill>
              <a:schemeClr val="bg2"/>
            </a:solidFill>
            <a:ln>
              <a:noFill/>
            </a:ln>
          </p:spPr>
          <p:txBody>
            <a:bodyPr vert="horz" wrap="square" lIns="91440" tIns="45720" rIns="91440" bIns="45720" numCol="1" anchor="t" anchorCtr="0" compatLnSpc="1">
              <a:prstTxWarp prst="textNoShape">
                <a:avLst/>
              </a:prstTxWarp>
            </a:bodyPr>
            <a:lstStyle/>
            <a:p>
              <a:endParaRPr lang="ru-RU"/>
            </a:p>
          </p:txBody>
        </p:sp>
        <p:grpSp>
          <p:nvGrpSpPr>
            <p:cNvPr id="73" name="Shape 7784">
              <a:extLst>
                <a:ext uri="{FF2B5EF4-FFF2-40B4-BE49-F238E27FC236}">
                  <a16:creationId xmlns:a16="http://schemas.microsoft.com/office/drawing/2014/main" xmlns="" id="{9B0F71E6-9F79-4DAA-81E0-D556E51D2C53}"/>
                </a:ext>
              </a:extLst>
            </p:cNvPr>
            <p:cNvGrpSpPr/>
            <p:nvPr/>
          </p:nvGrpSpPr>
          <p:grpSpPr>
            <a:xfrm>
              <a:off x="1389773" y="2214880"/>
              <a:ext cx="330464" cy="352116"/>
              <a:chOff x="5538788" y="2417763"/>
              <a:chExt cx="557213" cy="593725"/>
            </a:xfrm>
            <a:solidFill>
              <a:schemeClr val="tx1"/>
            </a:solidFill>
          </p:grpSpPr>
          <p:sp>
            <p:nvSpPr>
              <p:cNvPr id="74" name="Shape 7785">
                <a:extLst>
                  <a:ext uri="{FF2B5EF4-FFF2-40B4-BE49-F238E27FC236}">
                    <a16:creationId xmlns:a16="http://schemas.microsoft.com/office/drawing/2014/main" xmlns="" id="{75055B75-EFCC-49B0-BD4A-8EEA344F24F3}"/>
                  </a:ext>
                </a:extLst>
              </p:cNvPr>
              <p:cNvSpPr/>
              <p:nvPr/>
            </p:nvSpPr>
            <p:spPr>
              <a:xfrm>
                <a:off x="5538788" y="2727325"/>
                <a:ext cx="188913" cy="284162"/>
              </a:xfrm>
              <a:custGeom>
                <a:avLst/>
                <a:gdLst/>
                <a:ahLst/>
                <a:cxnLst/>
                <a:rect l="0" t="0" r="0" b="0"/>
                <a:pathLst>
                  <a:path w="160" h="242" extrusionOk="0">
                    <a:moveTo>
                      <a:pt x="0" y="233"/>
                    </a:moveTo>
                    <a:cubicBezTo>
                      <a:pt x="0" y="238"/>
                      <a:pt x="4" y="242"/>
                      <a:pt x="9" y="242"/>
                    </a:cubicBezTo>
                    <a:cubicBezTo>
                      <a:pt x="151" y="242"/>
                      <a:pt x="151" y="242"/>
                      <a:pt x="151" y="242"/>
                    </a:cubicBezTo>
                    <a:cubicBezTo>
                      <a:pt x="156" y="242"/>
                      <a:pt x="160" y="238"/>
                      <a:pt x="160" y="233"/>
                    </a:cubicBezTo>
                    <a:cubicBezTo>
                      <a:pt x="160" y="0"/>
                      <a:pt x="160" y="0"/>
                      <a:pt x="160" y="0"/>
                    </a:cubicBezTo>
                    <a:cubicBezTo>
                      <a:pt x="0" y="0"/>
                      <a:pt x="0" y="0"/>
                      <a:pt x="0" y="0"/>
                    </a:cubicBezTo>
                    <a:lnTo>
                      <a:pt x="0" y="233"/>
                    </a:lnTo>
                    <a:close/>
                    <a:moveTo>
                      <a:pt x="80" y="227"/>
                    </a:moveTo>
                    <a:cubicBezTo>
                      <a:pt x="71" y="227"/>
                      <a:pt x="63" y="220"/>
                      <a:pt x="63" y="210"/>
                    </a:cubicBezTo>
                    <a:cubicBezTo>
                      <a:pt x="63" y="200"/>
                      <a:pt x="71" y="192"/>
                      <a:pt x="80" y="192"/>
                    </a:cubicBezTo>
                    <a:cubicBezTo>
                      <a:pt x="90" y="192"/>
                      <a:pt x="98" y="200"/>
                      <a:pt x="98" y="210"/>
                    </a:cubicBezTo>
                    <a:cubicBezTo>
                      <a:pt x="98" y="220"/>
                      <a:pt x="90" y="227"/>
                      <a:pt x="80" y="227"/>
                    </a:cubicBezTo>
                    <a:close/>
                    <a:moveTo>
                      <a:pt x="73" y="175"/>
                    </a:moveTo>
                    <a:cubicBezTo>
                      <a:pt x="73" y="171"/>
                      <a:pt x="76" y="167"/>
                      <a:pt x="80" y="167"/>
                    </a:cubicBezTo>
                    <a:cubicBezTo>
                      <a:pt x="85" y="167"/>
                      <a:pt x="88" y="171"/>
                      <a:pt x="88" y="175"/>
                    </a:cubicBezTo>
                    <a:cubicBezTo>
                      <a:pt x="88" y="179"/>
                      <a:pt x="85" y="183"/>
                      <a:pt x="80" y="183"/>
                    </a:cubicBezTo>
                    <a:cubicBezTo>
                      <a:pt x="76" y="183"/>
                      <a:pt x="73" y="179"/>
                      <a:pt x="73" y="175"/>
                    </a:cubicBezTo>
                    <a:close/>
                    <a:moveTo>
                      <a:pt x="29" y="12"/>
                    </a:moveTo>
                    <a:cubicBezTo>
                      <a:pt x="131" y="12"/>
                      <a:pt x="131" y="12"/>
                      <a:pt x="131" y="12"/>
                    </a:cubicBezTo>
                    <a:cubicBezTo>
                      <a:pt x="131" y="33"/>
                      <a:pt x="131" y="33"/>
                      <a:pt x="131" y="33"/>
                    </a:cubicBezTo>
                    <a:cubicBezTo>
                      <a:pt x="29" y="33"/>
                      <a:pt x="29" y="33"/>
                      <a:pt x="29" y="33"/>
                    </a:cubicBezTo>
                    <a:lnTo>
                      <a:pt x="29" y="12"/>
                    </a:lnTo>
                    <a:close/>
                    <a:moveTo>
                      <a:pt x="29" y="43"/>
                    </a:moveTo>
                    <a:cubicBezTo>
                      <a:pt x="131" y="43"/>
                      <a:pt x="131" y="43"/>
                      <a:pt x="131" y="43"/>
                    </a:cubicBezTo>
                    <a:cubicBezTo>
                      <a:pt x="131" y="64"/>
                      <a:pt x="131" y="64"/>
                      <a:pt x="131" y="64"/>
                    </a:cubicBezTo>
                    <a:cubicBezTo>
                      <a:pt x="29" y="64"/>
                      <a:pt x="29" y="64"/>
                      <a:pt x="29" y="64"/>
                    </a:cubicBezTo>
                    <a:lnTo>
                      <a:pt x="29" y="43"/>
                    </a:lnTo>
                    <a:close/>
                    <a:moveTo>
                      <a:pt x="29" y="73"/>
                    </a:moveTo>
                    <a:cubicBezTo>
                      <a:pt x="131" y="73"/>
                      <a:pt x="131" y="73"/>
                      <a:pt x="131" y="73"/>
                    </a:cubicBezTo>
                    <a:cubicBezTo>
                      <a:pt x="131" y="94"/>
                      <a:pt x="131" y="94"/>
                      <a:pt x="131" y="94"/>
                    </a:cubicBezTo>
                    <a:cubicBezTo>
                      <a:pt x="29" y="94"/>
                      <a:pt x="29" y="94"/>
                      <a:pt x="29" y="94"/>
                    </a:cubicBezTo>
                    <a:lnTo>
                      <a:pt x="29" y="73"/>
                    </a:lnTo>
                    <a:close/>
                    <a:moveTo>
                      <a:pt x="29" y="104"/>
                    </a:moveTo>
                    <a:cubicBezTo>
                      <a:pt x="131" y="104"/>
                      <a:pt x="131" y="104"/>
                      <a:pt x="131" y="104"/>
                    </a:cubicBezTo>
                    <a:cubicBezTo>
                      <a:pt x="131" y="125"/>
                      <a:pt x="131" y="125"/>
                      <a:pt x="131" y="125"/>
                    </a:cubicBezTo>
                    <a:cubicBezTo>
                      <a:pt x="29" y="125"/>
                      <a:pt x="29" y="125"/>
                      <a:pt x="29" y="125"/>
                    </a:cubicBezTo>
                    <a:lnTo>
                      <a:pt x="29" y="104"/>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75" name="Shape 7786">
                <a:extLst>
                  <a:ext uri="{FF2B5EF4-FFF2-40B4-BE49-F238E27FC236}">
                    <a16:creationId xmlns:a16="http://schemas.microsoft.com/office/drawing/2014/main" xmlns="" id="{4998B620-368B-443B-B055-86719F414404}"/>
                  </a:ext>
                </a:extLst>
              </p:cNvPr>
              <p:cNvSpPr/>
              <p:nvPr/>
            </p:nvSpPr>
            <p:spPr>
              <a:xfrm>
                <a:off x="5538788" y="2651125"/>
                <a:ext cx="188913" cy="63500"/>
              </a:xfrm>
              <a:custGeom>
                <a:avLst/>
                <a:gdLst/>
                <a:ahLst/>
                <a:cxnLst/>
                <a:rect l="0" t="0" r="0" b="0"/>
                <a:pathLst>
                  <a:path w="160" h="55" extrusionOk="0">
                    <a:moveTo>
                      <a:pt x="151" y="0"/>
                    </a:moveTo>
                    <a:cubicBezTo>
                      <a:pt x="9" y="0"/>
                      <a:pt x="9" y="0"/>
                      <a:pt x="9" y="0"/>
                    </a:cubicBezTo>
                    <a:cubicBezTo>
                      <a:pt x="4" y="0"/>
                      <a:pt x="0" y="4"/>
                      <a:pt x="0" y="9"/>
                    </a:cubicBezTo>
                    <a:cubicBezTo>
                      <a:pt x="0" y="55"/>
                      <a:pt x="0" y="55"/>
                      <a:pt x="0" y="55"/>
                    </a:cubicBezTo>
                    <a:cubicBezTo>
                      <a:pt x="160" y="55"/>
                      <a:pt x="160" y="55"/>
                      <a:pt x="160" y="55"/>
                    </a:cubicBezTo>
                    <a:cubicBezTo>
                      <a:pt x="160" y="9"/>
                      <a:pt x="160" y="9"/>
                      <a:pt x="160" y="9"/>
                    </a:cubicBezTo>
                    <a:cubicBezTo>
                      <a:pt x="160" y="4"/>
                      <a:pt x="156" y="0"/>
                      <a:pt x="151" y="0"/>
                    </a:cubicBezTo>
                    <a:close/>
                    <a:moveTo>
                      <a:pt x="43" y="43"/>
                    </a:moveTo>
                    <a:cubicBezTo>
                      <a:pt x="36" y="43"/>
                      <a:pt x="30" y="37"/>
                      <a:pt x="30" y="30"/>
                    </a:cubicBezTo>
                    <a:cubicBezTo>
                      <a:pt x="30" y="22"/>
                      <a:pt x="36" y="16"/>
                      <a:pt x="43" y="16"/>
                    </a:cubicBezTo>
                    <a:cubicBezTo>
                      <a:pt x="51" y="16"/>
                      <a:pt x="57" y="22"/>
                      <a:pt x="57" y="30"/>
                    </a:cubicBezTo>
                    <a:cubicBezTo>
                      <a:pt x="57" y="37"/>
                      <a:pt x="51" y="43"/>
                      <a:pt x="43" y="43"/>
                    </a:cubicBezTo>
                    <a:close/>
                    <a:moveTo>
                      <a:pt x="131" y="38"/>
                    </a:moveTo>
                    <a:cubicBezTo>
                      <a:pt x="68" y="38"/>
                      <a:pt x="68" y="38"/>
                      <a:pt x="68" y="38"/>
                    </a:cubicBezTo>
                    <a:cubicBezTo>
                      <a:pt x="68" y="22"/>
                      <a:pt x="68" y="22"/>
                      <a:pt x="68" y="22"/>
                    </a:cubicBezTo>
                    <a:cubicBezTo>
                      <a:pt x="131" y="22"/>
                      <a:pt x="131" y="22"/>
                      <a:pt x="131" y="22"/>
                    </a:cubicBezTo>
                    <a:lnTo>
                      <a:pt x="131" y="38"/>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76" name="Shape 7787">
                <a:extLst>
                  <a:ext uri="{FF2B5EF4-FFF2-40B4-BE49-F238E27FC236}">
                    <a16:creationId xmlns:a16="http://schemas.microsoft.com/office/drawing/2014/main" xmlns="" id="{C0965614-960E-4655-8981-19CC7E37C839}"/>
                  </a:ext>
                </a:extLst>
              </p:cNvPr>
              <p:cNvSpPr/>
              <p:nvPr/>
            </p:nvSpPr>
            <p:spPr>
              <a:xfrm>
                <a:off x="6013450" y="2990850"/>
                <a:ext cx="28575" cy="20637"/>
              </a:xfrm>
              <a:custGeom>
                <a:avLst/>
                <a:gdLst/>
                <a:ahLst/>
                <a:cxnLst/>
                <a:rect l="0" t="0" r="0" b="0"/>
                <a:pathLst>
                  <a:path w="24" h="18" extrusionOk="0">
                    <a:moveTo>
                      <a:pt x="1" y="4"/>
                    </a:moveTo>
                    <a:cubicBezTo>
                      <a:pt x="0" y="4"/>
                      <a:pt x="0" y="4"/>
                      <a:pt x="0" y="4"/>
                    </a:cubicBezTo>
                    <a:cubicBezTo>
                      <a:pt x="0" y="18"/>
                      <a:pt x="0" y="18"/>
                      <a:pt x="0" y="18"/>
                    </a:cubicBezTo>
                    <a:cubicBezTo>
                      <a:pt x="1" y="18"/>
                      <a:pt x="1" y="18"/>
                      <a:pt x="1" y="18"/>
                    </a:cubicBezTo>
                    <a:cubicBezTo>
                      <a:pt x="9" y="18"/>
                      <a:pt x="17" y="16"/>
                      <a:pt x="24" y="12"/>
                    </a:cubicBezTo>
                    <a:cubicBezTo>
                      <a:pt x="17" y="0"/>
                      <a:pt x="17" y="0"/>
                      <a:pt x="17" y="0"/>
                    </a:cubicBezTo>
                    <a:cubicBezTo>
                      <a:pt x="12" y="3"/>
                      <a:pt x="6" y="4"/>
                      <a:pt x="1" y="4"/>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77" name="Shape 7788">
                <a:extLst>
                  <a:ext uri="{FF2B5EF4-FFF2-40B4-BE49-F238E27FC236}">
                    <a16:creationId xmlns:a16="http://schemas.microsoft.com/office/drawing/2014/main" xmlns="" id="{1622A607-9E52-4BA5-9876-71ECECB17656}"/>
                  </a:ext>
                </a:extLst>
              </p:cNvPr>
              <p:cNvSpPr/>
              <p:nvPr/>
            </p:nvSpPr>
            <p:spPr>
              <a:xfrm>
                <a:off x="5964238" y="299561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78" name="Shape 7789">
                <a:extLst>
                  <a:ext uri="{FF2B5EF4-FFF2-40B4-BE49-F238E27FC236}">
                    <a16:creationId xmlns:a16="http://schemas.microsoft.com/office/drawing/2014/main" xmlns="" id="{5F811A3B-C542-4C9F-87F8-E0E220DC98A9}"/>
                  </a:ext>
                </a:extLst>
              </p:cNvPr>
              <p:cNvSpPr/>
              <p:nvPr/>
            </p:nvSpPr>
            <p:spPr>
              <a:xfrm>
                <a:off x="5913438" y="2995613"/>
                <a:ext cx="23813"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79" name="Shape 7790">
                <a:extLst>
                  <a:ext uri="{FF2B5EF4-FFF2-40B4-BE49-F238E27FC236}">
                    <a16:creationId xmlns:a16="http://schemas.microsoft.com/office/drawing/2014/main" xmlns="" id="{4616035F-49FC-42CA-903A-C7B51550253A}"/>
                  </a:ext>
                </a:extLst>
              </p:cNvPr>
              <p:cNvSpPr/>
              <p:nvPr/>
            </p:nvSpPr>
            <p:spPr>
              <a:xfrm>
                <a:off x="5862638" y="299561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80" name="Shape 7791">
                <a:extLst>
                  <a:ext uri="{FF2B5EF4-FFF2-40B4-BE49-F238E27FC236}">
                    <a16:creationId xmlns:a16="http://schemas.microsoft.com/office/drawing/2014/main" xmlns="" id="{4C5C7E15-B5DD-4EDC-A1DB-2F7B88426BF4}"/>
                  </a:ext>
                </a:extLst>
              </p:cNvPr>
              <p:cNvSpPr/>
              <p:nvPr/>
            </p:nvSpPr>
            <p:spPr>
              <a:xfrm>
                <a:off x="5807075" y="2995613"/>
                <a:ext cx="23813"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81" name="Shape 7792">
                <a:extLst>
                  <a:ext uri="{FF2B5EF4-FFF2-40B4-BE49-F238E27FC236}">
                    <a16:creationId xmlns:a16="http://schemas.microsoft.com/office/drawing/2014/main" xmlns="" id="{360F3639-EA82-4660-8A93-7FD6869AC770}"/>
                  </a:ext>
                </a:extLst>
              </p:cNvPr>
              <p:cNvSpPr/>
              <p:nvPr/>
            </p:nvSpPr>
            <p:spPr>
              <a:xfrm>
                <a:off x="5753100" y="299561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82" name="Shape 7793">
                <a:extLst>
                  <a:ext uri="{FF2B5EF4-FFF2-40B4-BE49-F238E27FC236}">
                    <a16:creationId xmlns:a16="http://schemas.microsoft.com/office/drawing/2014/main" xmlns="" id="{F9BDB9C5-2AE3-4455-910B-33B8B4574EF7}"/>
                  </a:ext>
                </a:extLst>
              </p:cNvPr>
              <p:cNvSpPr/>
              <p:nvPr/>
            </p:nvSpPr>
            <p:spPr>
              <a:xfrm>
                <a:off x="6048375" y="2955925"/>
                <a:ext cx="22225" cy="28575"/>
              </a:xfrm>
              <a:custGeom>
                <a:avLst/>
                <a:gdLst/>
                <a:ahLst/>
                <a:cxnLst/>
                <a:rect l="0" t="0" r="0" b="0"/>
                <a:pathLst>
                  <a:path w="19" h="24" extrusionOk="0">
                    <a:moveTo>
                      <a:pt x="0" y="17"/>
                    </a:moveTo>
                    <a:cubicBezTo>
                      <a:pt x="12" y="24"/>
                      <a:pt x="12" y="24"/>
                      <a:pt x="12" y="24"/>
                    </a:cubicBezTo>
                    <a:cubicBezTo>
                      <a:pt x="17" y="17"/>
                      <a:pt x="19" y="9"/>
                      <a:pt x="19" y="0"/>
                    </a:cubicBezTo>
                    <a:cubicBezTo>
                      <a:pt x="6" y="0"/>
                      <a:pt x="6" y="0"/>
                      <a:pt x="6" y="0"/>
                    </a:cubicBezTo>
                    <a:cubicBezTo>
                      <a:pt x="5" y="6"/>
                      <a:pt x="3" y="12"/>
                      <a:pt x="0" y="17"/>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83" name="Shape 7794">
                <a:extLst>
                  <a:ext uri="{FF2B5EF4-FFF2-40B4-BE49-F238E27FC236}">
                    <a16:creationId xmlns:a16="http://schemas.microsoft.com/office/drawing/2014/main" xmlns="" id="{4D85F88C-8615-4B84-A3D5-2F76E1F45E30}"/>
                  </a:ext>
                </a:extLst>
              </p:cNvPr>
              <p:cNvSpPr/>
              <p:nvPr/>
            </p:nvSpPr>
            <p:spPr>
              <a:xfrm>
                <a:off x="6056313" y="2906713"/>
                <a:ext cx="15875" cy="23812"/>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84" name="Shape 7795">
                <a:extLst>
                  <a:ext uri="{FF2B5EF4-FFF2-40B4-BE49-F238E27FC236}">
                    <a16:creationId xmlns:a16="http://schemas.microsoft.com/office/drawing/2014/main" xmlns="" id="{024510CE-19C8-4A64-9931-6DAE2AC90221}"/>
                  </a:ext>
                </a:extLst>
              </p:cNvPr>
              <p:cNvSpPr/>
              <p:nvPr/>
            </p:nvSpPr>
            <p:spPr>
              <a:xfrm>
                <a:off x="6030913" y="2820988"/>
                <a:ext cx="65088" cy="57150"/>
              </a:xfrm>
              <a:custGeom>
                <a:avLst/>
                <a:gdLst/>
                <a:ahLst/>
                <a:cxnLst/>
                <a:rect l="0" t="0" r="0" b="0"/>
                <a:pathLst>
                  <a:path w="41" h="36" extrusionOk="0">
                    <a:moveTo>
                      <a:pt x="0" y="36"/>
                    </a:moveTo>
                    <a:lnTo>
                      <a:pt x="41" y="36"/>
                    </a:lnTo>
                    <a:lnTo>
                      <a:pt x="21" y="0"/>
                    </a:lnTo>
                    <a:lnTo>
                      <a:pt x="0" y="36"/>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85" name="Shape 7796">
                <a:extLst>
                  <a:ext uri="{FF2B5EF4-FFF2-40B4-BE49-F238E27FC236}">
                    <a16:creationId xmlns:a16="http://schemas.microsoft.com/office/drawing/2014/main" xmlns="" id="{D9B602E5-3D77-442C-88F9-1864E34D07E6}"/>
                  </a:ext>
                </a:extLst>
              </p:cNvPr>
              <p:cNvSpPr/>
              <p:nvPr/>
            </p:nvSpPr>
            <p:spPr>
              <a:xfrm>
                <a:off x="5908675" y="2495550"/>
                <a:ext cx="187325" cy="282575"/>
              </a:xfrm>
              <a:custGeom>
                <a:avLst/>
                <a:gdLst/>
                <a:ahLst/>
                <a:cxnLst/>
                <a:rect l="0" t="0" r="0" b="0"/>
                <a:pathLst>
                  <a:path w="160" h="242" extrusionOk="0">
                    <a:moveTo>
                      <a:pt x="0" y="233"/>
                    </a:moveTo>
                    <a:cubicBezTo>
                      <a:pt x="0" y="238"/>
                      <a:pt x="4" y="242"/>
                      <a:pt x="9" y="242"/>
                    </a:cubicBezTo>
                    <a:cubicBezTo>
                      <a:pt x="151" y="242"/>
                      <a:pt x="151" y="242"/>
                      <a:pt x="151" y="242"/>
                    </a:cubicBezTo>
                    <a:cubicBezTo>
                      <a:pt x="156" y="242"/>
                      <a:pt x="160" y="238"/>
                      <a:pt x="160" y="233"/>
                    </a:cubicBezTo>
                    <a:cubicBezTo>
                      <a:pt x="160" y="0"/>
                      <a:pt x="160" y="0"/>
                      <a:pt x="160" y="0"/>
                    </a:cubicBezTo>
                    <a:cubicBezTo>
                      <a:pt x="0" y="0"/>
                      <a:pt x="0" y="0"/>
                      <a:pt x="0" y="0"/>
                    </a:cubicBezTo>
                    <a:lnTo>
                      <a:pt x="0" y="233"/>
                    </a:lnTo>
                    <a:close/>
                    <a:moveTo>
                      <a:pt x="80" y="227"/>
                    </a:moveTo>
                    <a:cubicBezTo>
                      <a:pt x="71" y="227"/>
                      <a:pt x="63" y="220"/>
                      <a:pt x="63" y="210"/>
                    </a:cubicBezTo>
                    <a:cubicBezTo>
                      <a:pt x="63" y="200"/>
                      <a:pt x="71" y="192"/>
                      <a:pt x="80" y="192"/>
                    </a:cubicBezTo>
                    <a:cubicBezTo>
                      <a:pt x="90" y="192"/>
                      <a:pt x="98" y="200"/>
                      <a:pt x="98" y="210"/>
                    </a:cubicBezTo>
                    <a:cubicBezTo>
                      <a:pt x="98" y="220"/>
                      <a:pt x="90" y="227"/>
                      <a:pt x="80" y="227"/>
                    </a:cubicBezTo>
                    <a:close/>
                    <a:moveTo>
                      <a:pt x="72" y="175"/>
                    </a:moveTo>
                    <a:cubicBezTo>
                      <a:pt x="72" y="171"/>
                      <a:pt x="76" y="167"/>
                      <a:pt x="80" y="167"/>
                    </a:cubicBezTo>
                    <a:cubicBezTo>
                      <a:pt x="85" y="167"/>
                      <a:pt x="88" y="171"/>
                      <a:pt x="88" y="175"/>
                    </a:cubicBezTo>
                    <a:cubicBezTo>
                      <a:pt x="88" y="179"/>
                      <a:pt x="85" y="183"/>
                      <a:pt x="80" y="183"/>
                    </a:cubicBezTo>
                    <a:cubicBezTo>
                      <a:pt x="76" y="183"/>
                      <a:pt x="72" y="179"/>
                      <a:pt x="72" y="175"/>
                    </a:cubicBezTo>
                    <a:close/>
                    <a:moveTo>
                      <a:pt x="29" y="12"/>
                    </a:moveTo>
                    <a:cubicBezTo>
                      <a:pt x="131" y="12"/>
                      <a:pt x="131" y="12"/>
                      <a:pt x="131" y="12"/>
                    </a:cubicBezTo>
                    <a:cubicBezTo>
                      <a:pt x="131" y="33"/>
                      <a:pt x="131" y="33"/>
                      <a:pt x="131" y="33"/>
                    </a:cubicBezTo>
                    <a:cubicBezTo>
                      <a:pt x="29" y="33"/>
                      <a:pt x="29" y="33"/>
                      <a:pt x="29" y="33"/>
                    </a:cubicBezTo>
                    <a:lnTo>
                      <a:pt x="29" y="12"/>
                    </a:lnTo>
                    <a:close/>
                    <a:moveTo>
                      <a:pt x="29" y="43"/>
                    </a:moveTo>
                    <a:cubicBezTo>
                      <a:pt x="131" y="43"/>
                      <a:pt x="131" y="43"/>
                      <a:pt x="131" y="43"/>
                    </a:cubicBezTo>
                    <a:cubicBezTo>
                      <a:pt x="131" y="64"/>
                      <a:pt x="131" y="64"/>
                      <a:pt x="131" y="64"/>
                    </a:cubicBezTo>
                    <a:cubicBezTo>
                      <a:pt x="29" y="64"/>
                      <a:pt x="29" y="64"/>
                      <a:pt x="29" y="64"/>
                    </a:cubicBezTo>
                    <a:lnTo>
                      <a:pt x="29" y="43"/>
                    </a:lnTo>
                    <a:close/>
                    <a:moveTo>
                      <a:pt x="29" y="73"/>
                    </a:moveTo>
                    <a:cubicBezTo>
                      <a:pt x="131" y="73"/>
                      <a:pt x="131" y="73"/>
                      <a:pt x="131" y="73"/>
                    </a:cubicBezTo>
                    <a:cubicBezTo>
                      <a:pt x="131" y="94"/>
                      <a:pt x="131" y="94"/>
                      <a:pt x="131" y="94"/>
                    </a:cubicBezTo>
                    <a:cubicBezTo>
                      <a:pt x="29" y="94"/>
                      <a:pt x="29" y="94"/>
                      <a:pt x="29" y="94"/>
                    </a:cubicBezTo>
                    <a:lnTo>
                      <a:pt x="29" y="73"/>
                    </a:lnTo>
                    <a:close/>
                    <a:moveTo>
                      <a:pt x="29" y="104"/>
                    </a:moveTo>
                    <a:cubicBezTo>
                      <a:pt x="131" y="104"/>
                      <a:pt x="131" y="104"/>
                      <a:pt x="131" y="104"/>
                    </a:cubicBezTo>
                    <a:cubicBezTo>
                      <a:pt x="131" y="125"/>
                      <a:pt x="131" y="125"/>
                      <a:pt x="131" y="125"/>
                    </a:cubicBezTo>
                    <a:cubicBezTo>
                      <a:pt x="29" y="125"/>
                      <a:pt x="29" y="125"/>
                      <a:pt x="29" y="125"/>
                    </a:cubicBezTo>
                    <a:lnTo>
                      <a:pt x="29" y="104"/>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86" name="Shape 7797">
                <a:extLst>
                  <a:ext uri="{FF2B5EF4-FFF2-40B4-BE49-F238E27FC236}">
                    <a16:creationId xmlns:a16="http://schemas.microsoft.com/office/drawing/2014/main" xmlns="" id="{B9921951-0868-4EE7-964C-EA509AED6BF7}"/>
                  </a:ext>
                </a:extLst>
              </p:cNvPr>
              <p:cNvSpPr/>
              <p:nvPr/>
            </p:nvSpPr>
            <p:spPr>
              <a:xfrm>
                <a:off x="5908675" y="2417763"/>
                <a:ext cx="187325" cy="65087"/>
              </a:xfrm>
              <a:custGeom>
                <a:avLst/>
                <a:gdLst/>
                <a:ahLst/>
                <a:cxnLst/>
                <a:rect l="0" t="0" r="0" b="0"/>
                <a:pathLst>
                  <a:path w="160" h="55" extrusionOk="0">
                    <a:moveTo>
                      <a:pt x="151" y="0"/>
                    </a:moveTo>
                    <a:cubicBezTo>
                      <a:pt x="9" y="0"/>
                      <a:pt x="9" y="0"/>
                      <a:pt x="9" y="0"/>
                    </a:cubicBezTo>
                    <a:cubicBezTo>
                      <a:pt x="4" y="0"/>
                      <a:pt x="0" y="4"/>
                      <a:pt x="0" y="9"/>
                    </a:cubicBezTo>
                    <a:cubicBezTo>
                      <a:pt x="0" y="55"/>
                      <a:pt x="0" y="55"/>
                      <a:pt x="0" y="55"/>
                    </a:cubicBezTo>
                    <a:cubicBezTo>
                      <a:pt x="160" y="55"/>
                      <a:pt x="160" y="55"/>
                      <a:pt x="160" y="55"/>
                    </a:cubicBezTo>
                    <a:cubicBezTo>
                      <a:pt x="160" y="9"/>
                      <a:pt x="160" y="9"/>
                      <a:pt x="160" y="9"/>
                    </a:cubicBezTo>
                    <a:cubicBezTo>
                      <a:pt x="160" y="4"/>
                      <a:pt x="156" y="0"/>
                      <a:pt x="151" y="0"/>
                    </a:cubicBezTo>
                    <a:close/>
                    <a:moveTo>
                      <a:pt x="93" y="38"/>
                    </a:moveTo>
                    <a:cubicBezTo>
                      <a:pt x="29" y="38"/>
                      <a:pt x="29" y="38"/>
                      <a:pt x="29" y="38"/>
                    </a:cubicBezTo>
                    <a:cubicBezTo>
                      <a:pt x="29" y="22"/>
                      <a:pt x="29" y="22"/>
                      <a:pt x="29" y="22"/>
                    </a:cubicBezTo>
                    <a:cubicBezTo>
                      <a:pt x="93" y="22"/>
                      <a:pt x="93" y="22"/>
                      <a:pt x="93" y="22"/>
                    </a:cubicBezTo>
                    <a:lnTo>
                      <a:pt x="93" y="38"/>
                    </a:lnTo>
                    <a:close/>
                    <a:moveTo>
                      <a:pt x="117" y="43"/>
                    </a:moveTo>
                    <a:cubicBezTo>
                      <a:pt x="110" y="43"/>
                      <a:pt x="104" y="37"/>
                      <a:pt x="104" y="30"/>
                    </a:cubicBezTo>
                    <a:cubicBezTo>
                      <a:pt x="104" y="22"/>
                      <a:pt x="110" y="16"/>
                      <a:pt x="117" y="16"/>
                    </a:cubicBezTo>
                    <a:cubicBezTo>
                      <a:pt x="125" y="16"/>
                      <a:pt x="131" y="22"/>
                      <a:pt x="131" y="30"/>
                    </a:cubicBezTo>
                    <a:cubicBezTo>
                      <a:pt x="131" y="37"/>
                      <a:pt x="125" y="43"/>
                      <a:pt x="117" y="43"/>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87" name="Shape 7798">
                <a:extLst>
                  <a:ext uri="{FF2B5EF4-FFF2-40B4-BE49-F238E27FC236}">
                    <a16:creationId xmlns:a16="http://schemas.microsoft.com/office/drawing/2014/main" xmlns="" id="{56D5D84E-4674-40B4-B10C-7D31F9CFCED4}"/>
                  </a:ext>
                </a:extLst>
              </p:cNvPr>
              <p:cNvSpPr/>
              <p:nvPr/>
            </p:nvSpPr>
            <p:spPr>
              <a:xfrm>
                <a:off x="5592763" y="2417763"/>
                <a:ext cx="30163" cy="20637"/>
              </a:xfrm>
              <a:custGeom>
                <a:avLst/>
                <a:gdLst/>
                <a:ahLst/>
                <a:cxnLst/>
                <a:rect l="0" t="0" r="0" b="0"/>
                <a:pathLst>
                  <a:path w="25" h="18" extrusionOk="0">
                    <a:moveTo>
                      <a:pt x="24" y="14"/>
                    </a:moveTo>
                    <a:cubicBezTo>
                      <a:pt x="25" y="14"/>
                      <a:pt x="25" y="14"/>
                      <a:pt x="25" y="14"/>
                    </a:cubicBezTo>
                    <a:cubicBezTo>
                      <a:pt x="25" y="0"/>
                      <a:pt x="25" y="0"/>
                      <a:pt x="25" y="0"/>
                    </a:cubicBezTo>
                    <a:cubicBezTo>
                      <a:pt x="24" y="0"/>
                      <a:pt x="24" y="0"/>
                      <a:pt x="24" y="0"/>
                    </a:cubicBezTo>
                    <a:cubicBezTo>
                      <a:pt x="16" y="0"/>
                      <a:pt x="8" y="2"/>
                      <a:pt x="0" y="6"/>
                    </a:cubicBezTo>
                    <a:cubicBezTo>
                      <a:pt x="7" y="18"/>
                      <a:pt x="7" y="18"/>
                      <a:pt x="7" y="18"/>
                    </a:cubicBezTo>
                    <a:cubicBezTo>
                      <a:pt x="12" y="15"/>
                      <a:pt x="18" y="14"/>
                      <a:pt x="24" y="14"/>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88" name="Shape 7799">
                <a:extLst>
                  <a:ext uri="{FF2B5EF4-FFF2-40B4-BE49-F238E27FC236}">
                    <a16:creationId xmlns:a16="http://schemas.microsoft.com/office/drawing/2014/main" xmlns="" id="{EE8DCC50-45B7-4006-B1CD-7EF51C5C293C}"/>
                  </a:ext>
                </a:extLst>
              </p:cNvPr>
              <p:cNvSpPr/>
              <p:nvPr/>
            </p:nvSpPr>
            <p:spPr>
              <a:xfrm>
                <a:off x="5646738" y="2417763"/>
                <a:ext cx="26988"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89" name="Shape 7800">
                <a:extLst>
                  <a:ext uri="{FF2B5EF4-FFF2-40B4-BE49-F238E27FC236}">
                    <a16:creationId xmlns:a16="http://schemas.microsoft.com/office/drawing/2014/main" xmlns="" id="{6200B3F1-8358-447A-8D26-6296D5A201E8}"/>
                  </a:ext>
                </a:extLst>
              </p:cNvPr>
              <p:cNvSpPr/>
              <p:nvPr/>
            </p:nvSpPr>
            <p:spPr>
              <a:xfrm>
                <a:off x="5697538" y="241776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90" name="Shape 7801">
                <a:extLst>
                  <a:ext uri="{FF2B5EF4-FFF2-40B4-BE49-F238E27FC236}">
                    <a16:creationId xmlns:a16="http://schemas.microsoft.com/office/drawing/2014/main" xmlns="" id="{132E2040-F712-4F57-8849-D97E2D2B728F}"/>
                  </a:ext>
                </a:extLst>
              </p:cNvPr>
              <p:cNvSpPr/>
              <p:nvPr/>
            </p:nvSpPr>
            <p:spPr>
              <a:xfrm>
                <a:off x="5748338" y="241776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91" name="Shape 7802">
                <a:extLst>
                  <a:ext uri="{FF2B5EF4-FFF2-40B4-BE49-F238E27FC236}">
                    <a16:creationId xmlns:a16="http://schemas.microsoft.com/office/drawing/2014/main" xmlns="" id="{91072B3A-C50E-46DC-A042-12239F5D4520}"/>
                  </a:ext>
                </a:extLst>
              </p:cNvPr>
              <p:cNvSpPr/>
              <p:nvPr/>
            </p:nvSpPr>
            <p:spPr>
              <a:xfrm>
                <a:off x="5799138" y="241776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92" name="Shape 7803">
                <a:extLst>
                  <a:ext uri="{FF2B5EF4-FFF2-40B4-BE49-F238E27FC236}">
                    <a16:creationId xmlns:a16="http://schemas.microsoft.com/office/drawing/2014/main" xmlns="" id="{EBDCD9A5-B0E3-4893-8A83-7A230CB7036F}"/>
                  </a:ext>
                </a:extLst>
              </p:cNvPr>
              <p:cNvSpPr/>
              <p:nvPr/>
            </p:nvSpPr>
            <p:spPr>
              <a:xfrm>
                <a:off x="5857875" y="241776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93" name="Shape 7804">
                <a:extLst>
                  <a:ext uri="{FF2B5EF4-FFF2-40B4-BE49-F238E27FC236}">
                    <a16:creationId xmlns:a16="http://schemas.microsoft.com/office/drawing/2014/main" xmlns="" id="{1670FDEC-1828-43B6-A59F-DD6C64E49A28}"/>
                  </a:ext>
                </a:extLst>
              </p:cNvPr>
              <p:cNvSpPr/>
              <p:nvPr/>
            </p:nvSpPr>
            <p:spPr>
              <a:xfrm>
                <a:off x="5564188" y="2444750"/>
                <a:ext cx="22225" cy="28575"/>
              </a:xfrm>
              <a:custGeom>
                <a:avLst/>
                <a:gdLst/>
                <a:ahLst/>
                <a:cxnLst/>
                <a:rect l="0" t="0" r="0" b="0"/>
                <a:pathLst>
                  <a:path w="19" h="24" extrusionOk="0">
                    <a:moveTo>
                      <a:pt x="19" y="7"/>
                    </a:moveTo>
                    <a:cubicBezTo>
                      <a:pt x="7" y="0"/>
                      <a:pt x="7" y="0"/>
                      <a:pt x="7" y="0"/>
                    </a:cubicBezTo>
                    <a:cubicBezTo>
                      <a:pt x="3" y="7"/>
                      <a:pt x="0" y="15"/>
                      <a:pt x="0" y="23"/>
                    </a:cubicBezTo>
                    <a:cubicBezTo>
                      <a:pt x="14" y="24"/>
                      <a:pt x="14" y="24"/>
                      <a:pt x="14" y="24"/>
                    </a:cubicBezTo>
                    <a:cubicBezTo>
                      <a:pt x="14" y="18"/>
                      <a:pt x="16" y="12"/>
                      <a:pt x="19" y="7"/>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94" name="Shape 7805">
                <a:extLst>
                  <a:ext uri="{FF2B5EF4-FFF2-40B4-BE49-F238E27FC236}">
                    <a16:creationId xmlns:a16="http://schemas.microsoft.com/office/drawing/2014/main" xmlns="" id="{30345421-D6FB-43B2-8892-CEEB1034D7D4}"/>
                  </a:ext>
                </a:extLst>
              </p:cNvPr>
              <p:cNvSpPr/>
              <p:nvPr/>
            </p:nvSpPr>
            <p:spPr>
              <a:xfrm>
                <a:off x="5564188" y="2497138"/>
                <a:ext cx="15875" cy="25400"/>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95" name="Shape 7806">
                <a:extLst>
                  <a:ext uri="{FF2B5EF4-FFF2-40B4-BE49-F238E27FC236}">
                    <a16:creationId xmlns:a16="http://schemas.microsoft.com/office/drawing/2014/main" xmlns="" id="{EC408B58-1969-4F21-877D-6D3613EDD8FA}"/>
                  </a:ext>
                </a:extLst>
              </p:cNvPr>
              <p:cNvSpPr/>
              <p:nvPr/>
            </p:nvSpPr>
            <p:spPr>
              <a:xfrm>
                <a:off x="5538788" y="2551113"/>
                <a:ext cx="66675" cy="55562"/>
              </a:xfrm>
              <a:custGeom>
                <a:avLst/>
                <a:gdLst/>
                <a:ahLst/>
                <a:cxnLst/>
                <a:rect l="0" t="0" r="0" b="0"/>
                <a:pathLst>
                  <a:path w="42" h="35" extrusionOk="0">
                    <a:moveTo>
                      <a:pt x="42" y="0"/>
                    </a:moveTo>
                    <a:lnTo>
                      <a:pt x="0" y="0"/>
                    </a:lnTo>
                    <a:lnTo>
                      <a:pt x="21" y="35"/>
                    </a:lnTo>
                    <a:lnTo>
                      <a:pt x="42" y="0"/>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grpSp>
      </p:grpSp>
      <p:sp>
        <p:nvSpPr>
          <p:cNvPr id="37" name="Content Placeholder 2">
            <a:extLst>
              <a:ext uri="{FF2B5EF4-FFF2-40B4-BE49-F238E27FC236}">
                <a16:creationId xmlns:a16="http://schemas.microsoft.com/office/drawing/2014/main" xmlns="" id="{C9EA185E-ADA5-4A49-90AF-D823B54E096B}"/>
              </a:ext>
            </a:extLst>
          </p:cNvPr>
          <p:cNvSpPr txBox="1">
            <a:spLocks/>
          </p:cNvSpPr>
          <p:nvPr/>
        </p:nvSpPr>
        <p:spPr>
          <a:xfrm>
            <a:off x="678883" y="2407339"/>
            <a:ext cx="10834234" cy="876039"/>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Nunito"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Nunito"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Nunito"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400"/>
              </a:spcBef>
              <a:spcAft>
                <a:spcPts val="400"/>
              </a:spcAft>
              <a:buNone/>
            </a:pPr>
            <a:endParaRPr lang="en-US" sz="2200" dirty="0">
              <a:latin typeface="+mn-lt"/>
            </a:endParaRPr>
          </a:p>
        </p:txBody>
      </p:sp>
      <p:sp>
        <p:nvSpPr>
          <p:cNvPr id="33" name="Content Placeholder 2">
            <a:extLst>
              <a:ext uri="{FF2B5EF4-FFF2-40B4-BE49-F238E27FC236}">
                <a16:creationId xmlns:a16="http://schemas.microsoft.com/office/drawing/2014/main" xmlns="" id="{ECA6571A-0147-4959-87A0-BBEEA0F666AD}"/>
              </a:ext>
            </a:extLst>
          </p:cNvPr>
          <p:cNvSpPr txBox="1">
            <a:spLocks/>
          </p:cNvSpPr>
          <p:nvPr/>
        </p:nvSpPr>
        <p:spPr>
          <a:xfrm>
            <a:off x="612376" y="2470537"/>
            <a:ext cx="10834234" cy="876039"/>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Nunito"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Nunito"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Nunito"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400"/>
              </a:spcBef>
              <a:spcAft>
                <a:spcPts val="400"/>
              </a:spcAft>
              <a:buFont typeface="Wingdings" panose="05000000000000000000" pitchFamily="2" charset="2"/>
              <a:buChar char="Ø"/>
            </a:pPr>
            <a:r>
              <a:rPr lang="en-US" sz="2200" dirty="0">
                <a:latin typeface="+mn-lt"/>
              </a:rPr>
              <a:t>It is used in marketing for content creation by translating textual descriptions into compelling video narratives. </a:t>
            </a:r>
          </a:p>
          <a:p>
            <a:pPr>
              <a:lnSpc>
                <a:spcPct val="100000"/>
              </a:lnSpc>
              <a:spcBef>
                <a:spcPts val="400"/>
              </a:spcBef>
              <a:spcAft>
                <a:spcPts val="400"/>
              </a:spcAft>
              <a:buFont typeface="Wingdings" panose="05000000000000000000" pitchFamily="2" charset="2"/>
              <a:buChar char="Ø"/>
            </a:pPr>
            <a:r>
              <a:rPr lang="en-US" sz="2200" dirty="0">
                <a:latin typeface="+mn-lt"/>
              </a:rPr>
              <a:t>It is used in education to facilitate dynamic visual learning experiences, transforming written materials into engaging video lessons. </a:t>
            </a:r>
          </a:p>
          <a:p>
            <a:pPr>
              <a:lnSpc>
                <a:spcPct val="100000"/>
              </a:lnSpc>
              <a:spcBef>
                <a:spcPts val="400"/>
              </a:spcBef>
              <a:spcAft>
                <a:spcPts val="400"/>
              </a:spcAft>
              <a:buFont typeface="Wingdings" panose="05000000000000000000" pitchFamily="2" charset="2"/>
              <a:buChar char="Ø"/>
            </a:pPr>
            <a:r>
              <a:rPr lang="en-US" sz="2200" dirty="0">
                <a:latin typeface="+mn-lt"/>
              </a:rPr>
              <a:t>In social media, it is used to streamline content creation by turning written text into eye-catching videos, enriching posts and increasing user interaction. </a:t>
            </a:r>
          </a:p>
          <a:p>
            <a:pPr marL="0" indent="0">
              <a:lnSpc>
                <a:spcPct val="100000"/>
              </a:lnSpc>
              <a:spcBef>
                <a:spcPts val="400"/>
              </a:spcBef>
              <a:spcAft>
                <a:spcPts val="400"/>
              </a:spcAft>
              <a:buNone/>
            </a:pPr>
            <a:r>
              <a:rPr lang="en-US" sz="2200" dirty="0" err="1">
                <a:latin typeface="+mn-lt"/>
              </a:rPr>
              <a:t>Heygen</a:t>
            </a:r>
            <a:r>
              <a:rPr lang="en-US" sz="2200" dirty="0">
                <a:latin typeface="+mn-lt"/>
              </a:rPr>
              <a:t> is one of the most popular AI tools making use of text-to-video language models. </a:t>
            </a:r>
            <a:r>
              <a:rPr lang="en-US" sz="2200" dirty="0" err="1">
                <a:latin typeface="+mn-lt"/>
              </a:rPr>
              <a:t>Heygen</a:t>
            </a:r>
            <a:r>
              <a:rPr lang="en-US" sz="2200" dirty="0">
                <a:latin typeface="+mn-lt"/>
              </a:rPr>
              <a:t> enables the creation of realistic videos using artificial intelligence, featuring computer-generated avatars that can mimic human-like expressions and gestures.</a:t>
            </a:r>
          </a:p>
          <a:p>
            <a:pPr marL="0" indent="0">
              <a:lnSpc>
                <a:spcPct val="100000"/>
              </a:lnSpc>
              <a:spcBef>
                <a:spcPts val="400"/>
              </a:spcBef>
              <a:spcAft>
                <a:spcPts val="400"/>
              </a:spcAft>
              <a:buNone/>
            </a:pPr>
            <a:endParaRPr lang="en-US" sz="2200" dirty="0">
              <a:latin typeface="+mn-lt"/>
            </a:endParaRPr>
          </a:p>
        </p:txBody>
      </p:sp>
    </p:spTree>
    <p:extLst>
      <p:ext uri="{BB962C8B-B14F-4D97-AF65-F5344CB8AC3E}">
        <p14:creationId xmlns:p14="http://schemas.microsoft.com/office/powerpoint/2010/main" val="30793243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C5BA2E58-FEC9-D54D-ACC0-E7CEEF5F42E4}"/>
              </a:ext>
            </a:extLst>
          </p:cNvPr>
          <p:cNvSpPr>
            <a:spLocks noGrp="1"/>
          </p:cNvSpPr>
          <p:nvPr>
            <p:ph type="title"/>
          </p:nvPr>
        </p:nvSpPr>
        <p:spPr>
          <a:xfrm>
            <a:off x="678884" y="603666"/>
            <a:ext cx="10834234" cy="612775"/>
          </a:xfrm>
        </p:spPr>
        <p:txBody>
          <a:bodyPr>
            <a:normAutofit/>
          </a:bodyPr>
          <a:lstStyle/>
          <a:p>
            <a:r>
              <a:rPr lang="en-US" dirty="0">
                <a:effectLst/>
                <a:latin typeface="Times New Roman" panose="02020603050405020304" pitchFamily="18" charset="0"/>
                <a:ea typeface="Calibri" panose="020F0502020204030204" pitchFamily="34" charset="0"/>
              </a:rPr>
              <a:t>AI and Microsoft Office 365 tools</a:t>
            </a:r>
            <a:endParaRPr lang="en-US" dirty="0"/>
          </a:p>
        </p:txBody>
      </p:sp>
      <p:grpSp>
        <p:nvGrpSpPr>
          <p:cNvPr id="6" name="Group 5">
            <a:extLst>
              <a:ext uri="{FF2B5EF4-FFF2-40B4-BE49-F238E27FC236}">
                <a16:creationId xmlns:a16="http://schemas.microsoft.com/office/drawing/2014/main" xmlns="" id="{F5412151-9BFD-4B8D-ADB1-88C4166F9075}"/>
              </a:ext>
            </a:extLst>
          </p:cNvPr>
          <p:cNvGrpSpPr/>
          <p:nvPr/>
        </p:nvGrpSpPr>
        <p:grpSpPr>
          <a:xfrm>
            <a:off x="554748" y="1230563"/>
            <a:ext cx="10958370" cy="2251614"/>
            <a:chOff x="669953" y="1659835"/>
            <a:chExt cx="10958370" cy="2251614"/>
          </a:xfrm>
        </p:grpSpPr>
        <p:sp>
          <p:nvSpPr>
            <p:cNvPr id="7" name="Freeform 6">
              <a:extLst>
                <a:ext uri="{FF2B5EF4-FFF2-40B4-BE49-F238E27FC236}">
                  <a16:creationId xmlns:a16="http://schemas.microsoft.com/office/drawing/2014/main" xmlns="" id="{B683487C-3716-4D33-8531-F930D0C8C868}"/>
                </a:ext>
              </a:extLst>
            </p:cNvPr>
            <p:cNvSpPr>
              <a:spLocks/>
            </p:cNvSpPr>
            <p:nvPr/>
          </p:nvSpPr>
          <p:spPr bwMode="auto">
            <a:xfrm>
              <a:off x="776848" y="1680017"/>
              <a:ext cx="373861" cy="274869"/>
            </a:xfrm>
            <a:custGeom>
              <a:avLst/>
              <a:gdLst>
                <a:gd name="T0" fmla="*/ 81 w 162"/>
                <a:gd name="T1" fmla="*/ 0 h 119"/>
                <a:gd name="T2" fmla="*/ 0 w 162"/>
                <a:gd name="T3" fmla="*/ 119 h 119"/>
                <a:gd name="T4" fmla="*/ 162 w 162"/>
                <a:gd name="T5" fmla="*/ 119 h 119"/>
                <a:gd name="T6" fmla="*/ 81 w 162"/>
                <a:gd name="T7" fmla="*/ 0 h 119"/>
              </a:gdLst>
              <a:ahLst/>
              <a:cxnLst>
                <a:cxn ang="0">
                  <a:pos x="T0" y="T1"/>
                </a:cxn>
                <a:cxn ang="0">
                  <a:pos x="T2" y="T3"/>
                </a:cxn>
                <a:cxn ang="0">
                  <a:pos x="T4" y="T5"/>
                </a:cxn>
                <a:cxn ang="0">
                  <a:pos x="T6" y="T7"/>
                </a:cxn>
              </a:cxnLst>
              <a:rect l="0" t="0" r="r" b="b"/>
              <a:pathLst>
                <a:path w="162" h="119">
                  <a:moveTo>
                    <a:pt x="81" y="0"/>
                  </a:moveTo>
                  <a:cubicBezTo>
                    <a:pt x="34" y="18"/>
                    <a:pt x="0" y="65"/>
                    <a:pt x="0" y="119"/>
                  </a:cubicBezTo>
                  <a:cubicBezTo>
                    <a:pt x="162" y="119"/>
                    <a:pt x="162" y="119"/>
                    <a:pt x="162" y="119"/>
                  </a:cubicBezTo>
                  <a:cubicBezTo>
                    <a:pt x="162" y="65"/>
                    <a:pt x="129" y="19"/>
                    <a:pt x="81" y="0"/>
                  </a:cubicBez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ru-RU"/>
            </a:p>
          </p:txBody>
        </p:sp>
        <p:sp>
          <p:nvSpPr>
            <p:cNvPr id="8" name="Rectangle: Rounded Corners 7">
              <a:extLst>
                <a:ext uri="{FF2B5EF4-FFF2-40B4-BE49-F238E27FC236}">
                  <a16:creationId xmlns:a16="http://schemas.microsoft.com/office/drawing/2014/main" xmlns="" id="{A9D93FDA-339F-4FCA-949B-02D28244A466}"/>
                </a:ext>
              </a:extLst>
            </p:cNvPr>
            <p:cNvSpPr/>
            <p:nvPr/>
          </p:nvSpPr>
          <p:spPr>
            <a:xfrm>
              <a:off x="776848" y="1953670"/>
              <a:ext cx="10851475" cy="567664"/>
            </a:xfrm>
            <a:prstGeom prst="roundRect">
              <a:avLst>
                <a:gd name="adj" fmla="val 9723"/>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404000" rtlCol="0" anchor="ctr"/>
            <a:lstStyle/>
            <a:p>
              <a:r>
                <a:rPr lang="en-US" sz="2200" b="1" dirty="0">
                  <a:solidFill>
                    <a:schemeClr val="tx1"/>
                  </a:solidFill>
                  <a:effectLst/>
                  <a:latin typeface="Times New Roman" panose="02020603050405020304" pitchFamily="18" charset="0"/>
                  <a:ea typeface="Calibri" panose="020F0502020204030204" pitchFamily="34" charset="0"/>
                </a:rPr>
                <a:t>Excel Formula Generator</a:t>
              </a:r>
              <a:endParaRPr lang="en-IN" sz="2200" b="1" dirty="0">
                <a:solidFill>
                  <a:schemeClr val="tx1"/>
                </a:solidFill>
                <a:latin typeface="Calibri" panose="020F0502020204030204" pitchFamily="34" charset="0"/>
              </a:endParaRPr>
            </a:p>
          </p:txBody>
        </p:sp>
        <p:sp>
          <p:nvSpPr>
            <p:cNvPr id="9" name="Content Placeholder 2">
              <a:extLst>
                <a:ext uri="{FF2B5EF4-FFF2-40B4-BE49-F238E27FC236}">
                  <a16:creationId xmlns:a16="http://schemas.microsoft.com/office/drawing/2014/main" xmlns="" id="{1F8736E4-B09E-4EBF-90EF-8B58C7FFA0E2}"/>
                </a:ext>
              </a:extLst>
            </p:cNvPr>
            <p:cNvSpPr txBox="1">
              <a:spLocks/>
            </p:cNvSpPr>
            <p:nvPr/>
          </p:nvSpPr>
          <p:spPr>
            <a:xfrm>
              <a:off x="669953" y="3035410"/>
              <a:ext cx="10834234" cy="876039"/>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Nunito"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Nunito"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Nunito"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400"/>
                </a:spcBef>
                <a:spcAft>
                  <a:spcPts val="400"/>
                </a:spcAft>
                <a:buNone/>
              </a:pPr>
              <a:r>
                <a:rPr lang="en-US" sz="2200" dirty="0" err="1">
                  <a:effectLst/>
                  <a:latin typeface="+mn-lt"/>
                  <a:ea typeface="Calibri" panose="020F0502020204030204" pitchFamily="34" charset="0"/>
                </a:rPr>
                <a:t>ChatGPT</a:t>
              </a:r>
              <a:r>
                <a:rPr lang="en-US" sz="2200" dirty="0">
                  <a:effectLst/>
                  <a:latin typeface="+mn-lt"/>
                  <a:ea typeface="Calibri" panose="020F0502020204030204" pitchFamily="34" charset="0"/>
                </a:rPr>
                <a:t> with excel </a:t>
              </a:r>
              <a:endParaRPr lang="en-US" sz="2200" kern="100" dirty="0">
                <a:effectLst/>
                <a:latin typeface="+mn-lt"/>
                <a:ea typeface="Calibri" panose="020F0502020204030204" pitchFamily="34" charset="0"/>
                <a:cs typeface="Times New Roman" panose="02020603050405020304" pitchFamily="18" charset="0"/>
              </a:endParaRPr>
            </a:p>
            <a:p>
              <a:pPr>
                <a:lnSpc>
                  <a:spcPct val="100000"/>
                </a:lnSpc>
                <a:spcBef>
                  <a:spcPts val="400"/>
                </a:spcBef>
                <a:spcAft>
                  <a:spcPts val="400"/>
                </a:spcAft>
                <a:buFont typeface="Wingdings" panose="05000000000000000000" pitchFamily="2" charset="2"/>
                <a:buChar char="Ø"/>
              </a:pPr>
              <a:r>
                <a:rPr lang="en-US" sz="2200" dirty="0">
                  <a:latin typeface="+mn-lt"/>
                </a:rPr>
                <a:t>It simplifies the formula creation process, reducing the learning curve for new Excel users</a:t>
              </a:r>
            </a:p>
            <a:p>
              <a:pPr>
                <a:lnSpc>
                  <a:spcPct val="100000"/>
                </a:lnSpc>
                <a:spcBef>
                  <a:spcPts val="400"/>
                </a:spcBef>
                <a:spcAft>
                  <a:spcPts val="400"/>
                </a:spcAft>
                <a:buFont typeface="Wingdings" panose="05000000000000000000" pitchFamily="2" charset="2"/>
                <a:buChar char="Ø"/>
              </a:pPr>
              <a:r>
                <a:rPr lang="en-US" sz="2200" dirty="0">
                  <a:latin typeface="+mn-lt"/>
                </a:rPr>
                <a:t>The generator enhances user accessibility to advanced Excel functionalities, transforming data handling into a more intuitive and user-friendly experience.</a:t>
              </a:r>
            </a:p>
            <a:p>
              <a:pPr>
                <a:lnSpc>
                  <a:spcPct val="100000"/>
                </a:lnSpc>
                <a:spcBef>
                  <a:spcPts val="400"/>
                </a:spcBef>
                <a:spcAft>
                  <a:spcPts val="400"/>
                </a:spcAft>
                <a:buFont typeface="Wingdings" panose="05000000000000000000" pitchFamily="2" charset="2"/>
                <a:buChar char="Ø"/>
              </a:pPr>
              <a:endParaRPr lang="en-US" sz="2200" dirty="0">
                <a:latin typeface="+mn-lt"/>
              </a:endParaRPr>
            </a:p>
          </p:txBody>
        </p:sp>
        <p:sp>
          <p:nvSpPr>
            <p:cNvPr id="10" name="Freeform 7">
              <a:extLst>
                <a:ext uri="{FF2B5EF4-FFF2-40B4-BE49-F238E27FC236}">
                  <a16:creationId xmlns:a16="http://schemas.microsoft.com/office/drawing/2014/main" xmlns="" id="{60C8FEB8-998B-4BBE-B921-6E7EB3DD5479}"/>
                </a:ext>
              </a:extLst>
            </p:cNvPr>
            <p:cNvSpPr>
              <a:spLocks/>
            </p:cNvSpPr>
            <p:nvPr/>
          </p:nvSpPr>
          <p:spPr bwMode="auto">
            <a:xfrm>
              <a:off x="871995" y="1659835"/>
              <a:ext cx="1061994" cy="1111971"/>
            </a:xfrm>
            <a:custGeom>
              <a:avLst/>
              <a:gdLst>
                <a:gd name="T0" fmla="*/ 332 w 461"/>
                <a:gd name="T1" fmla="*/ 0 h 482"/>
                <a:gd name="T2" fmla="*/ 88 w 461"/>
                <a:gd name="T3" fmla="*/ 0 h 482"/>
                <a:gd name="T4" fmla="*/ 40 w 461"/>
                <a:gd name="T5" fmla="*/ 9 h 482"/>
                <a:gd name="T6" fmla="*/ 0 w 461"/>
                <a:gd name="T7" fmla="*/ 35 h 482"/>
                <a:gd name="T8" fmla="*/ 81 w 461"/>
                <a:gd name="T9" fmla="*/ 35 h 482"/>
                <a:gd name="T10" fmla="*/ 121 w 461"/>
                <a:gd name="T11" fmla="*/ 128 h 482"/>
                <a:gd name="T12" fmla="*/ 121 w 461"/>
                <a:gd name="T13" fmla="*/ 311 h 482"/>
                <a:gd name="T14" fmla="*/ 121 w 461"/>
                <a:gd name="T15" fmla="*/ 312 h 482"/>
                <a:gd name="T16" fmla="*/ 291 w 461"/>
                <a:gd name="T17" fmla="*/ 482 h 482"/>
                <a:gd name="T18" fmla="*/ 461 w 461"/>
                <a:gd name="T19" fmla="*/ 312 h 482"/>
                <a:gd name="T20" fmla="*/ 461 w 461"/>
                <a:gd name="T21" fmla="*/ 312 h 482"/>
                <a:gd name="T22" fmla="*/ 461 w 461"/>
                <a:gd name="T23" fmla="*/ 128 h 482"/>
                <a:gd name="T24" fmla="*/ 332 w 461"/>
                <a:gd name="T25" fmla="*/ 0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 h="482">
                  <a:moveTo>
                    <a:pt x="332" y="0"/>
                  </a:moveTo>
                  <a:cubicBezTo>
                    <a:pt x="88" y="0"/>
                    <a:pt x="88" y="0"/>
                    <a:pt x="88" y="0"/>
                  </a:cubicBezTo>
                  <a:cubicBezTo>
                    <a:pt x="71" y="0"/>
                    <a:pt x="55" y="3"/>
                    <a:pt x="40" y="9"/>
                  </a:cubicBezTo>
                  <a:cubicBezTo>
                    <a:pt x="25" y="15"/>
                    <a:pt x="11" y="24"/>
                    <a:pt x="0" y="35"/>
                  </a:cubicBezTo>
                  <a:cubicBezTo>
                    <a:pt x="22" y="13"/>
                    <a:pt x="58" y="13"/>
                    <a:pt x="81" y="35"/>
                  </a:cubicBezTo>
                  <a:cubicBezTo>
                    <a:pt x="106" y="58"/>
                    <a:pt x="121" y="91"/>
                    <a:pt x="121" y="128"/>
                  </a:cubicBezTo>
                  <a:cubicBezTo>
                    <a:pt x="121" y="311"/>
                    <a:pt x="121" y="311"/>
                    <a:pt x="121" y="311"/>
                  </a:cubicBezTo>
                  <a:cubicBezTo>
                    <a:pt x="121" y="311"/>
                    <a:pt x="121" y="311"/>
                    <a:pt x="121" y="312"/>
                  </a:cubicBezTo>
                  <a:cubicBezTo>
                    <a:pt x="121" y="405"/>
                    <a:pt x="197" y="482"/>
                    <a:pt x="291" y="482"/>
                  </a:cubicBezTo>
                  <a:cubicBezTo>
                    <a:pt x="385" y="482"/>
                    <a:pt x="461" y="405"/>
                    <a:pt x="461" y="312"/>
                  </a:cubicBezTo>
                  <a:cubicBezTo>
                    <a:pt x="461" y="312"/>
                    <a:pt x="461" y="312"/>
                    <a:pt x="461" y="312"/>
                  </a:cubicBezTo>
                  <a:cubicBezTo>
                    <a:pt x="461" y="128"/>
                    <a:pt x="461" y="128"/>
                    <a:pt x="461" y="128"/>
                  </a:cubicBezTo>
                  <a:cubicBezTo>
                    <a:pt x="461" y="57"/>
                    <a:pt x="403" y="0"/>
                    <a:pt x="332"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ru-RU"/>
            </a:p>
          </p:txBody>
        </p:sp>
        <p:sp>
          <p:nvSpPr>
            <p:cNvPr id="11" name="Oval 8">
              <a:extLst>
                <a:ext uri="{FF2B5EF4-FFF2-40B4-BE49-F238E27FC236}">
                  <a16:creationId xmlns:a16="http://schemas.microsoft.com/office/drawing/2014/main" xmlns="" id="{3AFF0686-D0F4-4479-ACC5-24B3375ED479}"/>
                </a:ext>
              </a:extLst>
            </p:cNvPr>
            <p:cNvSpPr>
              <a:spLocks noChangeArrowheads="1"/>
            </p:cNvSpPr>
            <p:nvPr/>
          </p:nvSpPr>
          <p:spPr bwMode="auto">
            <a:xfrm>
              <a:off x="1215101" y="2051956"/>
              <a:ext cx="654496" cy="652574"/>
            </a:xfrm>
            <a:prstGeom prst="ellipse">
              <a:avLst/>
            </a:prstGeom>
            <a:solidFill>
              <a:schemeClr val="bg2"/>
            </a:solidFill>
            <a:ln>
              <a:noFill/>
            </a:ln>
          </p:spPr>
          <p:txBody>
            <a:bodyPr vert="horz" wrap="square" lIns="91440" tIns="45720" rIns="91440" bIns="45720" numCol="1" anchor="t" anchorCtr="0" compatLnSpc="1">
              <a:prstTxWarp prst="textNoShape">
                <a:avLst/>
              </a:prstTxWarp>
            </a:bodyPr>
            <a:lstStyle/>
            <a:p>
              <a:endParaRPr lang="ru-RU"/>
            </a:p>
          </p:txBody>
        </p:sp>
        <p:grpSp>
          <p:nvGrpSpPr>
            <p:cNvPr id="12" name="Shape 7784">
              <a:extLst>
                <a:ext uri="{FF2B5EF4-FFF2-40B4-BE49-F238E27FC236}">
                  <a16:creationId xmlns:a16="http://schemas.microsoft.com/office/drawing/2014/main" xmlns="" id="{CFACB513-5729-406A-9CAA-FD7850F922D1}"/>
                </a:ext>
              </a:extLst>
            </p:cNvPr>
            <p:cNvGrpSpPr/>
            <p:nvPr/>
          </p:nvGrpSpPr>
          <p:grpSpPr>
            <a:xfrm>
              <a:off x="1389773" y="2214880"/>
              <a:ext cx="330464" cy="352116"/>
              <a:chOff x="5538788" y="2417763"/>
              <a:chExt cx="557213" cy="593725"/>
            </a:xfrm>
            <a:solidFill>
              <a:schemeClr val="tx1"/>
            </a:solidFill>
          </p:grpSpPr>
          <p:sp>
            <p:nvSpPr>
              <p:cNvPr id="13" name="Shape 7785">
                <a:extLst>
                  <a:ext uri="{FF2B5EF4-FFF2-40B4-BE49-F238E27FC236}">
                    <a16:creationId xmlns:a16="http://schemas.microsoft.com/office/drawing/2014/main" xmlns="" id="{499D29CC-1A29-4774-8095-D273AB3B1A65}"/>
                  </a:ext>
                </a:extLst>
              </p:cNvPr>
              <p:cNvSpPr/>
              <p:nvPr/>
            </p:nvSpPr>
            <p:spPr>
              <a:xfrm>
                <a:off x="5538788" y="2727325"/>
                <a:ext cx="188913" cy="284162"/>
              </a:xfrm>
              <a:custGeom>
                <a:avLst/>
                <a:gdLst/>
                <a:ahLst/>
                <a:cxnLst/>
                <a:rect l="0" t="0" r="0" b="0"/>
                <a:pathLst>
                  <a:path w="160" h="242" extrusionOk="0">
                    <a:moveTo>
                      <a:pt x="0" y="233"/>
                    </a:moveTo>
                    <a:cubicBezTo>
                      <a:pt x="0" y="238"/>
                      <a:pt x="4" y="242"/>
                      <a:pt x="9" y="242"/>
                    </a:cubicBezTo>
                    <a:cubicBezTo>
                      <a:pt x="151" y="242"/>
                      <a:pt x="151" y="242"/>
                      <a:pt x="151" y="242"/>
                    </a:cubicBezTo>
                    <a:cubicBezTo>
                      <a:pt x="156" y="242"/>
                      <a:pt x="160" y="238"/>
                      <a:pt x="160" y="233"/>
                    </a:cubicBezTo>
                    <a:cubicBezTo>
                      <a:pt x="160" y="0"/>
                      <a:pt x="160" y="0"/>
                      <a:pt x="160" y="0"/>
                    </a:cubicBezTo>
                    <a:cubicBezTo>
                      <a:pt x="0" y="0"/>
                      <a:pt x="0" y="0"/>
                      <a:pt x="0" y="0"/>
                    </a:cubicBezTo>
                    <a:lnTo>
                      <a:pt x="0" y="233"/>
                    </a:lnTo>
                    <a:close/>
                    <a:moveTo>
                      <a:pt x="80" y="227"/>
                    </a:moveTo>
                    <a:cubicBezTo>
                      <a:pt x="71" y="227"/>
                      <a:pt x="63" y="220"/>
                      <a:pt x="63" y="210"/>
                    </a:cubicBezTo>
                    <a:cubicBezTo>
                      <a:pt x="63" y="200"/>
                      <a:pt x="71" y="192"/>
                      <a:pt x="80" y="192"/>
                    </a:cubicBezTo>
                    <a:cubicBezTo>
                      <a:pt x="90" y="192"/>
                      <a:pt x="98" y="200"/>
                      <a:pt x="98" y="210"/>
                    </a:cubicBezTo>
                    <a:cubicBezTo>
                      <a:pt x="98" y="220"/>
                      <a:pt x="90" y="227"/>
                      <a:pt x="80" y="227"/>
                    </a:cubicBezTo>
                    <a:close/>
                    <a:moveTo>
                      <a:pt x="73" y="175"/>
                    </a:moveTo>
                    <a:cubicBezTo>
                      <a:pt x="73" y="171"/>
                      <a:pt x="76" y="167"/>
                      <a:pt x="80" y="167"/>
                    </a:cubicBezTo>
                    <a:cubicBezTo>
                      <a:pt x="85" y="167"/>
                      <a:pt x="88" y="171"/>
                      <a:pt x="88" y="175"/>
                    </a:cubicBezTo>
                    <a:cubicBezTo>
                      <a:pt x="88" y="179"/>
                      <a:pt x="85" y="183"/>
                      <a:pt x="80" y="183"/>
                    </a:cubicBezTo>
                    <a:cubicBezTo>
                      <a:pt x="76" y="183"/>
                      <a:pt x="73" y="179"/>
                      <a:pt x="73" y="175"/>
                    </a:cubicBezTo>
                    <a:close/>
                    <a:moveTo>
                      <a:pt x="29" y="12"/>
                    </a:moveTo>
                    <a:cubicBezTo>
                      <a:pt x="131" y="12"/>
                      <a:pt x="131" y="12"/>
                      <a:pt x="131" y="12"/>
                    </a:cubicBezTo>
                    <a:cubicBezTo>
                      <a:pt x="131" y="33"/>
                      <a:pt x="131" y="33"/>
                      <a:pt x="131" y="33"/>
                    </a:cubicBezTo>
                    <a:cubicBezTo>
                      <a:pt x="29" y="33"/>
                      <a:pt x="29" y="33"/>
                      <a:pt x="29" y="33"/>
                    </a:cubicBezTo>
                    <a:lnTo>
                      <a:pt x="29" y="12"/>
                    </a:lnTo>
                    <a:close/>
                    <a:moveTo>
                      <a:pt x="29" y="43"/>
                    </a:moveTo>
                    <a:cubicBezTo>
                      <a:pt x="131" y="43"/>
                      <a:pt x="131" y="43"/>
                      <a:pt x="131" y="43"/>
                    </a:cubicBezTo>
                    <a:cubicBezTo>
                      <a:pt x="131" y="64"/>
                      <a:pt x="131" y="64"/>
                      <a:pt x="131" y="64"/>
                    </a:cubicBezTo>
                    <a:cubicBezTo>
                      <a:pt x="29" y="64"/>
                      <a:pt x="29" y="64"/>
                      <a:pt x="29" y="64"/>
                    </a:cubicBezTo>
                    <a:lnTo>
                      <a:pt x="29" y="43"/>
                    </a:lnTo>
                    <a:close/>
                    <a:moveTo>
                      <a:pt x="29" y="73"/>
                    </a:moveTo>
                    <a:cubicBezTo>
                      <a:pt x="131" y="73"/>
                      <a:pt x="131" y="73"/>
                      <a:pt x="131" y="73"/>
                    </a:cubicBezTo>
                    <a:cubicBezTo>
                      <a:pt x="131" y="94"/>
                      <a:pt x="131" y="94"/>
                      <a:pt x="131" y="94"/>
                    </a:cubicBezTo>
                    <a:cubicBezTo>
                      <a:pt x="29" y="94"/>
                      <a:pt x="29" y="94"/>
                      <a:pt x="29" y="94"/>
                    </a:cubicBezTo>
                    <a:lnTo>
                      <a:pt x="29" y="73"/>
                    </a:lnTo>
                    <a:close/>
                    <a:moveTo>
                      <a:pt x="29" y="104"/>
                    </a:moveTo>
                    <a:cubicBezTo>
                      <a:pt x="131" y="104"/>
                      <a:pt x="131" y="104"/>
                      <a:pt x="131" y="104"/>
                    </a:cubicBezTo>
                    <a:cubicBezTo>
                      <a:pt x="131" y="125"/>
                      <a:pt x="131" y="125"/>
                      <a:pt x="131" y="125"/>
                    </a:cubicBezTo>
                    <a:cubicBezTo>
                      <a:pt x="29" y="125"/>
                      <a:pt x="29" y="125"/>
                      <a:pt x="29" y="125"/>
                    </a:cubicBezTo>
                    <a:lnTo>
                      <a:pt x="29" y="104"/>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14" name="Shape 7786">
                <a:extLst>
                  <a:ext uri="{FF2B5EF4-FFF2-40B4-BE49-F238E27FC236}">
                    <a16:creationId xmlns:a16="http://schemas.microsoft.com/office/drawing/2014/main" xmlns="" id="{CC028885-77CE-4060-895F-99A2D1703B9E}"/>
                  </a:ext>
                </a:extLst>
              </p:cNvPr>
              <p:cNvSpPr/>
              <p:nvPr/>
            </p:nvSpPr>
            <p:spPr>
              <a:xfrm>
                <a:off x="5538788" y="2651125"/>
                <a:ext cx="188913" cy="63500"/>
              </a:xfrm>
              <a:custGeom>
                <a:avLst/>
                <a:gdLst/>
                <a:ahLst/>
                <a:cxnLst/>
                <a:rect l="0" t="0" r="0" b="0"/>
                <a:pathLst>
                  <a:path w="160" h="55" extrusionOk="0">
                    <a:moveTo>
                      <a:pt x="151" y="0"/>
                    </a:moveTo>
                    <a:cubicBezTo>
                      <a:pt x="9" y="0"/>
                      <a:pt x="9" y="0"/>
                      <a:pt x="9" y="0"/>
                    </a:cubicBezTo>
                    <a:cubicBezTo>
                      <a:pt x="4" y="0"/>
                      <a:pt x="0" y="4"/>
                      <a:pt x="0" y="9"/>
                    </a:cubicBezTo>
                    <a:cubicBezTo>
                      <a:pt x="0" y="55"/>
                      <a:pt x="0" y="55"/>
                      <a:pt x="0" y="55"/>
                    </a:cubicBezTo>
                    <a:cubicBezTo>
                      <a:pt x="160" y="55"/>
                      <a:pt x="160" y="55"/>
                      <a:pt x="160" y="55"/>
                    </a:cubicBezTo>
                    <a:cubicBezTo>
                      <a:pt x="160" y="9"/>
                      <a:pt x="160" y="9"/>
                      <a:pt x="160" y="9"/>
                    </a:cubicBezTo>
                    <a:cubicBezTo>
                      <a:pt x="160" y="4"/>
                      <a:pt x="156" y="0"/>
                      <a:pt x="151" y="0"/>
                    </a:cubicBezTo>
                    <a:close/>
                    <a:moveTo>
                      <a:pt x="43" y="43"/>
                    </a:moveTo>
                    <a:cubicBezTo>
                      <a:pt x="36" y="43"/>
                      <a:pt x="30" y="37"/>
                      <a:pt x="30" y="30"/>
                    </a:cubicBezTo>
                    <a:cubicBezTo>
                      <a:pt x="30" y="22"/>
                      <a:pt x="36" y="16"/>
                      <a:pt x="43" y="16"/>
                    </a:cubicBezTo>
                    <a:cubicBezTo>
                      <a:pt x="51" y="16"/>
                      <a:pt x="57" y="22"/>
                      <a:pt x="57" y="30"/>
                    </a:cubicBezTo>
                    <a:cubicBezTo>
                      <a:pt x="57" y="37"/>
                      <a:pt x="51" y="43"/>
                      <a:pt x="43" y="43"/>
                    </a:cubicBezTo>
                    <a:close/>
                    <a:moveTo>
                      <a:pt x="131" y="38"/>
                    </a:moveTo>
                    <a:cubicBezTo>
                      <a:pt x="68" y="38"/>
                      <a:pt x="68" y="38"/>
                      <a:pt x="68" y="38"/>
                    </a:cubicBezTo>
                    <a:cubicBezTo>
                      <a:pt x="68" y="22"/>
                      <a:pt x="68" y="22"/>
                      <a:pt x="68" y="22"/>
                    </a:cubicBezTo>
                    <a:cubicBezTo>
                      <a:pt x="131" y="22"/>
                      <a:pt x="131" y="22"/>
                      <a:pt x="131" y="22"/>
                    </a:cubicBezTo>
                    <a:lnTo>
                      <a:pt x="131" y="38"/>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15" name="Shape 7787">
                <a:extLst>
                  <a:ext uri="{FF2B5EF4-FFF2-40B4-BE49-F238E27FC236}">
                    <a16:creationId xmlns:a16="http://schemas.microsoft.com/office/drawing/2014/main" xmlns="" id="{D8DC1C87-0063-4D76-B2B4-7A912C6D65BA}"/>
                  </a:ext>
                </a:extLst>
              </p:cNvPr>
              <p:cNvSpPr/>
              <p:nvPr/>
            </p:nvSpPr>
            <p:spPr>
              <a:xfrm>
                <a:off x="6013450" y="2990850"/>
                <a:ext cx="28575" cy="20637"/>
              </a:xfrm>
              <a:custGeom>
                <a:avLst/>
                <a:gdLst/>
                <a:ahLst/>
                <a:cxnLst/>
                <a:rect l="0" t="0" r="0" b="0"/>
                <a:pathLst>
                  <a:path w="24" h="18" extrusionOk="0">
                    <a:moveTo>
                      <a:pt x="1" y="4"/>
                    </a:moveTo>
                    <a:cubicBezTo>
                      <a:pt x="0" y="4"/>
                      <a:pt x="0" y="4"/>
                      <a:pt x="0" y="4"/>
                    </a:cubicBezTo>
                    <a:cubicBezTo>
                      <a:pt x="0" y="18"/>
                      <a:pt x="0" y="18"/>
                      <a:pt x="0" y="18"/>
                    </a:cubicBezTo>
                    <a:cubicBezTo>
                      <a:pt x="1" y="18"/>
                      <a:pt x="1" y="18"/>
                      <a:pt x="1" y="18"/>
                    </a:cubicBezTo>
                    <a:cubicBezTo>
                      <a:pt x="9" y="18"/>
                      <a:pt x="17" y="16"/>
                      <a:pt x="24" y="12"/>
                    </a:cubicBezTo>
                    <a:cubicBezTo>
                      <a:pt x="17" y="0"/>
                      <a:pt x="17" y="0"/>
                      <a:pt x="17" y="0"/>
                    </a:cubicBezTo>
                    <a:cubicBezTo>
                      <a:pt x="12" y="3"/>
                      <a:pt x="6" y="4"/>
                      <a:pt x="1" y="4"/>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16" name="Shape 7788">
                <a:extLst>
                  <a:ext uri="{FF2B5EF4-FFF2-40B4-BE49-F238E27FC236}">
                    <a16:creationId xmlns:a16="http://schemas.microsoft.com/office/drawing/2014/main" xmlns="" id="{BB517073-8815-46DA-9CEB-BDE22D609C91}"/>
                  </a:ext>
                </a:extLst>
              </p:cNvPr>
              <p:cNvSpPr/>
              <p:nvPr/>
            </p:nvSpPr>
            <p:spPr>
              <a:xfrm>
                <a:off x="5964238" y="299561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17" name="Shape 7789">
                <a:extLst>
                  <a:ext uri="{FF2B5EF4-FFF2-40B4-BE49-F238E27FC236}">
                    <a16:creationId xmlns:a16="http://schemas.microsoft.com/office/drawing/2014/main" xmlns="" id="{BC1AEB5A-DD89-461A-AD7D-F2B2392C1D99}"/>
                  </a:ext>
                </a:extLst>
              </p:cNvPr>
              <p:cNvSpPr/>
              <p:nvPr/>
            </p:nvSpPr>
            <p:spPr>
              <a:xfrm>
                <a:off x="5913438" y="2995613"/>
                <a:ext cx="23813"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18" name="Shape 7790">
                <a:extLst>
                  <a:ext uri="{FF2B5EF4-FFF2-40B4-BE49-F238E27FC236}">
                    <a16:creationId xmlns:a16="http://schemas.microsoft.com/office/drawing/2014/main" xmlns="" id="{8A293577-F784-450D-A1A2-2F51D576E877}"/>
                  </a:ext>
                </a:extLst>
              </p:cNvPr>
              <p:cNvSpPr/>
              <p:nvPr/>
            </p:nvSpPr>
            <p:spPr>
              <a:xfrm>
                <a:off x="5862638" y="299561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19" name="Shape 7791">
                <a:extLst>
                  <a:ext uri="{FF2B5EF4-FFF2-40B4-BE49-F238E27FC236}">
                    <a16:creationId xmlns:a16="http://schemas.microsoft.com/office/drawing/2014/main" xmlns="" id="{A20B9DB2-6DF7-4E28-9BF7-72C34F8CF98E}"/>
                  </a:ext>
                </a:extLst>
              </p:cNvPr>
              <p:cNvSpPr/>
              <p:nvPr/>
            </p:nvSpPr>
            <p:spPr>
              <a:xfrm>
                <a:off x="5807075" y="2995613"/>
                <a:ext cx="23813"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21" name="Shape 7792">
                <a:extLst>
                  <a:ext uri="{FF2B5EF4-FFF2-40B4-BE49-F238E27FC236}">
                    <a16:creationId xmlns:a16="http://schemas.microsoft.com/office/drawing/2014/main" xmlns="" id="{DAC2964D-BAD9-4BFF-BF2F-29A48A13610A}"/>
                  </a:ext>
                </a:extLst>
              </p:cNvPr>
              <p:cNvSpPr/>
              <p:nvPr/>
            </p:nvSpPr>
            <p:spPr>
              <a:xfrm>
                <a:off x="5753100" y="299561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22" name="Shape 7793">
                <a:extLst>
                  <a:ext uri="{FF2B5EF4-FFF2-40B4-BE49-F238E27FC236}">
                    <a16:creationId xmlns:a16="http://schemas.microsoft.com/office/drawing/2014/main" xmlns="" id="{28F7CF2F-1D61-41EF-8AA5-56B72C66B691}"/>
                  </a:ext>
                </a:extLst>
              </p:cNvPr>
              <p:cNvSpPr/>
              <p:nvPr/>
            </p:nvSpPr>
            <p:spPr>
              <a:xfrm>
                <a:off x="6048375" y="2955925"/>
                <a:ext cx="22225" cy="28575"/>
              </a:xfrm>
              <a:custGeom>
                <a:avLst/>
                <a:gdLst/>
                <a:ahLst/>
                <a:cxnLst/>
                <a:rect l="0" t="0" r="0" b="0"/>
                <a:pathLst>
                  <a:path w="19" h="24" extrusionOk="0">
                    <a:moveTo>
                      <a:pt x="0" y="17"/>
                    </a:moveTo>
                    <a:cubicBezTo>
                      <a:pt x="12" y="24"/>
                      <a:pt x="12" y="24"/>
                      <a:pt x="12" y="24"/>
                    </a:cubicBezTo>
                    <a:cubicBezTo>
                      <a:pt x="17" y="17"/>
                      <a:pt x="19" y="9"/>
                      <a:pt x="19" y="0"/>
                    </a:cubicBezTo>
                    <a:cubicBezTo>
                      <a:pt x="6" y="0"/>
                      <a:pt x="6" y="0"/>
                      <a:pt x="6" y="0"/>
                    </a:cubicBezTo>
                    <a:cubicBezTo>
                      <a:pt x="5" y="6"/>
                      <a:pt x="3" y="12"/>
                      <a:pt x="0" y="17"/>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23" name="Shape 7794">
                <a:extLst>
                  <a:ext uri="{FF2B5EF4-FFF2-40B4-BE49-F238E27FC236}">
                    <a16:creationId xmlns:a16="http://schemas.microsoft.com/office/drawing/2014/main" xmlns="" id="{172A1A42-59D1-4EB9-95C5-C702481201AC}"/>
                  </a:ext>
                </a:extLst>
              </p:cNvPr>
              <p:cNvSpPr/>
              <p:nvPr/>
            </p:nvSpPr>
            <p:spPr>
              <a:xfrm>
                <a:off x="6056313" y="2906713"/>
                <a:ext cx="15875" cy="23812"/>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24" name="Shape 7795">
                <a:extLst>
                  <a:ext uri="{FF2B5EF4-FFF2-40B4-BE49-F238E27FC236}">
                    <a16:creationId xmlns:a16="http://schemas.microsoft.com/office/drawing/2014/main" xmlns="" id="{94CB30F0-98D6-4F1E-876F-481D10337356}"/>
                  </a:ext>
                </a:extLst>
              </p:cNvPr>
              <p:cNvSpPr/>
              <p:nvPr/>
            </p:nvSpPr>
            <p:spPr>
              <a:xfrm>
                <a:off x="6030913" y="2820988"/>
                <a:ext cx="65088" cy="57150"/>
              </a:xfrm>
              <a:custGeom>
                <a:avLst/>
                <a:gdLst/>
                <a:ahLst/>
                <a:cxnLst/>
                <a:rect l="0" t="0" r="0" b="0"/>
                <a:pathLst>
                  <a:path w="41" h="36" extrusionOk="0">
                    <a:moveTo>
                      <a:pt x="0" y="36"/>
                    </a:moveTo>
                    <a:lnTo>
                      <a:pt x="41" y="36"/>
                    </a:lnTo>
                    <a:lnTo>
                      <a:pt x="21" y="0"/>
                    </a:lnTo>
                    <a:lnTo>
                      <a:pt x="0" y="36"/>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25" name="Shape 7796">
                <a:extLst>
                  <a:ext uri="{FF2B5EF4-FFF2-40B4-BE49-F238E27FC236}">
                    <a16:creationId xmlns:a16="http://schemas.microsoft.com/office/drawing/2014/main" xmlns="" id="{6DA7450B-43E2-4E06-BA1C-5A3EBEEEDF54}"/>
                  </a:ext>
                </a:extLst>
              </p:cNvPr>
              <p:cNvSpPr/>
              <p:nvPr/>
            </p:nvSpPr>
            <p:spPr>
              <a:xfrm>
                <a:off x="5908675" y="2495550"/>
                <a:ext cx="187325" cy="282575"/>
              </a:xfrm>
              <a:custGeom>
                <a:avLst/>
                <a:gdLst/>
                <a:ahLst/>
                <a:cxnLst/>
                <a:rect l="0" t="0" r="0" b="0"/>
                <a:pathLst>
                  <a:path w="160" h="242" extrusionOk="0">
                    <a:moveTo>
                      <a:pt x="0" y="233"/>
                    </a:moveTo>
                    <a:cubicBezTo>
                      <a:pt x="0" y="238"/>
                      <a:pt x="4" y="242"/>
                      <a:pt x="9" y="242"/>
                    </a:cubicBezTo>
                    <a:cubicBezTo>
                      <a:pt x="151" y="242"/>
                      <a:pt x="151" y="242"/>
                      <a:pt x="151" y="242"/>
                    </a:cubicBezTo>
                    <a:cubicBezTo>
                      <a:pt x="156" y="242"/>
                      <a:pt x="160" y="238"/>
                      <a:pt x="160" y="233"/>
                    </a:cubicBezTo>
                    <a:cubicBezTo>
                      <a:pt x="160" y="0"/>
                      <a:pt x="160" y="0"/>
                      <a:pt x="160" y="0"/>
                    </a:cubicBezTo>
                    <a:cubicBezTo>
                      <a:pt x="0" y="0"/>
                      <a:pt x="0" y="0"/>
                      <a:pt x="0" y="0"/>
                    </a:cubicBezTo>
                    <a:lnTo>
                      <a:pt x="0" y="233"/>
                    </a:lnTo>
                    <a:close/>
                    <a:moveTo>
                      <a:pt x="80" y="227"/>
                    </a:moveTo>
                    <a:cubicBezTo>
                      <a:pt x="71" y="227"/>
                      <a:pt x="63" y="220"/>
                      <a:pt x="63" y="210"/>
                    </a:cubicBezTo>
                    <a:cubicBezTo>
                      <a:pt x="63" y="200"/>
                      <a:pt x="71" y="192"/>
                      <a:pt x="80" y="192"/>
                    </a:cubicBezTo>
                    <a:cubicBezTo>
                      <a:pt x="90" y="192"/>
                      <a:pt x="98" y="200"/>
                      <a:pt x="98" y="210"/>
                    </a:cubicBezTo>
                    <a:cubicBezTo>
                      <a:pt x="98" y="220"/>
                      <a:pt x="90" y="227"/>
                      <a:pt x="80" y="227"/>
                    </a:cubicBezTo>
                    <a:close/>
                    <a:moveTo>
                      <a:pt x="72" y="175"/>
                    </a:moveTo>
                    <a:cubicBezTo>
                      <a:pt x="72" y="171"/>
                      <a:pt x="76" y="167"/>
                      <a:pt x="80" y="167"/>
                    </a:cubicBezTo>
                    <a:cubicBezTo>
                      <a:pt x="85" y="167"/>
                      <a:pt x="88" y="171"/>
                      <a:pt x="88" y="175"/>
                    </a:cubicBezTo>
                    <a:cubicBezTo>
                      <a:pt x="88" y="179"/>
                      <a:pt x="85" y="183"/>
                      <a:pt x="80" y="183"/>
                    </a:cubicBezTo>
                    <a:cubicBezTo>
                      <a:pt x="76" y="183"/>
                      <a:pt x="72" y="179"/>
                      <a:pt x="72" y="175"/>
                    </a:cubicBezTo>
                    <a:close/>
                    <a:moveTo>
                      <a:pt x="29" y="12"/>
                    </a:moveTo>
                    <a:cubicBezTo>
                      <a:pt x="131" y="12"/>
                      <a:pt x="131" y="12"/>
                      <a:pt x="131" y="12"/>
                    </a:cubicBezTo>
                    <a:cubicBezTo>
                      <a:pt x="131" y="33"/>
                      <a:pt x="131" y="33"/>
                      <a:pt x="131" y="33"/>
                    </a:cubicBezTo>
                    <a:cubicBezTo>
                      <a:pt x="29" y="33"/>
                      <a:pt x="29" y="33"/>
                      <a:pt x="29" y="33"/>
                    </a:cubicBezTo>
                    <a:lnTo>
                      <a:pt x="29" y="12"/>
                    </a:lnTo>
                    <a:close/>
                    <a:moveTo>
                      <a:pt x="29" y="43"/>
                    </a:moveTo>
                    <a:cubicBezTo>
                      <a:pt x="131" y="43"/>
                      <a:pt x="131" y="43"/>
                      <a:pt x="131" y="43"/>
                    </a:cubicBezTo>
                    <a:cubicBezTo>
                      <a:pt x="131" y="64"/>
                      <a:pt x="131" y="64"/>
                      <a:pt x="131" y="64"/>
                    </a:cubicBezTo>
                    <a:cubicBezTo>
                      <a:pt x="29" y="64"/>
                      <a:pt x="29" y="64"/>
                      <a:pt x="29" y="64"/>
                    </a:cubicBezTo>
                    <a:lnTo>
                      <a:pt x="29" y="43"/>
                    </a:lnTo>
                    <a:close/>
                    <a:moveTo>
                      <a:pt x="29" y="73"/>
                    </a:moveTo>
                    <a:cubicBezTo>
                      <a:pt x="131" y="73"/>
                      <a:pt x="131" y="73"/>
                      <a:pt x="131" y="73"/>
                    </a:cubicBezTo>
                    <a:cubicBezTo>
                      <a:pt x="131" y="94"/>
                      <a:pt x="131" y="94"/>
                      <a:pt x="131" y="94"/>
                    </a:cubicBezTo>
                    <a:cubicBezTo>
                      <a:pt x="29" y="94"/>
                      <a:pt x="29" y="94"/>
                      <a:pt x="29" y="94"/>
                    </a:cubicBezTo>
                    <a:lnTo>
                      <a:pt x="29" y="73"/>
                    </a:lnTo>
                    <a:close/>
                    <a:moveTo>
                      <a:pt x="29" y="104"/>
                    </a:moveTo>
                    <a:cubicBezTo>
                      <a:pt x="131" y="104"/>
                      <a:pt x="131" y="104"/>
                      <a:pt x="131" y="104"/>
                    </a:cubicBezTo>
                    <a:cubicBezTo>
                      <a:pt x="131" y="125"/>
                      <a:pt x="131" y="125"/>
                      <a:pt x="131" y="125"/>
                    </a:cubicBezTo>
                    <a:cubicBezTo>
                      <a:pt x="29" y="125"/>
                      <a:pt x="29" y="125"/>
                      <a:pt x="29" y="125"/>
                    </a:cubicBezTo>
                    <a:lnTo>
                      <a:pt x="29" y="104"/>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26" name="Shape 7797">
                <a:extLst>
                  <a:ext uri="{FF2B5EF4-FFF2-40B4-BE49-F238E27FC236}">
                    <a16:creationId xmlns:a16="http://schemas.microsoft.com/office/drawing/2014/main" xmlns="" id="{20B2DD9D-E10B-4925-A8DE-CFE1C9803F2F}"/>
                  </a:ext>
                </a:extLst>
              </p:cNvPr>
              <p:cNvSpPr/>
              <p:nvPr/>
            </p:nvSpPr>
            <p:spPr>
              <a:xfrm>
                <a:off x="5908675" y="2417763"/>
                <a:ext cx="187325" cy="65087"/>
              </a:xfrm>
              <a:custGeom>
                <a:avLst/>
                <a:gdLst/>
                <a:ahLst/>
                <a:cxnLst/>
                <a:rect l="0" t="0" r="0" b="0"/>
                <a:pathLst>
                  <a:path w="160" h="55" extrusionOk="0">
                    <a:moveTo>
                      <a:pt x="151" y="0"/>
                    </a:moveTo>
                    <a:cubicBezTo>
                      <a:pt x="9" y="0"/>
                      <a:pt x="9" y="0"/>
                      <a:pt x="9" y="0"/>
                    </a:cubicBezTo>
                    <a:cubicBezTo>
                      <a:pt x="4" y="0"/>
                      <a:pt x="0" y="4"/>
                      <a:pt x="0" y="9"/>
                    </a:cubicBezTo>
                    <a:cubicBezTo>
                      <a:pt x="0" y="55"/>
                      <a:pt x="0" y="55"/>
                      <a:pt x="0" y="55"/>
                    </a:cubicBezTo>
                    <a:cubicBezTo>
                      <a:pt x="160" y="55"/>
                      <a:pt x="160" y="55"/>
                      <a:pt x="160" y="55"/>
                    </a:cubicBezTo>
                    <a:cubicBezTo>
                      <a:pt x="160" y="9"/>
                      <a:pt x="160" y="9"/>
                      <a:pt x="160" y="9"/>
                    </a:cubicBezTo>
                    <a:cubicBezTo>
                      <a:pt x="160" y="4"/>
                      <a:pt x="156" y="0"/>
                      <a:pt x="151" y="0"/>
                    </a:cubicBezTo>
                    <a:close/>
                    <a:moveTo>
                      <a:pt x="93" y="38"/>
                    </a:moveTo>
                    <a:cubicBezTo>
                      <a:pt x="29" y="38"/>
                      <a:pt x="29" y="38"/>
                      <a:pt x="29" y="38"/>
                    </a:cubicBezTo>
                    <a:cubicBezTo>
                      <a:pt x="29" y="22"/>
                      <a:pt x="29" y="22"/>
                      <a:pt x="29" y="22"/>
                    </a:cubicBezTo>
                    <a:cubicBezTo>
                      <a:pt x="93" y="22"/>
                      <a:pt x="93" y="22"/>
                      <a:pt x="93" y="22"/>
                    </a:cubicBezTo>
                    <a:lnTo>
                      <a:pt x="93" y="38"/>
                    </a:lnTo>
                    <a:close/>
                    <a:moveTo>
                      <a:pt x="117" y="43"/>
                    </a:moveTo>
                    <a:cubicBezTo>
                      <a:pt x="110" y="43"/>
                      <a:pt x="104" y="37"/>
                      <a:pt x="104" y="30"/>
                    </a:cubicBezTo>
                    <a:cubicBezTo>
                      <a:pt x="104" y="22"/>
                      <a:pt x="110" y="16"/>
                      <a:pt x="117" y="16"/>
                    </a:cubicBezTo>
                    <a:cubicBezTo>
                      <a:pt x="125" y="16"/>
                      <a:pt x="131" y="22"/>
                      <a:pt x="131" y="30"/>
                    </a:cubicBezTo>
                    <a:cubicBezTo>
                      <a:pt x="131" y="37"/>
                      <a:pt x="125" y="43"/>
                      <a:pt x="117" y="43"/>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27" name="Shape 7798">
                <a:extLst>
                  <a:ext uri="{FF2B5EF4-FFF2-40B4-BE49-F238E27FC236}">
                    <a16:creationId xmlns:a16="http://schemas.microsoft.com/office/drawing/2014/main" xmlns="" id="{693C647A-F689-4AF1-B922-7A7333B0051D}"/>
                  </a:ext>
                </a:extLst>
              </p:cNvPr>
              <p:cNvSpPr/>
              <p:nvPr/>
            </p:nvSpPr>
            <p:spPr>
              <a:xfrm>
                <a:off x="5592763" y="2417763"/>
                <a:ext cx="30163" cy="20637"/>
              </a:xfrm>
              <a:custGeom>
                <a:avLst/>
                <a:gdLst/>
                <a:ahLst/>
                <a:cxnLst/>
                <a:rect l="0" t="0" r="0" b="0"/>
                <a:pathLst>
                  <a:path w="25" h="18" extrusionOk="0">
                    <a:moveTo>
                      <a:pt x="24" y="14"/>
                    </a:moveTo>
                    <a:cubicBezTo>
                      <a:pt x="25" y="14"/>
                      <a:pt x="25" y="14"/>
                      <a:pt x="25" y="14"/>
                    </a:cubicBezTo>
                    <a:cubicBezTo>
                      <a:pt x="25" y="0"/>
                      <a:pt x="25" y="0"/>
                      <a:pt x="25" y="0"/>
                    </a:cubicBezTo>
                    <a:cubicBezTo>
                      <a:pt x="24" y="0"/>
                      <a:pt x="24" y="0"/>
                      <a:pt x="24" y="0"/>
                    </a:cubicBezTo>
                    <a:cubicBezTo>
                      <a:pt x="16" y="0"/>
                      <a:pt x="8" y="2"/>
                      <a:pt x="0" y="6"/>
                    </a:cubicBezTo>
                    <a:cubicBezTo>
                      <a:pt x="7" y="18"/>
                      <a:pt x="7" y="18"/>
                      <a:pt x="7" y="18"/>
                    </a:cubicBezTo>
                    <a:cubicBezTo>
                      <a:pt x="12" y="15"/>
                      <a:pt x="18" y="14"/>
                      <a:pt x="24" y="14"/>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28" name="Shape 7799">
                <a:extLst>
                  <a:ext uri="{FF2B5EF4-FFF2-40B4-BE49-F238E27FC236}">
                    <a16:creationId xmlns:a16="http://schemas.microsoft.com/office/drawing/2014/main" xmlns="" id="{106841BD-409E-4CEE-986C-2E2ED764EF9A}"/>
                  </a:ext>
                </a:extLst>
              </p:cNvPr>
              <p:cNvSpPr/>
              <p:nvPr/>
            </p:nvSpPr>
            <p:spPr>
              <a:xfrm>
                <a:off x="5646738" y="2417763"/>
                <a:ext cx="26988"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29" name="Shape 7800">
                <a:extLst>
                  <a:ext uri="{FF2B5EF4-FFF2-40B4-BE49-F238E27FC236}">
                    <a16:creationId xmlns:a16="http://schemas.microsoft.com/office/drawing/2014/main" xmlns="" id="{5C5FE791-BEDF-481C-8F17-713C83FA7AB1}"/>
                  </a:ext>
                </a:extLst>
              </p:cNvPr>
              <p:cNvSpPr/>
              <p:nvPr/>
            </p:nvSpPr>
            <p:spPr>
              <a:xfrm>
                <a:off x="5697538" y="241776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30" name="Shape 7801">
                <a:extLst>
                  <a:ext uri="{FF2B5EF4-FFF2-40B4-BE49-F238E27FC236}">
                    <a16:creationId xmlns:a16="http://schemas.microsoft.com/office/drawing/2014/main" xmlns="" id="{EC744E4F-66EA-4C47-9E00-0D182F7CCEB2}"/>
                  </a:ext>
                </a:extLst>
              </p:cNvPr>
              <p:cNvSpPr/>
              <p:nvPr/>
            </p:nvSpPr>
            <p:spPr>
              <a:xfrm>
                <a:off x="5748338" y="241776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31" name="Shape 7802">
                <a:extLst>
                  <a:ext uri="{FF2B5EF4-FFF2-40B4-BE49-F238E27FC236}">
                    <a16:creationId xmlns:a16="http://schemas.microsoft.com/office/drawing/2014/main" xmlns="" id="{076E5520-CD63-4400-917C-0807C777C5D2}"/>
                  </a:ext>
                </a:extLst>
              </p:cNvPr>
              <p:cNvSpPr/>
              <p:nvPr/>
            </p:nvSpPr>
            <p:spPr>
              <a:xfrm>
                <a:off x="5799138" y="241776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32" name="Shape 7803">
                <a:extLst>
                  <a:ext uri="{FF2B5EF4-FFF2-40B4-BE49-F238E27FC236}">
                    <a16:creationId xmlns:a16="http://schemas.microsoft.com/office/drawing/2014/main" xmlns="" id="{63C8B351-283B-48F8-8D49-AF615E48FCDB}"/>
                  </a:ext>
                </a:extLst>
              </p:cNvPr>
              <p:cNvSpPr/>
              <p:nvPr/>
            </p:nvSpPr>
            <p:spPr>
              <a:xfrm>
                <a:off x="5857875" y="241776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33" name="Shape 7804">
                <a:extLst>
                  <a:ext uri="{FF2B5EF4-FFF2-40B4-BE49-F238E27FC236}">
                    <a16:creationId xmlns:a16="http://schemas.microsoft.com/office/drawing/2014/main" xmlns="" id="{E1FC3003-054D-4497-A29F-04AE52BBE8EA}"/>
                  </a:ext>
                </a:extLst>
              </p:cNvPr>
              <p:cNvSpPr/>
              <p:nvPr/>
            </p:nvSpPr>
            <p:spPr>
              <a:xfrm>
                <a:off x="5564188" y="2444750"/>
                <a:ext cx="22225" cy="28575"/>
              </a:xfrm>
              <a:custGeom>
                <a:avLst/>
                <a:gdLst/>
                <a:ahLst/>
                <a:cxnLst/>
                <a:rect l="0" t="0" r="0" b="0"/>
                <a:pathLst>
                  <a:path w="19" h="24" extrusionOk="0">
                    <a:moveTo>
                      <a:pt x="19" y="7"/>
                    </a:moveTo>
                    <a:cubicBezTo>
                      <a:pt x="7" y="0"/>
                      <a:pt x="7" y="0"/>
                      <a:pt x="7" y="0"/>
                    </a:cubicBezTo>
                    <a:cubicBezTo>
                      <a:pt x="3" y="7"/>
                      <a:pt x="0" y="15"/>
                      <a:pt x="0" y="23"/>
                    </a:cubicBezTo>
                    <a:cubicBezTo>
                      <a:pt x="14" y="24"/>
                      <a:pt x="14" y="24"/>
                      <a:pt x="14" y="24"/>
                    </a:cubicBezTo>
                    <a:cubicBezTo>
                      <a:pt x="14" y="18"/>
                      <a:pt x="16" y="12"/>
                      <a:pt x="19" y="7"/>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34" name="Shape 7805">
                <a:extLst>
                  <a:ext uri="{FF2B5EF4-FFF2-40B4-BE49-F238E27FC236}">
                    <a16:creationId xmlns:a16="http://schemas.microsoft.com/office/drawing/2014/main" xmlns="" id="{A1ED541F-59F5-4F9C-9554-867F1083219B}"/>
                  </a:ext>
                </a:extLst>
              </p:cNvPr>
              <p:cNvSpPr/>
              <p:nvPr/>
            </p:nvSpPr>
            <p:spPr>
              <a:xfrm>
                <a:off x="5564188" y="2497138"/>
                <a:ext cx="15875" cy="25400"/>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35" name="Shape 7806">
                <a:extLst>
                  <a:ext uri="{FF2B5EF4-FFF2-40B4-BE49-F238E27FC236}">
                    <a16:creationId xmlns:a16="http://schemas.microsoft.com/office/drawing/2014/main" xmlns="" id="{D9CC6AC9-CD26-472B-B8D8-96D2D4BF287E}"/>
                  </a:ext>
                </a:extLst>
              </p:cNvPr>
              <p:cNvSpPr/>
              <p:nvPr/>
            </p:nvSpPr>
            <p:spPr>
              <a:xfrm>
                <a:off x="5538788" y="2551113"/>
                <a:ext cx="66675" cy="55562"/>
              </a:xfrm>
              <a:custGeom>
                <a:avLst/>
                <a:gdLst/>
                <a:ahLst/>
                <a:cxnLst/>
                <a:rect l="0" t="0" r="0" b="0"/>
                <a:pathLst>
                  <a:path w="42" h="35" extrusionOk="0">
                    <a:moveTo>
                      <a:pt x="42" y="0"/>
                    </a:moveTo>
                    <a:lnTo>
                      <a:pt x="0" y="0"/>
                    </a:lnTo>
                    <a:lnTo>
                      <a:pt x="21" y="35"/>
                    </a:lnTo>
                    <a:lnTo>
                      <a:pt x="42" y="0"/>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grpSp>
      </p:grpSp>
    </p:spTree>
    <p:extLst>
      <p:ext uri="{BB962C8B-B14F-4D97-AF65-F5344CB8AC3E}">
        <p14:creationId xmlns:p14="http://schemas.microsoft.com/office/powerpoint/2010/main" val="3317705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C5BA2E58-FEC9-D54D-ACC0-E7CEEF5F42E4}"/>
              </a:ext>
            </a:extLst>
          </p:cNvPr>
          <p:cNvSpPr>
            <a:spLocks noGrp="1"/>
          </p:cNvSpPr>
          <p:nvPr>
            <p:ph type="title"/>
          </p:nvPr>
        </p:nvSpPr>
        <p:spPr>
          <a:xfrm>
            <a:off x="678884" y="603666"/>
            <a:ext cx="10834234" cy="612775"/>
          </a:xfrm>
        </p:spPr>
        <p:txBody>
          <a:bodyPr>
            <a:normAutofit/>
          </a:bodyPr>
          <a:lstStyle/>
          <a:p>
            <a:r>
              <a:rPr lang="en-US" dirty="0" err="1">
                <a:effectLst/>
                <a:latin typeface="Times New Roman" panose="02020603050405020304" pitchFamily="18" charset="0"/>
                <a:ea typeface="Calibri" panose="020F0502020204030204" pitchFamily="34" charset="0"/>
              </a:rPr>
              <a:t>Cont</a:t>
            </a:r>
            <a:r>
              <a:rPr lang="en-US" dirty="0">
                <a:effectLst/>
                <a:latin typeface="Times New Roman" panose="02020603050405020304" pitchFamily="18" charset="0"/>
                <a:ea typeface="Calibri" panose="020F0502020204030204" pitchFamily="34" charset="0"/>
              </a:rPr>
              <a:t>…</a:t>
            </a:r>
            <a:endParaRPr lang="en-US" dirty="0"/>
          </a:p>
        </p:txBody>
      </p:sp>
      <p:grpSp>
        <p:nvGrpSpPr>
          <p:cNvPr id="6" name="Group 5">
            <a:extLst>
              <a:ext uri="{FF2B5EF4-FFF2-40B4-BE49-F238E27FC236}">
                <a16:creationId xmlns:a16="http://schemas.microsoft.com/office/drawing/2014/main" xmlns="" id="{F5412151-9BFD-4B8D-ADB1-88C4166F9075}"/>
              </a:ext>
            </a:extLst>
          </p:cNvPr>
          <p:cNvGrpSpPr/>
          <p:nvPr/>
        </p:nvGrpSpPr>
        <p:grpSpPr>
          <a:xfrm>
            <a:off x="554748" y="1230563"/>
            <a:ext cx="10958370" cy="2251614"/>
            <a:chOff x="669953" y="1659835"/>
            <a:chExt cx="10958370" cy="2251614"/>
          </a:xfrm>
        </p:grpSpPr>
        <p:sp>
          <p:nvSpPr>
            <p:cNvPr id="7" name="Freeform 6">
              <a:extLst>
                <a:ext uri="{FF2B5EF4-FFF2-40B4-BE49-F238E27FC236}">
                  <a16:creationId xmlns:a16="http://schemas.microsoft.com/office/drawing/2014/main" xmlns="" id="{B683487C-3716-4D33-8531-F930D0C8C868}"/>
                </a:ext>
              </a:extLst>
            </p:cNvPr>
            <p:cNvSpPr>
              <a:spLocks/>
            </p:cNvSpPr>
            <p:nvPr/>
          </p:nvSpPr>
          <p:spPr bwMode="auto">
            <a:xfrm>
              <a:off x="776848" y="1680017"/>
              <a:ext cx="373861" cy="274869"/>
            </a:xfrm>
            <a:custGeom>
              <a:avLst/>
              <a:gdLst>
                <a:gd name="T0" fmla="*/ 81 w 162"/>
                <a:gd name="T1" fmla="*/ 0 h 119"/>
                <a:gd name="T2" fmla="*/ 0 w 162"/>
                <a:gd name="T3" fmla="*/ 119 h 119"/>
                <a:gd name="T4" fmla="*/ 162 w 162"/>
                <a:gd name="T5" fmla="*/ 119 h 119"/>
                <a:gd name="T6" fmla="*/ 81 w 162"/>
                <a:gd name="T7" fmla="*/ 0 h 119"/>
              </a:gdLst>
              <a:ahLst/>
              <a:cxnLst>
                <a:cxn ang="0">
                  <a:pos x="T0" y="T1"/>
                </a:cxn>
                <a:cxn ang="0">
                  <a:pos x="T2" y="T3"/>
                </a:cxn>
                <a:cxn ang="0">
                  <a:pos x="T4" y="T5"/>
                </a:cxn>
                <a:cxn ang="0">
                  <a:pos x="T6" y="T7"/>
                </a:cxn>
              </a:cxnLst>
              <a:rect l="0" t="0" r="r" b="b"/>
              <a:pathLst>
                <a:path w="162" h="119">
                  <a:moveTo>
                    <a:pt x="81" y="0"/>
                  </a:moveTo>
                  <a:cubicBezTo>
                    <a:pt x="34" y="18"/>
                    <a:pt x="0" y="65"/>
                    <a:pt x="0" y="119"/>
                  </a:cubicBezTo>
                  <a:cubicBezTo>
                    <a:pt x="162" y="119"/>
                    <a:pt x="162" y="119"/>
                    <a:pt x="162" y="119"/>
                  </a:cubicBezTo>
                  <a:cubicBezTo>
                    <a:pt x="162" y="65"/>
                    <a:pt x="129" y="19"/>
                    <a:pt x="81" y="0"/>
                  </a:cubicBez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ru-RU"/>
            </a:p>
          </p:txBody>
        </p:sp>
        <p:sp>
          <p:nvSpPr>
            <p:cNvPr id="8" name="Rectangle: Rounded Corners 7">
              <a:extLst>
                <a:ext uri="{FF2B5EF4-FFF2-40B4-BE49-F238E27FC236}">
                  <a16:creationId xmlns:a16="http://schemas.microsoft.com/office/drawing/2014/main" xmlns="" id="{A9D93FDA-339F-4FCA-949B-02D28244A466}"/>
                </a:ext>
              </a:extLst>
            </p:cNvPr>
            <p:cNvSpPr/>
            <p:nvPr/>
          </p:nvSpPr>
          <p:spPr>
            <a:xfrm>
              <a:off x="776848" y="1953670"/>
              <a:ext cx="10851475" cy="567664"/>
            </a:xfrm>
            <a:prstGeom prst="roundRect">
              <a:avLst>
                <a:gd name="adj" fmla="val 9723"/>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404000" rtlCol="0" anchor="ctr"/>
            <a:lstStyle/>
            <a:p>
              <a:r>
                <a:rPr lang="en-US" sz="2200" b="1" dirty="0" err="1">
                  <a:solidFill>
                    <a:schemeClr val="tx1"/>
                  </a:solidFill>
                  <a:effectLst/>
                  <a:latin typeface="Times New Roman" panose="02020603050405020304" pitchFamily="18" charset="0"/>
                  <a:ea typeface="Calibri" panose="020F0502020204030204" pitchFamily="34" charset="0"/>
                </a:rPr>
                <a:t>ChatGPT</a:t>
              </a:r>
              <a:r>
                <a:rPr lang="en-US" sz="2200" b="1" dirty="0">
                  <a:solidFill>
                    <a:schemeClr val="tx1"/>
                  </a:solidFill>
                  <a:effectLst/>
                  <a:latin typeface="Times New Roman" panose="02020603050405020304" pitchFamily="18" charset="0"/>
                  <a:ea typeface="Calibri" panose="020F0502020204030204" pitchFamily="34" charset="0"/>
                </a:rPr>
                <a:t> + Macros</a:t>
              </a:r>
              <a:endParaRPr lang="en-IN" sz="2200" b="1" dirty="0">
                <a:solidFill>
                  <a:schemeClr val="tx1"/>
                </a:solidFill>
                <a:latin typeface="Calibri" panose="020F0502020204030204" pitchFamily="34" charset="0"/>
              </a:endParaRPr>
            </a:p>
          </p:txBody>
        </p:sp>
        <p:sp>
          <p:nvSpPr>
            <p:cNvPr id="9" name="Content Placeholder 2">
              <a:extLst>
                <a:ext uri="{FF2B5EF4-FFF2-40B4-BE49-F238E27FC236}">
                  <a16:creationId xmlns:a16="http://schemas.microsoft.com/office/drawing/2014/main" xmlns="" id="{1F8736E4-B09E-4EBF-90EF-8B58C7FFA0E2}"/>
                </a:ext>
              </a:extLst>
            </p:cNvPr>
            <p:cNvSpPr txBox="1">
              <a:spLocks/>
            </p:cNvSpPr>
            <p:nvPr/>
          </p:nvSpPr>
          <p:spPr>
            <a:xfrm>
              <a:off x="669953" y="3035410"/>
              <a:ext cx="10834234" cy="876039"/>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Nunito"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Nunito"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Nunito"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400"/>
                </a:spcBef>
                <a:spcAft>
                  <a:spcPts val="400"/>
                </a:spcAft>
                <a:buNone/>
              </a:pPr>
              <a:r>
                <a:rPr lang="en-US" sz="2200" dirty="0">
                  <a:latin typeface="+mn-lt"/>
                </a:rPr>
                <a:t>Combining </a:t>
              </a:r>
              <a:r>
                <a:rPr lang="en-US" sz="2200" dirty="0" err="1">
                  <a:latin typeface="+mn-lt"/>
                </a:rPr>
                <a:t>ChatGPT</a:t>
              </a:r>
              <a:r>
                <a:rPr lang="en-US" sz="2200" dirty="0">
                  <a:latin typeface="+mn-lt"/>
                </a:rPr>
                <a:t> with Macros involves integrating the natural language capabilities of </a:t>
              </a:r>
              <a:r>
                <a:rPr lang="en-US" sz="2200" dirty="0" err="1">
                  <a:latin typeface="+mn-lt"/>
                </a:rPr>
                <a:t>ChatGPT</a:t>
              </a:r>
              <a:r>
                <a:rPr lang="en-US" sz="2200" dirty="0">
                  <a:latin typeface="+mn-lt"/>
                </a:rPr>
                <a:t> with macros to perform tasks in various applications, enhancing user interaction and task execution.</a:t>
              </a:r>
            </a:p>
            <a:p>
              <a:pPr>
                <a:lnSpc>
                  <a:spcPct val="100000"/>
                </a:lnSpc>
                <a:spcBef>
                  <a:spcPts val="400"/>
                </a:spcBef>
                <a:spcAft>
                  <a:spcPts val="400"/>
                </a:spcAft>
                <a:buFont typeface="Wingdings" panose="05000000000000000000" pitchFamily="2" charset="2"/>
                <a:buChar char="Ø"/>
              </a:pPr>
              <a:r>
                <a:rPr lang="en-US" sz="2200" dirty="0">
                  <a:latin typeface="+mn-lt"/>
                </a:rPr>
                <a:t>Allows users to instruct the AI model to execute specific tasks, while macros automate repetitive actions</a:t>
              </a:r>
            </a:p>
            <a:p>
              <a:pPr>
                <a:lnSpc>
                  <a:spcPct val="100000"/>
                </a:lnSpc>
                <a:spcBef>
                  <a:spcPts val="400"/>
                </a:spcBef>
                <a:spcAft>
                  <a:spcPts val="400"/>
                </a:spcAft>
                <a:buFont typeface="Wingdings" panose="05000000000000000000" pitchFamily="2" charset="2"/>
                <a:buChar char="Ø"/>
              </a:pPr>
              <a:r>
                <a:rPr lang="en-US" sz="2200" dirty="0">
                  <a:latin typeface="+mn-lt"/>
                </a:rPr>
                <a:t>The synergy between </a:t>
              </a:r>
              <a:r>
                <a:rPr lang="en-US" sz="2200" dirty="0" err="1">
                  <a:latin typeface="+mn-lt"/>
                </a:rPr>
                <a:t>ChatGPT</a:t>
              </a:r>
              <a:r>
                <a:rPr lang="en-US" sz="2200" dirty="0">
                  <a:latin typeface="+mn-lt"/>
                </a:rPr>
                <a:t> and Macros aims to provide a more conversational and user-friendly interface for executing commands and automating routine tasks.</a:t>
              </a:r>
            </a:p>
            <a:p>
              <a:pPr marL="0" indent="0">
                <a:lnSpc>
                  <a:spcPct val="100000"/>
                </a:lnSpc>
                <a:spcBef>
                  <a:spcPts val="400"/>
                </a:spcBef>
                <a:spcAft>
                  <a:spcPts val="400"/>
                </a:spcAft>
                <a:buNone/>
              </a:pPr>
              <a:r>
                <a:rPr lang="en-US" sz="2200" b="1" dirty="0">
                  <a:latin typeface="+mn-lt"/>
                </a:rPr>
                <a:t>Here’s an exercise:  </a:t>
              </a:r>
            </a:p>
          </p:txBody>
        </p:sp>
        <p:sp>
          <p:nvSpPr>
            <p:cNvPr id="10" name="Freeform 7">
              <a:extLst>
                <a:ext uri="{FF2B5EF4-FFF2-40B4-BE49-F238E27FC236}">
                  <a16:creationId xmlns:a16="http://schemas.microsoft.com/office/drawing/2014/main" xmlns="" id="{60C8FEB8-998B-4BBE-B921-6E7EB3DD5479}"/>
                </a:ext>
              </a:extLst>
            </p:cNvPr>
            <p:cNvSpPr>
              <a:spLocks/>
            </p:cNvSpPr>
            <p:nvPr/>
          </p:nvSpPr>
          <p:spPr bwMode="auto">
            <a:xfrm>
              <a:off x="871995" y="1659835"/>
              <a:ext cx="1061994" cy="1111971"/>
            </a:xfrm>
            <a:custGeom>
              <a:avLst/>
              <a:gdLst>
                <a:gd name="T0" fmla="*/ 332 w 461"/>
                <a:gd name="T1" fmla="*/ 0 h 482"/>
                <a:gd name="T2" fmla="*/ 88 w 461"/>
                <a:gd name="T3" fmla="*/ 0 h 482"/>
                <a:gd name="T4" fmla="*/ 40 w 461"/>
                <a:gd name="T5" fmla="*/ 9 h 482"/>
                <a:gd name="T6" fmla="*/ 0 w 461"/>
                <a:gd name="T7" fmla="*/ 35 h 482"/>
                <a:gd name="T8" fmla="*/ 81 w 461"/>
                <a:gd name="T9" fmla="*/ 35 h 482"/>
                <a:gd name="T10" fmla="*/ 121 w 461"/>
                <a:gd name="T11" fmla="*/ 128 h 482"/>
                <a:gd name="T12" fmla="*/ 121 w 461"/>
                <a:gd name="T13" fmla="*/ 311 h 482"/>
                <a:gd name="T14" fmla="*/ 121 w 461"/>
                <a:gd name="T15" fmla="*/ 312 h 482"/>
                <a:gd name="T16" fmla="*/ 291 w 461"/>
                <a:gd name="T17" fmla="*/ 482 h 482"/>
                <a:gd name="T18" fmla="*/ 461 w 461"/>
                <a:gd name="T19" fmla="*/ 312 h 482"/>
                <a:gd name="T20" fmla="*/ 461 w 461"/>
                <a:gd name="T21" fmla="*/ 312 h 482"/>
                <a:gd name="T22" fmla="*/ 461 w 461"/>
                <a:gd name="T23" fmla="*/ 128 h 482"/>
                <a:gd name="T24" fmla="*/ 332 w 461"/>
                <a:gd name="T25" fmla="*/ 0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 h="482">
                  <a:moveTo>
                    <a:pt x="332" y="0"/>
                  </a:moveTo>
                  <a:cubicBezTo>
                    <a:pt x="88" y="0"/>
                    <a:pt x="88" y="0"/>
                    <a:pt x="88" y="0"/>
                  </a:cubicBezTo>
                  <a:cubicBezTo>
                    <a:pt x="71" y="0"/>
                    <a:pt x="55" y="3"/>
                    <a:pt x="40" y="9"/>
                  </a:cubicBezTo>
                  <a:cubicBezTo>
                    <a:pt x="25" y="15"/>
                    <a:pt x="11" y="24"/>
                    <a:pt x="0" y="35"/>
                  </a:cubicBezTo>
                  <a:cubicBezTo>
                    <a:pt x="22" y="13"/>
                    <a:pt x="58" y="13"/>
                    <a:pt x="81" y="35"/>
                  </a:cubicBezTo>
                  <a:cubicBezTo>
                    <a:pt x="106" y="58"/>
                    <a:pt x="121" y="91"/>
                    <a:pt x="121" y="128"/>
                  </a:cubicBezTo>
                  <a:cubicBezTo>
                    <a:pt x="121" y="311"/>
                    <a:pt x="121" y="311"/>
                    <a:pt x="121" y="311"/>
                  </a:cubicBezTo>
                  <a:cubicBezTo>
                    <a:pt x="121" y="311"/>
                    <a:pt x="121" y="311"/>
                    <a:pt x="121" y="312"/>
                  </a:cubicBezTo>
                  <a:cubicBezTo>
                    <a:pt x="121" y="405"/>
                    <a:pt x="197" y="482"/>
                    <a:pt x="291" y="482"/>
                  </a:cubicBezTo>
                  <a:cubicBezTo>
                    <a:pt x="385" y="482"/>
                    <a:pt x="461" y="405"/>
                    <a:pt x="461" y="312"/>
                  </a:cubicBezTo>
                  <a:cubicBezTo>
                    <a:pt x="461" y="312"/>
                    <a:pt x="461" y="312"/>
                    <a:pt x="461" y="312"/>
                  </a:cubicBezTo>
                  <a:cubicBezTo>
                    <a:pt x="461" y="128"/>
                    <a:pt x="461" y="128"/>
                    <a:pt x="461" y="128"/>
                  </a:cubicBezTo>
                  <a:cubicBezTo>
                    <a:pt x="461" y="57"/>
                    <a:pt x="403" y="0"/>
                    <a:pt x="332"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ru-RU"/>
            </a:p>
          </p:txBody>
        </p:sp>
        <p:sp>
          <p:nvSpPr>
            <p:cNvPr id="11" name="Oval 8">
              <a:extLst>
                <a:ext uri="{FF2B5EF4-FFF2-40B4-BE49-F238E27FC236}">
                  <a16:creationId xmlns:a16="http://schemas.microsoft.com/office/drawing/2014/main" xmlns="" id="{3AFF0686-D0F4-4479-ACC5-24B3375ED479}"/>
                </a:ext>
              </a:extLst>
            </p:cNvPr>
            <p:cNvSpPr>
              <a:spLocks noChangeArrowheads="1"/>
            </p:cNvSpPr>
            <p:nvPr/>
          </p:nvSpPr>
          <p:spPr bwMode="auto">
            <a:xfrm>
              <a:off x="1215101" y="2051956"/>
              <a:ext cx="654496" cy="652574"/>
            </a:xfrm>
            <a:prstGeom prst="ellipse">
              <a:avLst/>
            </a:prstGeom>
            <a:solidFill>
              <a:schemeClr val="bg2"/>
            </a:solidFill>
            <a:ln>
              <a:noFill/>
            </a:ln>
          </p:spPr>
          <p:txBody>
            <a:bodyPr vert="horz" wrap="square" lIns="91440" tIns="45720" rIns="91440" bIns="45720" numCol="1" anchor="t" anchorCtr="0" compatLnSpc="1">
              <a:prstTxWarp prst="textNoShape">
                <a:avLst/>
              </a:prstTxWarp>
            </a:bodyPr>
            <a:lstStyle/>
            <a:p>
              <a:endParaRPr lang="ru-RU"/>
            </a:p>
          </p:txBody>
        </p:sp>
        <p:grpSp>
          <p:nvGrpSpPr>
            <p:cNvPr id="12" name="Shape 7784">
              <a:extLst>
                <a:ext uri="{FF2B5EF4-FFF2-40B4-BE49-F238E27FC236}">
                  <a16:creationId xmlns:a16="http://schemas.microsoft.com/office/drawing/2014/main" xmlns="" id="{CFACB513-5729-406A-9CAA-FD7850F922D1}"/>
                </a:ext>
              </a:extLst>
            </p:cNvPr>
            <p:cNvGrpSpPr/>
            <p:nvPr/>
          </p:nvGrpSpPr>
          <p:grpSpPr>
            <a:xfrm>
              <a:off x="1389773" y="2214880"/>
              <a:ext cx="330464" cy="352116"/>
              <a:chOff x="5538788" y="2417763"/>
              <a:chExt cx="557213" cy="593725"/>
            </a:xfrm>
            <a:solidFill>
              <a:schemeClr val="tx1"/>
            </a:solidFill>
          </p:grpSpPr>
          <p:sp>
            <p:nvSpPr>
              <p:cNvPr id="13" name="Shape 7785">
                <a:extLst>
                  <a:ext uri="{FF2B5EF4-FFF2-40B4-BE49-F238E27FC236}">
                    <a16:creationId xmlns:a16="http://schemas.microsoft.com/office/drawing/2014/main" xmlns="" id="{499D29CC-1A29-4774-8095-D273AB3B1A65}"/>
                  </a:ext>
                </a:extLst>
              </p:cNvPr>
              <p:cNvSpPr/>
              <p:nvPr/>
            </p:nvSpPr>
            <p:spPr>
              <a:xfrm>
                <a:off x="5538788" y="2727325"/>
                <a:ext cx="188913" cy="284162"/>
              </a:xfrm>
              <a:custGeom>
                <a:avLst/>
                <a:gdLst/>
                <a:ahLst/>
                <a:cxnLst/>
                <a:rect l="0" t="0" r="0" b="0"/>
                <a:pathLst>
                  <a:path w="160" h="242" extrusionOk="0">
                    <a:moveTo>
                      <a:pt x="0" y="233"/>
                    </a:moveTo>
                    <a:cubicBezTo>
                      <a:pt x="0" y="238"/>
                      <a:pt x="4" y="242"/>
                      <a:pt x="9" y="242"/>
                    </a:cubicBezTo>
                    <a:cubicBezTo>
                      <a:pt x="151" y="242"/>
                      <a:pt x="151" y="242"/>
                      <a:pt x="151" y="242"/>
                    </a:cubicBezTo>
                    <a:cubicBezTo>
                      <a:pt x="156" y="242"/>
                      <a:pt x="160" y="238"/>
                      <a:pt x="160" y="233"/>
                    </a:cubicBezTo>
                    <a:cubicBezTo>
                      <a:pt x="160" y="0"/>
                      <a:pt x="160" y="0"/>
                      <a:pt x="160" y="0"/>
                    </a:cubicBezTo>
                    <a:cubicBezTo>
                      <a:pt x="0" y="0"/>
                      <a:pt x="0" y="0"/>
                      <a:pt x="0" y="0"/>
                    </a:cubicBezTo>
                    <a:lnTo>
                      <a:pt x="0" y="233"/>
                    </a:lnTo>
                    <a:close/>
                    <a:moveTo>
                      <a:pt x="80" y="227"/>
                    </a:moveTo>
                    <a:cubicBezTo>
                      <a:pt x="71" y="227"/>
                      <a:pt x="63" y="220"/>
                      <a:pt x="63" y="210"/>
                    </a:cubicBezTo>
                    <a:cubicBezTo>
                      <a:pt x="63" y="200"/>
                      <a:pt x="71" y="192"/>
                      <a:pt x="80" y="192"/>
                    </a:cubicBezTo>
                    <a:cubicBezTo>
                      <a:pt x="90" y="192"/>
                      <a:pt x="98" y="200"/>
                      <a:pt x="98" y="210"/>
                    </a:cubicBezTo>
                    <a:cubicBezTo>
                      <a:pt x="98" y="220"/>
                      <a:pt x="90" y="227"/>
                      <a:pt x="80" y="227"/>
                    </a:cubicBezTo>
                    <a:close/>
                    <a:moveTo>
                      <a:pt x="73" y="175"/>
                    </a:moveTo>
                    <a:cubicBezTo>
                      <a:pt x="73" y="171"/>
                      <a:pt x="76" y="167"/>
                      <a:pt x="80" y="167"/>
                    </a:cubicBezTo>
                    <a:cubicBezTo>
                      <a:pt x="85" y="167"/>
                      <a:pt x="88" y="171"/>
                      <a:pt x="88" y="175"/>
                    </a:cubicBezTo>
                    <a:cubicBezTo>
                      <a:pt x="88" y="179"/>
                      <a:pt x="85" y="183"/>
                      <a:pt x="80" y="183"/>
                    </a:cubicBezTo>
                    <a:cubicBezTo>
                      <a:pt x="76" y="183"/>
                      <a:pt x="73" y="179"/>
                      <a:pt x="73" y="175"/>
                    </a:cubicBezTo>
                    <a:close/>
                    <a:moveTo>
                      <a:pt x="29" y="12"/>
                    </a:moveTo>
                    <a:cubicBezTo>
                      <a:pt x="131" y="12"/>
                      <a:pt x="131" y="12"/>
                      <a:pt x="131" y="12"/>
                    </a:cubicBezTo>
                    <a:cubicBezTo>
                      <a:pt x="131" y="33"/>
                      <a:pt x="131" y="33"/>
                      <a:pt x="131" y="33"/>
                    </a:cubicBezTo>
                    <a:cubicBezTo>
                      <a:pt x="29" y="33"/>
                      <a:pt x="29" y="33"/>
                      <a:pt x="29" y="33"/>
                    </a:cubicBezTo>
                    <a:lnTo>
                      <a:pt x="29" y="12"/>
                    </a:lnTo>
                    <a:close/>
                    <a:moveTo>
                      <a:pt x="29" y="43"/>
                    </a:moveTo>
                    <a:cubicBezTo>
                      <a:pt x="131" y="43"/>
                      <a:pt x="131" y="43"/>
                      <a:pt x="131" y="43"/>
                    </a:cubicBezTo>
                    <a:cubicBezTo>
                      <a:pt x="131" y="64"/>
                      <a:pt x="131" y="64"/>
                      <a:pt x="131" y="64"/>
                    </a:cubicBezTo>
                    <a:cubicBezTo>
                      <a:pt x="29" y="64"/>
                      <a:pt x="29" y="64"/>
                      <a:pt x="29" y="64"/>
                    </a:cubicBezTo>
                    <a:lnTo>
                      <a:pt x="29" y="43"/>
                    </a:lnTo>
                    <a:close/>
                    <a:moveTo>
                      <a:pt x="29" y="73"/>
                    </a:moveTo>
                    <a:cubicBezTo>
                      <a:pt x="131" y="73"/>
                      <a:pt x="131" y="73"/>
                      <a:pt x="131" y="73"/>
                    </a:cubicBezTo>
                    <a:cubicBezTo>
                      <a:pt x="131" y="94"/>
                      <a:pt x="131" y="94"/>
                      <a:pt x="131" y="94"/>
                    </a:cubicBezTo>
                    <a:cubicBezTo>
                      <a:pt x="29" y="94"/>
                      <a:pt x="29" y="94"/>
                      <a:pt x="29" y="94"/>
                    </a:cubicBezTo>
                    <a:lnTo>
                      <a:pt x="29" y="73"/>
                    </a:lnTo>
                    <a:close/>
                    <a:moveTo>
                      <a:pt x="29" y="104"/>
                    </a:moveTo>
                    <a:cubicBezTo>
                      <a:pt x="131" y="104"/>
                      <a:pt x="131" y="104"/>
                      <a:pt x="131" y="104"/>
                    </a:cubicBezTo>
                    <a:cubicBezTo>
                      <a:pt x="131" y="125"/>
                      <a:pt x="131" y="125"/>
                      <a:pt x="131" y="125"/>
                    </a:cubicBezTo>
                    <a:cubicBezTo>
                      <a:pt x="29" y="125"/>
                      <a:pt x="29" y="125"/>
                      <a:pt x="29" y="125"/>
                    </a:cubicBezTo>
                    <a:lnTo>
                      <a:pt x="29" y="104"/>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14" name="Shape 7786">
                <a:extLst>
                  <a:ext uri="{FF2B5EF4-FFF2-40B4-BE49-F238E27FC236}">
                    <a16:creationId xmlns:a16="http://schemas.microsoft.com/office/drawing/2014/main" xmlns="" id="{CC028885-77CE-4060-895F-99A2D1703B9E}"/>
                  </a:ext>
                </a:extLst>
              </p:cNvPr>
              <p:cNvSpPr/>
              <p:nvPr/>
            </p:nvSpPr>
            <p:spPr>
              <a:xfrm>
                <a:off x="5538788" y="2651125"/>
                <a:ext cx="188913" cy="63500"/>
              </a:xfrm>
              <a:custGeom>
                <a:avLst/>
                <a:gdLst/>
                <a:ahLst/>
                <a:cxnLst/>
                <a:rect l="0" t="0" r="0" b="0"/>
                <a:pathLst>
                  <a:path w="160" h="55" extrusionOk="0">
                    <a:moveTo>
                      <a:pt x="151" y="0"/>
                    </a:moveTo>
                    <a:cubicBezTo>
                      <a:pt x="9" y="0"/>
                      <a:pt x="9" y="0"/>
                      <a:pt x="9" y="0"/>
                    </a:cubicBezTo>
                    <a:cubicBezTo>
                      <a:pt x="4" y="0"/>
                      <a:pt x="0" y="4"/>
                      <a:pt x="0" y="9"/>
                    </a:cubicBezTo>
                    <a:cubicBezTo>
                      <a:pt x="0" y="55"/>
                      <a:pt x="0" y="55"/>
                      <a:pt x="0" y="55"/>
                    </a:cubicBezTo>
                    <a:cubicBezTo>
                      <a:pt x="160" y="55"/>
                      <a:pt x="160" y="55"/>
                      <a:pt x="160" y="55"/>
                    </a:cubicBezTo>
                    <a:cubicBezTo>
                      <a:pt x="160" y="9"/>
                      <a:pt x="160" y="9"/>
                      <a:pt x="160" y="9"/>
                    </a:cubicBezTo>
                    <a:cubicBezTo>
                      <a:pt x="160" y="4"/>
                      <a:pt x="156" y="0"/>
                      <a:pt x="151" y="0"/>
                    </a:cubicBezTo>
                    <a:close/>
                    <a:moveTo>
                      <a:pt x="43" y="43"/>
                    </a:moveTo>
                    <a:cubicBezTo>
                      <a:pt x="36" y="43"/>
                      <a:pt x="30" y="37"/>
                      <a:pt x="30" y="30"/>
                    </a:cubicBezTo>
                    <a:cubicBezTo>
                      <a:pt x="30" y="22"/>
                      <a:pt x="36" y="16"/>
                      <a:pt x="43" y="16"/>
                    </a:cubicBezTo>
                    <a:cubicBezTo>
                      <a:pt x="51" y="16"/>
                      <a:pt x="57" y="22"/>
                      <a:pt x="57" y="30"/>
                    </a:cubicBezTo>
                    <a:cubicBezTo>
                      <a:pt x="57" y="37"/>
                      <a:pt x="51" y="43"/>
                      <a:pt x="43" y="43"/>
                    </a:cubicBezTo>
                    <a:close/>
                    <a:moveTo>
                      <a:pt x="131" y="38"/>
                    </a:moveTo>
                    <a:cubicBezTo>
                      <a:pt x="68" y="38"/>
                      <a:pt x="68" y="38"/>
                      <a:pt x="68" y="38"/>
                    </a:cubicBezTo>
                    <a:cubicBezTo>
                      <a:pt x="68" y="22"/>
                      <a:pt x="68" y="22"/>
                      <a:pt x="68" y="22"/>
                    </a:cubicBezTo>
                    <a:cubicBezTo>
                      <a:pt x="131" y="22"/>
                      <a:pt x="131" y="22"/>
                      <a:pt x="131" y="22"/>
                    </a:cubicBezTo>
                    <a:lnTo>
                      <a:pt x="131" y="38"/>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15" name="Shape 7787">
                <a:extLst>
                  <a:ext uri="{FF2B5EF4-FFF2-40B4-BE49-F238E27FC236}">
                    <a16:creationId xmlns:a16="http://schemas.microsoft.com/office/drawing/2014/main" xmlns="" id="{D8DC1C87-0063-4D76-B2B4-7A912C6D65BA}"/>
                  </a:ext>
                </a:extLst>
              </p:cNvPr>
              <p:cNvSpPr/>
              <p:nvPr/>
            </p:nvSpPr>
            <p:spPr>
              <a:xfrm>
                <a:off x="6013450" y="2990850"/>
                <a:ext cx="28575" cy="20637"/>
              </a:xfrm>
              <a:custGeom>
                <a:avLst/>
                <a:gdLst/>
                <a:ahLst/>
                <a:cxnLst/>
                <a:rect l="0" t="0" r="0" b="0"/>
                <a:pathLst>
                  <a:path w="24" h="18" extrusionOk="0">
                    <a:moveTo>
                      <a:pt x="1" y="4"/>
                    </a:moveTo>
                    <a:cubicBezTo>
                      <a:pt x="0" y="4"/>
                      <a:pt x="0" y="4"/>
                      <a:pt x="0" y="4"/>
                    </a:cubicBezTo>
                    <a:cubicBezTo>
                      <a:pt x="0" y="18"/>
                      <a:pt x="0" y="18"/>
                      <a:pt x="0" y="18"/>
                    </a:cubicBezTo>
                    <a:cubicBezTo>
                      <a:pt x="1" y="18"/>
                      <a:pt x="1" y="18"/>
                      <a:pt x="1" y="18"/>
                    </a:cubicBezTo>
                    <a:cubicBezTo>
                      <a:pt x="9" y="18"/>
                      <a:pt x="17" y="16"/>
                      <a:pt x="24" y="12"/>
                    </a:cubicBezTo>
                    <a:cubicBezTo>
                      <a:pt x="17" y="0"/>
                      <a:pt x="17" y="0"/>
                      <a:pt x="17" y="0"/>
                    </a:cubicBezTo>
                    <a:cubicBezTo>
                      <a:pt x="12" y="3"/>
                      <a:pt x="6" y="4"/>
                      <a:pt x="1" y="4"/>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16" name="Shape 7788">
                <a:extLst>
                  <a:ext uri="{FF2B5EF4-FFF2-40B4-BE49-F238E27FC236}">
                    <a16:creationId xmlns:a16="http://schemas.microsoft.com/office/drawing/2014/main" xmlns="" id="{BB517073-8815-46DA-9CEB-BDE22D609C91}"/>
                  </a:ext>
                </a:extLst>
              </p:cNvPr>
              <p:cNvSpPr/>
              <p:nvPr/>
            </p:nvSpPr>
            <p:spPr>
              <a:xfrm>
                <a:off x="5964238" y="299561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17" name="Shape 7789">
                <a:extLst>
                  <a:ext uri="{FF2B5EF4-FFF2-40B4-BE49-F238E27FC236}">
                    <a16:creationId xmlns:a16="http://schemas.microsoft.com/office/drawing/2014/main" xmlns="" id="{BC1AEB5A-DD89-461A-AD7D-F2B2392C1D99}"/>
                  </a:ext>
                </a:extLst>
              </p:cNvPr>
              <p:cNvSpPr/>
              <p:nvPr/>
            </p:nvSpPr>
            <p:spPr>
              <a:xfrm>
                <a:off x="5913438" y="2995613"/>
                <a:ext cx="23813"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18" name="Shape 7790">
                <a:extLst>
                  <a:ext uri="{FF2B5EF4-FFF2-40B4-BE49-F238E27FC236}">
                    <a16:creationId xmlns:a16="http://schemas.microsoft.com/office/drawing/2014/main" xmlns="" id="{8A293577-F784-450D-A1A2-2F51D576E877}"/>
                  </a:ext>
                </a:extLst>
              </p:cNvPr>
              <p:cNvSpPr/>
              <p:nvPr/>
            </p:nvSpPr>
            <p:spPr>
              <a:xfrm>
                <a:off x="5862638" y="299561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19" name="Shape 7791">
                <a:extLst>
                  <a:ext uri="{FF2B5EF4-FFF2-40B4-BE49-F238E27FC236}">
                    <a16:creationId xmlns:a16="http://schemas.microsoft.com/office/drawing/2014/main" xmlns="" id="{A20B9DB2-6DF7-4E28-9BF7-72C34F8CF98E}"/>
                  </a:ext>
                </a:extLst>
              </p:cNvPr>
              <p:cNvSpPr/>
              <p:nvPr/>
            </p:nvSpPr>
            <p:spPr>
              <a:xfrm>
                <a:off x="5807075" y="2995613"/>
                <a:ext cx="23813"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21" name="Shape 7792">
                <a:extLst>
                  <a:ext uri="{FF2B5EF4-FFF2-40B4-BE49-F238E27FC236}">
                    <a16:creationId xmlns:a16="http://schemas.microsoft.com/office/drawing/2014/main" xmlns="" id="{DAC2964D-BAD9-4BFF-BF2F-29A48A13610A}"/>
                  </a:ext>
                </a:extLst>
              </p:cNvPr>
              <p:cNvSpPr/>
              <p:nvPr/>
            </p:nvSpPr>
            <p:spPr>
              <a:xfrm>
                <a:off x="5753100" y="299561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22" name="Shape 7793">
                <a:extLst>
                  <a:ext uri="{FF2B5EF4-FFF2-40B4-BE49-F238E27FC236}">
                    <a16:creationId xmlns:a16="http://schemas.microsoft.com/office/drawing/2014/main" xmlns="" id="{28F7CF2F-1D61-41EF-8AA5-56B72C66B691}"/>
                  </a:ext>
                </a:extLst>
              </p:cNvPr>
              <p:cNvSpPr/>
              <p:nvPr/>
            </p:nvSpPr>
            <p:spPr>
              <a:xfrm>
                <a:off x="6048375" y="2955925"/>
                <a:ext cx="22225" cy="28575"/>
              </a:xfrm>
              <a:custGeom>
                <a:avLst/>
                <a:gdLst/>
                <a:ahLst/>
                <a:cxnLst/>
                <a:rect l="0" t="0" r="0" b="0"/>
                <a:pathLst>
                  <a:path w="19" h="24" extrusionOk="0">
                    <a:moveTo>
                      <a:pt x="0" y="17"/>
                    </a:moveTo>
                    <a:cubicBezTo>
                      <a:pt x="12" y="24"/>
                      <a:pt x="12" y="24"/>
                      <a:pt x="12" y="24"/>
                    </a:cubicBezTo>
                    <a:cubicBezTo>
                      <a:pt x="17" y="17"/>
                      <a:pt x="19" y="9"/>
                      <a:pt x="19" y="0"/>
                    </a:cubicBezTo>
                    <a:cubicBezTo>
                      <a:pt x="6" y="0"/>
                      <a:pt x="6" y="0"/>
                      <a:pt x="6" y="0"/>
                    </a:cubicBezTo>
                    <a:cubicBezTo>
                      <a:pt x="5" y="6"/>
                      <a:pt x="3" y="12"/>
                      <a:pt x="0" y="17"/>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23" name="Shape 7794">
                <a:extLst>
                  <a:ext uri="{FF2B5EF4-FFF2-40B4-BE49-F238E27FC236}">
                    <a16:creationId xmlns:a16="http://schemas.microsoft.com/office/drawing/2014/main" xmlns="" id="{172A1A42-59D1-4EB9-95C5-C702481201AC}"/>
                  </a:ext>
                </a:extLst>
              </p:cNvPr>
              <p:cNvSpPr/>
              <p:nvPr/>
            </p:nvSpPr>
            <p:spPr>
              <a:xfrm>
                <a:off x="6056313" y="2906713"/>
                <a:ext cx="15875" cy="23812"/>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24" name="Shape 7795">
                <a:extLst>
                  <a:ext uri="{FF2B5EF4-FFF2-40B4-BE49-F238E27FC236}">
                    <a16:creationId xmlns:a16="http://schemas.microsoft.com/office/drawing/2014/main" xmlns="" id="{94CB30F0-98D6-4F1E-876F-481D10337356}"/>
                  </a:ext>
                </a:extLst>
              </p:cNvPr>
              <p:cNvSpPr/>
              <p:nvPr/>
            </p:nvSpPr>
            <p:spPr>
              <a:xfrm>
                <a:off x="6030913" y="2820988"/>
                <a:ext cx="65088" cy="57150"/>
              </a:xfrm>
              <a:custGeom>
                <a:avLst/>
                <a:gdLst/>
                <a:ahLst/>
                <a:cxnLst/>
                <a:rect l="0" t="0" r="0" b="0"/>
                <a:pathLst>
                  <a:path w="41" h="36" extrusionOk="0">
                    <a:moveTo>
                      <a:pt x="0" y="36"/>
                    </a:moveTo>
                    <a:lnTo>
                      <a:pt x="41" y="36"/>
                    </a:lnTo>
                    <a:lnTo>
                      <a:pt x="21" y="0"/>
                    </a:lnTo>
                    <a:lnTo>
                      <a:pt x="0" y="36"/>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25" name="Shape 7796">
                <a:extLst>
                  <a:ext uri="{FF2B5EF4-FFF2-40B4-BE49-F238E27FC236}">
                    <a16:creationId xmlns:a16="http://schemas.microsoft.com/office/drawing/2014/main" xmlns="" id="{6DA7450B-43E2-4E06-BA1C-5A3EBEEEDF54}"/>
                  </a:ext>
                </a:extLst>
              </p:cNvPr>
              <p:cNvSpPr/>
              <p:nvPr/>
            </p:nvSpPr>
            <p:spPr>
              <a:xfrm>
                <a:off x="5908675" y="2495550"/>
                <a:ext cx="187325" cy="282575"/>
              </a:xfrm>
              <a:custGeom>
                <a:avLst/>
                <a:gdLst/>
                <a:ahLst/>
                <a:cxnLst/>
                <a:rect l="0" t="0" r="0" b="0"/>
                <a:pathLst>
                  <a:path w="160" h="242" extrusionOk="0">
                    <a:moveTo>
                      <a:pt x="0" y="233"/>
                    </a:moveTo>
                    <a:cubicBezTo>
                      <a:pt x="0" y="238"/>
                      <a:pt x="4" y="242"/>
                      <a:pt x="9" y="242"/>
                    </a:cubicBezTo>
                    <a:cubicBezTo>
                      <a:pt x="151" y="242"/>
                      <a:pt x="151" y="242"/>
                      <a:pt x="151" y="242"/>
                    </a:cubicBezTo>
                    <a:cubicBezTo>
                      <a:pt x="156" y="242"/>
                      <a:pt x="160" y="238"/>
                      <a:pt x="160" y="233"/>
                    </a:cubicBezTo>
                    <a:cubicBezTo>
                      <a:pt x="160" y="0"/>
                      <a:pt x="160" y="0"/>
                      <a:pt x="160" y="0"/>
                    </a:cubicBezTo>
                    <a:cubicBezTo>
                      <a:pt x="0" y="0"/>
                      <a:pt x="0" y="0"/>
                      <a:pt x="0" y="0"/>
                    </a:cubicBezTo>
                    <a:lnTo>
                      <a:pt x="0" y="233"/>
                    </a:lnTo>
                    <a:close/>
                    <a:moveTo>
                      <a:pt x="80" y="227"/>
                    </a:moveTo>
                    <a:cubicBezTo>
                      <a:pt x="71" y="227"/>
                      <a:pt x="63" y="220"/>
                      <a:pt x="63" y="210"/>
                    </a:cubicBezTo>
                    <a:cubicBezTo>
                      <a:pt x="63" y="200"/>
                      <a:pt x="71" y="192"/>
                      <a:pt x="80" y="192"/>
                    </a:cubicBezTo>
                    <a:cubicBezTo>
                      <a:pt x="90" y="192"/>
                      <a:pt x="98" y="200"/>
                      <a:pt x="98" y="210"/>
                    </a:cubicBezTo>
                    <a:cubicBezTo>
                      <a:pt x="98" y="220"/>
                      <a:pt x="90" y="227"/>
                      <a:pt x="80" y="227"/>
                    </a:cubicBezTo>
                    <a:close/>
                    <a:moveTo>
                      <a:pt x="72" y="175"/>
                    </a:moveTo>
                    <a:cubicBezTo>
                      <a:pt x="72" y="171"/>
                      <a:pt x="76" y="167"/>
                      <a:pt x="80" y="167"/>
                    </a:cubicBezTo>
                    <a:cubicBezTo>
                      <a:pt x="85" y="167"/>
                      <a:pt x="88" y="171"/>
                      <a:pt x="88" y="175"/>
                    </a:cubicBezTo>
                    <a:cubicBezTo>
                      <a:pt x="88" y="179"/>
                      <a:pt x="85" y="183"/>
                      <a:pt x="80" y="183"/>
                    </a:cubicBezTo>
                    <a:cubicBezTo>
                      <a:pt x="76" y="183"/>
                      <a:pt x="72" y="179"/>
                      <a:pt x="72" y="175"/>
                    </a:cubicBezTo>
                    <a:close/>
                    <a:moveTo>
                      <a:pt x="29" y="12"/>
                    </a:moveTo>
                    <a:cubicBezTo>
                      <a:pt x="131" y="12"/>
                      <a:pt x="131" y="12"/>
                      <a:pt x="131" y="12"/>
                    </a:cubicBezTo>
                    <a:cubicBezTo>
                      <a:pt x="131" y="33"/>
                      <a:pt x="131" y="33"/>
                      <a:pt x="131" y="33"/>
                    </a:cubicBezTo>
                    <a:cubicBezTo>
                      <a:pt x="29" y="33"/>
                      <a:pt x="29" y="33"/>
                      <a:pt x="29" y="33"/>
                    </a:cubicBezTo>
                    <a:lnTo>
                      <a:pt x="29" y="12"/>
                    </a:lnTo>
                    <a:close/>
                    <a:moveTo>
                      <a:pt x="29" y="43"/>
                    </a:moveTo>
                    <a:cubicBezTo>
                      <a:pt x="131" y="43"/>
                      <a:pt x="131" y="43"/>
                      <a:pt x="131" y="43"/>
                    </a:cubicBezTo>
                    <a:cubicBezTo>
                      <a:pt x="131" y="64"/>
                      <a:pt x="131" y="64"/>
                      <a:pt x="131" y="64"/>
                    </a:cubicBezTo>
                    <a:cubicBezTo>
                      <a:pt x="29" y="64"/>
                      <a:pt x="29" y="64"/>
                      <a:pt x="29" y="64"/>
                    </a:cubicBezTo>
                    <a:lnTo>
                      <a:pt x="29" y="43"/>
                    </a:lnTo>
                    <a:close/>
                    <a:moveTo>
                      <a:pt x="29" y="73"/>
                    </a:moveTo>
                    <a:cubicBezTo>
                      <a:pt x="131" y="73"/>
                      <a:pt x="131" y="73"/>
                      <a:pt x="131" y="73"/>
                    </a:cubicBezTo>
                    <a:cubicBezTo>
                      <a:pt x="131" y="94"/>
                      <a:pt x="131" y="94"/>
                      <a:pt x="131" y="94"/>
                    </a:cubicBezTo>
                    <a:cubicBezTo>
                      <a:pt x="29" y="94"/>
                      <a:pt x="29" y="94"/>
                      <a:pt x="29" y="94"/>
                    </a:cubicBezTo>
                    <a:lnTo>
                      <a:pt x="29" y="73"/>
                    </a:lnTo>
                    <a:close/>
                    <a:moveTo>
                      <a:pt x="29" y="104"/>
                    </a:moveTo>
                    <a:cubicBezTo>
                      <a:pt x="131" y="104"/>
                      <a:pt x="131" y="104"/>
                      <a:pt x="131" y="104"/>
                    </a:cubicBezTo>
                    <a:cubicBezTo>
                      <a:pt x="131" y="125"/>
                      <a:pt x="131" y="125"/>
                      <a:pt x="131" y="125"/>
                    </a:cubicBezTo>
                    <a:cubicBezTo>
                      <a:pt x="29" y="125"/>
                      <a:pt x="29" y="125"/>
                      <a:pt x="29" y="125"/>
                    </a:cubicBezTo>
                    <a:lnTo>
                      <a:pt x="29" y="104"/>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26" name="Shape 7797">
                <a:extLst>
                  <a:ext uri="{FF2B5EF4-FFF2-40B4-BE49-F238E27FC236}">
                    <a16:creationId xmlns:a16="http://schemas.microsoft.com/office/drawing/2014/main" xmlns="" id="{20B2DD9D-E10B-4925-A8DE-CFE1C9803F2F}"/>
                  </a:ext>
                </a:extLst>
              </p:cNvPr>
              <p:cNvSpPr/>
              <p:nvPr/>
            </p:nvSpPr>
            <p:spPr>
              <a:xfrm>
                <a:off x="5908675" y="2417763"/>
                <a:ext cx="187325" cy="65087"/>
              </a:xfrm>
              <a:custGeom>
                <a:avLst/>
                <a:gdLst/>
                <a:ahLst/>
                <a:cxnLst/>
                <a:rect l="0" t="0" r="0" b="0"/>
                <a:pathLst>
                  <a:path w="160" h="55" extrusionOk="0">
                    <a:moveTo>
                      <a:pt x="151" y="0"/>
                    </a:moveTo>
                    <a:cubicBezTo>
                      <a:pt x="9" y="0"/>
                      <a:pt x="9" y="0"/>
                      <a:pt x="9" y="0"/>
                    </a:cubicBezTo>
                    <a:cubicBezTo>
                      <a:pt x="4" y="0"/>
                      <a:pt x="0" y="4"/>
                      <a:pt x="0" y="9"/>
                    </a:cubicBezTo>
                    <a:cubicBezTo>
                      <a:pt x="0" y="55"/>
                      <a:pt x="0" y="55"/>
                      <a:pt x="0" y="55"/>
                    </a:cubicBezTo>
                    <a:cubicBezTo>
                      <a:pt x="160" y="55"/>
                      <a:pt x="160" y="55"/>
                      <a:pt x="160" y="55"/>
                    </a:cubicBezTo>
                    <a:cubicBezTo>
                      <a:pt x="160" y="9"/>
                      <a:pt x="160" y="9"/>
                      <a:pt x="160" y="9"/>
                    </a:cubicBezTo>
                    <a:cubicBezTo>
                      <a:pt x="160" y="4"/>
                      <a:pt x="156" y="0"/>
                      <a:pt x="151" y="0"/>
                    </a:cubicBezTo>
                    <a:close/>
                    <a:moveTo>
                      <a:pt x="93" y="38"/>
                    </a:moveTo>
                    <a:cubicBezTo>
                      <a:pt x="29" y="38"/>
                      <a:pt x="29" y="38"/>
                      <a:pt x="29" y="38"/>
                    </a:cubicBezTo>
                    <a:cubicBezTo>
                      <a:pt x="29" y="22"/>
                      <a:pt x="29" y="22"/>
                      <a:pt x="29" y="22"/>
                    </a:cubicBezTo>
                    <a:cubicBezTo>
                      <a:pt x="93" y="22"/>
                      <a:pt x="93" y="22"/>
                      <a:pt x="93" y="22"/>
                    </a:cubicBezTo>
                    <a:lnTo>
                      <a:pt x="93" y="38"/>
                    </a:lnTo>
                    <a:close/>
                    <a:moveTo>
                      <a:pt x="117" y="43"/>
                    </a:moveTo>
                    <a:cubicBezTo>
                      <a:pt x="110" y="43"/>
                      <a:pt x="104" y="37"/>
                      <a:pt x="104" y="30"/>
                    </a:cubicBezTo>
                    <a:cubicBezTo>
                      <a:pt x="104" y="22"/>
                      <a:pt x="110" y="16"/>
                      <a:pt x="117" y="16"/>
                    </a:cubicBezTo>
                    <a:cubicBezTo>
                      <a:pt x="125" y="16"/>
                      <a:pt x="131" y="22"/>
                      <a:pt x="131" y="30"/>
                    </a:cubicBezTo>
                    <a:cubicBezTo>
                      <a:pt x="131" y="37"/>
                      <a:pt x="125" y="43"/>
                      <a:pt x="117" y="43"/>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27" name="Shape 7798">
                <a:extLst>
                  <a:ext uri="{FF2B5EF4-FFF2-40B4-BE49-F238E27FC236}">
                    <a16:creationId xmlns:a16="http://schemas.microsoft.com/office/drawing/2014/main" xmlns="" id="{693C647A-F689-4AF1-B922-7A7333B0051D}"/>
                  </a:ext>
                </a:extLst>
              </p:cNvPr>
              <p:cNvSpPr/>
              <p:nvPr/>
            </p:nvSpPr>
            <p:spPr>
              <a:xfrm>
                <a:off x="5592763" y="2417763"/>
                <a:ext cx="30163" cy="20637"/>
              </a:xfrm>
              <a:custGeom>
                <a:avLst/>
                <a:gdLst/>
                <a:ahLst/>
                <a:cxnLst/>
                <a:rect l="0" t="0" r="0" b="0"/>
                <a:pathLst>
                  <a:path w="25" h="18" extrusionOk="0">
                    <a:moveTo>
                      <a:pt x="24" y="14"/>
                    </a:moveTo>
                    <a:cubicBezTo>
                      <a:pt x="25" y="14"/>
                      <a:pt x="25" y="14"/>
                      <a:pt x="25" y="14"/>
                    </a:cubicBezTo>
                    <a:cubicBezTo>
                      <a:pt x="25" y="0"/>
                      <a:pt x="25" y="0"/>
                      <a:pt x="25" y="0"/>
                    </a:cubicBezTo>
                    <a:cubicBezTo>
                      <a:pt x="24" y="0"/>
                      <a:pt x="24" y="0"/>
                      <a:pt x="24" y="0"/>
                    </a:cubicBezTo>
                    <a:cubicBezTo>
                      <a:pt x="16" y="0"/>
                      <a:pt x="8" y="2"/>
                      <a:pt x="0" y="6"/>
                    </a:cubicBezTo>
                    <a:cubicBezTo>
                      <a:pt x="7" y="18"/>
                      <a:pt x="7" y="18"/>
                      <a:pt x="7" y="18"/>
                    </a:cubicBezTo>
                    <a:cubicBezTo>
                      <a:pt x="12" y="15"/>
                      <a:pt x="18" y="14"/>
                      <a:pt x="24" y="14"/>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28" name="Shape 7799">
                <a:extLst>
                  <a:ext uri="{FF2B5EF4-FFF2-40B4-BE49-F238E27FC236}">
                    <a16:creationId xmlns:a16="http://schemas.microsoft.com/office/drawing/2014/main" xmlns="" id="{106841BD-409E-4CEE-986C-2E2ED764EF9A}"/>
                  </a:ext>
                </a:extLst>
              </p:cNvPr>
              <p:cNvSpPr/>
              <p:nvPr/>
            </p:nvSpPr>
            <p:spPr>
              <a:xfrm>
                <a:off x="5646738" y="2417763"/>
                <a:ext cx="26988"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29" name="Shape 7800">
                <a:extLst>
                  <a:ext uri="{FF2B5EF4-FFF2-40B4-BE49-F238E27FC236}">
                    <a16:creationId xmlns:a16="http://schemas.microsoft.com/office/drawing/2014/main" xmlns="" id="{5C5FE791-BEDF-481C-8F17-713C83FA7AB1}"/>
                  </a:ext>
                </a:extLst>
              </p:cNvPr>
              <p:cNvSpPr/>
              <p:nvPr/>
            </p:nvSpPr>
            <p:spPr>
              <a:xfrm>
                <a:off x="5697538" y="241776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30" name="Shape 7801">
                <a:extLst>
                  <a:ext uri="{FF2B5EF4-FFF2-40B4-BE49-F238E27FC236}">
                    <a16:creationId xmlns:a16="http://schemas.microsoft.com/office/drawing/2014/main" xmlns="" id="{EC744E4F-66EA-4C47-9E00-0D182F7CCEB2}"/>
                  </a:ext>
                </a:extLst>
              </p:cNvPr>
              <p:cNvSpPr/>
              <p:nvPr/>
            </p:nvSpPr>
            <p:spPr>
              <a:xfrm>
                <a:off x="5748338" y="241776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31" name="Shape 7802">
                <a:extLst>
                  <a:ext uri="{FF2B5EF4-FFF2-40B4-BE49-F238E27FC236}">
                    <a16:creationId xmlns:a16="http://schemas.microsoft.com/office/drawing/2014/main" xmlns="" id="{076E5520-CD63-4400-917C-0807C777C5D2}"/>
                  </a:ext>
                </a:extLst>
              </p:cNvPr>
              <p:cNvSpPr/>
              <p:nvPr/>
            </p:nvSpPr>
            <p:spPr>
              <a:xfrm>
                <a:off x="5799138" y="241776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32" name="Shape 7803">
                <a:extLst>
                  <a:ext uri="{FF2B5EF4-FFF2-40B4-BE49-F238E27FC236}">
                    <a16:creationId xmlns:a16="http://schemas.microsoft.com/office/drawing/2014/main" xmlns="" id="{63C8B351-283B-48F8-8D49-AF615E48FCDB}"/>
                  </a:ext>
                </a:extLst>
              </p:cNvPr>
              <p:cNvSpPr/>
              <p:nvPr/>
            </p:nvSpPr>
            <p:spPr>
              <a:xfrm>
                <a:off x="5857875" y="241776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33" name="Shape 7804">
                <a:extLst>
                  <a:ext uri="{FF2B5EF4-FFF2-40B4-BE49-F238E27FC236}">
                    <a16:creationId xmlns:a16="http://schemas.microsoft.com/office/drawing/2014/main" xmlns="" id="{E1FC3003-054D-4497-A29F-04AE52BBE8EA}"/>
                  </a:ext>
                </a:extLst>
              </p:cNvPr>
              <p:cNvSpPr/>
              <p:nvPr/>
            </p:nvSpPr>
            <p:spPr>
              <a:xfrm>
                <a:off x="5564188" y="2444750"/>
                <a:ext cx="22225" cy="28575"/>
              </a:xfrm>
              <a:custGeom>
                <a:avLst/>
                <a:gdLst/>
                <a:ahLst/>
                <a:cxnLst/>
                <a:rect l="0" t="0" r="0" b="0"/>
                <a:pathLst>
                  <a:path w="19" h="24" extrusionOk="0">
                    <a:moveTo>
                      <a:pt x="19" y="7"/>
                    </a:moveTo>
                    <a:cubicBezTo>
                      <a:pt x="7" y="0"/>
                      <a:pt x="7" y="0"/>
                      <a:pt x="7" y="0"/>
                    </a:cubicBezTo>
                    <a:cubicBezTo>
                      <a:pt x="3" y="7"/>
                      <a:pt x="0" y="15"/>
                      <a:pt x="0" y="23"/>
                    </a:cubicBezTo>
                    <a:cubicBezTo>
                      <a:pt x="14" y="24"/>
                      <a:pt x="14" y="24"/>
                      <a:pt x="14" y="24"/>
                    </a:cubicBezTo>
                    <a:cubicBezTo>
                      <a:pt x="14" y="18"/>
                      <a:pt x="16" y="12"/>
                      <a:pt x="19" y="7"/>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34" name="Shape 7805">
                <a:extLst>
                  <a:ext uri="{FF2B5EF4-FFF2-40B4-BE49-F238E27FC236}">
                    <a16:creationId xmlns:a16="http://schemas.microsoft.com/office/drawing/2014/main" xmlns="" id="{A1ED541F-59F5-4F9C-9554-867F1083219B}"/>
                  </a:ext>
                </a:extLst>
              </p:cNvPr>
              <p:cNvSpPr/>
              <p:nvPr/>
            </p:nvSpPr>
            <p:spPr>
              <a:xfrm>
                <a:off x="5564188" y="2497138"/>
                <a:ext cx="15875" cy="25400"/>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35" name="Shape 7806">
                <a:extLst>
                  <a:ext uri="{FF2B5EF4-FFF2-40B4-BE49-F238E27FC236}">
                    <a16:creationId xmlns:a16="http://schemas.microsoft.com/office/drawing/2014/main" xmlns="" id="{D9CC6AC9-CD26-472B-B8D8-96D2D4BF287E}"/>
                  </a:ext>
                </a:extLst>
              </p:cNvPr>
              <p:cNvSpPr/>
              <p:nvPr/>
            </p:nvSpPr>
            <p:spPr>
              <a:xfrm>
                <a:off x="5538788" y="2551113"/>
                <a:ext cx="66675" cy="55562"/>
              </a:xfrm>
              <a:custGeom>
                <a:avLst/>
                <a:gdLst/>
                <a:ahLst/>
                <a:cxnLst/>
                <a:rect l="0" t="0" r="0" b="0"/>
                <a:pathLst>
                  <a:path w="42" h="35" extrusionOk="0">
                    <a:moveTo>
                      <a:pt x="42" y="0"/>
                    </a:moveTo>
                    <a:lnTo>
                      <a:pt x="0" y="0"/>
                    </a:lnTo>
                    <a:lnTo>
                      <a:pt x="21" y="35"/>
                    </a:lnTo>
                    <a:lnTo>
                      <a:pt x="42" y="0"/>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grpSp>
      </p:grpSp>
      <p:graphicFrame>
        <p:nvGraphicFramePr>
          <p:cNvPr id="2" name="Object 1">
            <a:extLst>
              <a:ext uri="{FF2B5EF4-FFF2-40B4-BE49-F238E27FC236}">
                <a16:creationId xmlns:a16="http://schemas.microsoft.com/office/drawing/2014/main" xmlns="" id="{365E8EB6-1126-4DD1-9AD6-5BE8C1A50FB5}"/>
              </a:ext>
            </a:extLst>
          </p:cNvPr>
          <p:cNvGraphicFramePr>
            <a:graphicFrameLocks noChangeAspect="1"/>
          </p:cNvGraphicFramePr>
          <p:nvPr>
            <p:extLst>
              <p:ext uri="{D42A27DB-BD31-4B8C-83A1-F6EECF244321}">
                <p14:modId xmlns:p14="http://schemas.microsoft.com/office/powerpoint/2010/main" val="523337158"/>
              </p:ext>
            </p:extLst>
          </p:nvPr>
        </p:nvGraphicFramePr>
        <p:xfrm>
          <a:off x="2984376" y="5333602"/>
          <a:ext cx="914400" cy="792163"/>
        </p:xfrm>
        <a:graphic>
          <a:graphicData uri="http://schemas.openxmlformats.org/presentationml/2006/ole">
            <mc:AlternateContent xmlns:mc="http://schemas.openxmlformats.org/markup-compatibility/2006">
              <mc:Choice xmlns:v="urn:schemas-microsoft-com:vml" Requires="v">
                <p:oleObj spid="_x0000_s3074" name="Worksheet" showAsIcon="1" r:id="rId5" imgW="914400" imgH="792360" progId="Excel.Sheet.12">
                  <p:embed/>
                </p:oleObj>
              </mc:Choice>
              <mc:Fallback>
                <p:oleObj name="Worksheet" showAsIcon="1" r:id="rId5" imgW="914400" imgH="792360" progId="Excel.Sheet.12">
                  <p:embed/>
                  <p:pic>
                    <p:nvPicPr>
                      <p:cNvPr id="2" name="Object 1">
                        <a:extLst>
                          <a:ext uri="{FF2B5EF4-FFF2-40B4-BE49-F238E27FC236}">
                            <a16:creationId xmlns:a16="http://schemas.microsoft.com/office/drawing/2014/main" xmlns="" id="{365E8EB6-1126-4DD1-9AD6-5BE8C1A50FB5}"/>
                          </a:ext>
                        </a:extLst>
                      </p:cNvPr>
                      <p:cNvPicPr/>
                      <p:nvPr/>
                    </p:nvPicPr>
                    <p:blipFill>
                      <a:blip r:embed="rId6"/>
                      <a:stretch>
                        <a:fillRect/>
                      </a:stretch>
                    </p:blipFill>
                    <p:spPr>
                      <a:xfrm>
                        <a:off x="2984376" y="5333602"/>
                        <a:ext cx="914400" cy="792163"/>
                      </a:xfrm>
                      <a:prstGeom prst="rect">
                        <a:avLst/>
                      </a:prstGeom>
                    </p:spPr>
                  </p:pic>
                </p:oleObj>
              </mc:Fallback>
            </mc:AlternateContent>
          </a:graphicData>
        </a:graphic>
      </p:graphicFrame>
    </p:spTree>
    <p:extLst>
      <p:ext uri="{BB962C8B-B14F-4D97-AF65-F5344CB8AC3E}">
        <p14:creationId xmlns:p14="http://schemas.microsoft.com/office/powerpoint/2010/main" val="3133074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869F1B3-66DD-6520-DC3D-C32F73247E7B}"/>
              </a:ext>
            </a:extLst>
          </p:cNvPr>
          <p:cNvSpPr>
            <a:spLocks noGrp="1"/>
          </p:cNvSpPr>
          <p:nvPr>
            <p:ph type="title"/>
          </p:nvPr>
        </p:nvSpPr>
        <p:spPr/>
        <p:txBody>
          <a:bodyPr>
            <a:normAutofit/>
          </a:bodyPr>
          <a:lstStyle/>
          <a:p>
            <a:r>
              <a:rPr lang="en-US" sz="3600" b="1" dirty="0">
                <a:solidFill>
                  <a:schemeClr val="tx1"/>
                </a:solidFill>
                <a:effectLst/>
                <a:latin typeface="Times New Roman" panose="02020603050405020304" pitchFamily="18" charset="0"/>
                <a:ea typeface="Calibri" panose="020F0502020204030204" pitchFamily="34" charset="0"/>
              </a:rPr>
              <a:t>Creating Presentations using Gamma</a:t>
            </a:r>
            <a:endParaRPr lang="en-US" dirty="0"/>
          </a:p>
        </p:txBody>
      </p:sp>
      <p:sp>
        <p:nvSpPr>
          <p:cNvPr id="3" name="Content Placeholder 2">
            <a:extLst>
              <a:ext uri="{FF2B5EF4-FFF2-40B4-BE49-F238E27FC236}">
                <a16:creationId xmlns:a16="http://schemas.microsoft.com/office/drawing/2014/main" xmlns="" id="{E682C057-1DA7-D9B8-BEB1-F8ACCC3D7F75}"/>
              </a:ext>
            </a:extLst>
          </p:cNvPr>
          <p:cNvSpPr>
            <a:spLocks noGrp="1"/>
          </p:cNvSpPr>
          <p:nvPr>
            <p:ph idx="1"/>
          </p:nvPr>
        </p:nvSpPr>
        <p:spPr/>
        <p:txBody>
          <a:bodyPr/>
          <a:lstStyle/>
          <a:p>
            <a:pPr marL="0" indent="0">
              <a:buNone/>
            </a:pPr>
            <a:r>
              <a:rPr lang="en-US" sz="2800" dirty="0">
                <a:effectLst/>
                <a:latin typeface="+mn-lt"/>
                <a:ea typeface="Calibri" panose="020F0502020204030204" pitchFamily="34" charset="0"/>
              </a:rPr>
              <a:t>Gamma AI can be used to make presentations. </a:t>
            </a:r>
          </a:p>
          <a:p>
            <a:r>
              <a:rPr lang="en-US" sz="2800" dirty="0">
                <a:effectLst/>
                <a:latin typeface="+mn-lt"/>
                <a:ea typeface="Calibri" panose="020F0502020204030204" pitchFamily="34" charset="0"/>
              </a:rPr>
              <a:t>Gamma AI streamlines the presentation creation process, allowing users to generate compelling slides effortlessly.  </a:t>
            </a:r>
          </a:p>
          <a:p>
            <a:r>
              <a:rPr lang="en-US" sz="2800" dirty="0">
                <a:effectLst/>
                <a:latin typeface="+mn-lt"/>
                <a:ea typeface="Calibri" panose="020F0502020204030204" pitchFamily="34" charset="0"/>
              </a:rPr>
              <a:t>It used AI to first refine content and then to make visually appealing slides.</a:t>
            </a:r>
          </a:p>
          <a:p>
            <a:endParaRPr lang="en-US" dirty="0"/>
          </a:p>
        </p:txBody>
      </p:sp>
      <p:graphicFrame>
        <p:nvGraphicFramePr>
          <p:cNvPr id="5" name="Object 4">
            <a:extLst>
              <a:ext uri="{FF2B5EF4-FFF2-40B4-BE49-F238E27FC236}">
                <a16:creationId xmlns:a16="http://schemas.microsoft.com/office/drawing/2014/main" xmlns="" id="{21515561-BE43-1CD1-5ED4-C762435B16C3}"/>
              </a:ext>
            </a:extLst>
          </p:cNvPr>
          <p:cNvGraphicFramePr>
            <a:graphicFrameLocks noChangeAspect="1"/>
          </p:cNvGraphicFramePr>
          <p:nvPr>
            <p:extLst>
              <p:ext uri="{D42A27DB-BD31-4B8C-83A1-F6EECF244321}">
                <p14:modId xmlns:p14="http://schemas.microsoft.com/office/powerpoint/2010/main" val="187975096"/>
              </p:ext>
            </p:extLst>
          </p:nvPr>
        </p:nvGraphicFramePr>
        <p:xfrm>
          <a:off x="3003818" y="4093020"/>
          <a:ext cx="914400" cy="792163"/>
        </p:xfrm>
        <a:graphic>
          <a:graphicData uri="http://schemas.openxmlformats.org/presentationml/2006/ole">
            <mc:AlternateContent xmlns:mc="http://schemas.openxmlformats.org/markup-compatibility/2006">
              <mc:Choice xmlns:v="urn:schemas-microsoft-com:vml" Requires="v">
                <p:oleObj spid="_x0000_s4098" name="Document" showAsIcon="1" r:id="rId4" imgW="914400" imgH="792360" progId="Word.Document.12">
                  <p:embed/>
                </p:oleObj>
              </mc:Choice>
              <mc:Fallback>
                <p:oleObj name="Document" showAsIcon="1" r:id="rId4" imgW="914400" imgH="792360" progId="Word.Document.12">
                  <p:embed/>
                  <p:pic>
                    <p:nvPicPr>
                      <p:cNvPr id="5" name="Object 4">
                        <a:extLst>
                          <a:ext uri="{FF2B5EF4-FFF2-40B4-BE49-F238E27FC236}">
                            <a16:creationId xmlns:a16="http://schemas.microsoft.com/office/drawing/2014/main" xmlns="" id="{21515561-BE43-1CD1-5ED4-C762435B16C3}"/>
                          </a:ext>
                        </a:extLst>
                      </p:cNvPr>
                      <p:cNvPicPr/>
                      <p:nvPr/>
                    </p:nvPicPr>
                    <p:blipFill>
                      <a:blip r:embed="rId5"/>
                      <a:stretch>
                        <a:fillRect/>
                      </a:stretch>
                    </p:blipFill>
                    <p:spPr>
                      <a:xfrm>
                        <a:off x="3003818" y="4093020"/>
                        <a:ext cx="914400" cy="792163"/>
                      </a:xfrm>
                      <a:prstGeom prst="rect">
                        <a:avLst/>
                      </a:prstGeom>
                    </p:spPr>
                  </p:pic>
                </p:oleObj>
              </mc:Fallback>
            </mc:AlternateContent>
          </a:graphicData>
        </a:graphic>
      </p:graphicFrame>
      <p:sp>
        <p:nvSpPr>
          <p:cNvPr id="7" name="TextBox 6">
            <a:extLst>
              <a:ext uri="{FF2B5EF4-FFF2-40B4-BE49-F238E27FC236}">
                <a16:creationId xmlns:a16="http://schemas.microsoft.com/office/drawing/2014/main" xmlns="" id="{A25A911F-2920-7DEE-3616-EF97458B7420}"/>
              </a:ext>
            </a:extLst>
          </p:cNvPr>
          <p:cNvSpPr txBox="1"/>
          <p:nvPr/>
        </p:nvSpPr>
        <p:spPr>
          <a:xfrm>
            <a:off x="1173184" y="4304436"/>
            <a:ext cx="1336334" cy="369332"/>
          </a:xfrm>
          <a:prstGeom prst="rect">
            <a:avLst/>
          </a:prstGeom>
          <a:noFill/>
        </p:spPr>
        <p:txBody>
          <a:bodyPr wrap="square">
            <a:spAutoFit/>
          </a:bodyPr>
          <a:lstStyle/>
          <a:p>
            <a:r>
              <a:rPr lang="en-US" sz="1800" b="1" dirty="0">
                <a:effectLst/>
                <a:latin typeface="+mn-lt"/>
                <a:ea typeface="Calibri" panose="020F0502020204030204" pitchFamily="34" charset="0"/>
              </a:rPr>
              <a:t>Assignment</a:t>
            </a:r>
            <a:endParaRPr lang="en-US" dirty="0"/>
          </a:p>
        </p:txBody>
      </p:sp>
    </p:spTree>
    <p:extLst>
      <p:ext uri="{BB962C8B-B14F-4D97-AF65-F5344CB8AC3E}">
        <p14:creationId xmlns:p14="http://schemas.microsoft.com/office/powerpoint/2010/main" val="18274058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C5BA2E58-FEC9-D54D-ACC0-E7CEEF5F42E4}"/>
              </a:ext>
            </a:extLst>
          </p:cNvPr>
          <p:cNvSpPr>
            <a:spLocks noGrp="1"/>
          </p:cNvSpPr>
          <p:nvPr>
            <p:ph type="title"/>
          </p:nvPr>
        </p:nvSpPr>
        <p:spPr>
          <a:xfrm>
            <a:off x="678884" y="603666"/>
            <a:ext cx="10834234" cy="612775"/>
          </a:xfrm>
        </p:spPr>
        <p:txBody>
          <a:bodyPr>
            <a:normAutofit/>
          </a:bodyPr>
          <a:lstStyle/>
          <a:p>
            <a:r>
              <a:rPr lang="en-US" dirty="0">
                <a:effectLst/>
                <a:latin typeface="Times New Roman"/>
                <a:ea typeface="Calibri" panose="020F0502020204030204" pitchFamily="34" charset="0"/>
                <a:cs typeface="Times New Roman"/>
              </a:rPr>
              <a:t>AI tools used in </a:t>
            </a:r>
            <a:r>
              <a:rPr lang="en-US" dirty="0">
                <a:latin typeface="Times New Roman"/>
                <a:ea typeface="Calibri" panose="020F0502020204030204" pitchFamily="34" charset="0"/>
                <a:cs typeface="Times New Roman"/>
              </a:rPr>
              <a:t>Banking</a:t>
            </a:r>
            <a:r>
              <a:rPr lang="en-US" dirty="0">
                <a:effectLst/>
                <a:latin typeface="Times New Roman"/>
                <a:ea typeface="Calibri" panose="020F0502020204030204" pitchFamily="34" charset="0"/>
                <a:cs typeface="Times New Roman"/>
              </a:rPr>
              <a:t> and Finance</a:t>
            </a:r>
            <a:endParaRPr lang="en-US" dirty="0">
              <a:latin typeface="Times New Roman"/>
              <a:cs typeface="Times New Roman"/>
            </a:endParaRPr>
          </a:p>
        </p:txBody>
      </p:sp>
      <p:sp>
        <p:nvSpPr>
          <p:cNvPr id="36" name="Content Placeholder 2">
            <a:extLst>
              <a:ext uri="{FF2B5EF4-FFF2-40B4-BE49-F238E27FC236}">
                <a16:creationId xmlns:a16="http://schemas.microsoft.com/office/drawing/2014/main" xmlns="" id="{0C74259A-52A3-45E8-B90F-094D09788B9F}"/>
              </a:ext>
            </a:extLst>
          </p:cNvPr>
          <p:cNvSpPr txBox="1">
            <a:spLocks/>
          </p:cNvSpPr>
          <p:nvPr/>
        </p:nvSpPr>
        <p:spPr>
          <a:xfrm>
            <a:off x="616815" y="1632362"/>
            <a:ext cx="10834234" cy="876039"/>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Nunito"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Nunito"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Nunito"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400"/>
              </a:spcBef>
              <a:spcAft>
                <a:spcPts val="400"/>
              </a:spcAft>
              <a:buNone/>
            </a:pPr>
            <a:r>
              <a:rPr lang="en-US" sz="2200" dirty="0">
                <a:effectLst/>
                <a:latin typeface="+mn-lt"/>
                <a:ea typeface="Calibri" panose="020F0502020204030204" pitchFamily="34" charset="0"/>
              </a:rPr>
              <a:t>AI tools play a crucial role in investment banking by streamlining processes, enhancing decision-making, and extracting valuable insights from vast and complex financial datasets. </a:t>
            </a:r>
          </a:p>
          <a:p>
            <a:pPr marL="0" indent="0">
              <a:lnSpc>
                <a:spcPct val="100000"/>
              </a:lnSpc>
              <a:spcBef>
                <a:spcPts val="400"/>
              </a:spcBef>
              <a:spcAft>
                <a:spcPts val="400"/>
              </a:spcAft>
              <a:buNone/>
            </a:pPr>
            <a:r>
              <a:rPr lang="en-US" sz="2200" dirty="0">
                <a:effectLst/>
                <a:latin typeface="+mn-lt"/>
                <a:ea typeface="Calibri" panose="020F0502020204030204" pitchFamily="34" charset="0"/>
              </a:rPr>
              <a:t>Both, the startup seeking the investment &amp; the venture capital fund, that is, the investor makes use of AI tools. </a:t>
            </a:r>
          </a:p>
          <a:p>
            <a:pPr marL="0" indent="0">
              <a:lnSpc>
                <a:spcPct val="100000"/>
              </a:lnSpc>
              <a:spcBef>
                <a:spcPts val="400"/>
              </a:spcBef>
              <a:spcAft>
                <a:spcPts val="400"/>
              </a:spcAft>
              <a:buNone/>
            </a:pPr>
            <a:r>
              <a:rPr lang="en-US" sz="2200" dirty="0">
                <a:effectLst/>
                <a:latin typeface="+mn-lt"/>
                <a:ea typeface="Calibri" panose="020F0502020204030204" pitchFamily="34" charset="0"/>
              </a:rPr>
              <a:t>Most of these AI tools are available as </a:t>
            </a:r>
            <a:r>
              <a:rPr lang="en-US" sz="2200" dirty="0" err="1">
                <a:effectLst/>
                <a:latin typeface="+mn-lt"/>
                <a:ea typeface="Calibri" panose="020F0502020204030204" pitchFamily="34" charset="0"/>
              </a:rPr>
              <a:t>ChatGPT</a:t>
            </a:r>
            <a:r>
              <a:rPr lang="en-US" sz="2200" dirty="0">
                <a:effectLst/>
                <a:latin typeface="+mn-lt"/>
                <a:ea typeface="Calibri" panose="020F0502020204030204" pitchFamily="34" charset="0"/>
              </a:rPr>
              <a:t> plugins and makes use of GPT-4. Thus, users have to subscribe to </a:t>
            </a:r>
            <a:r>
              <a:rPr lang="en-US" sz="2200" dirty="0" err="1">
                <a:effectLst/>
                <a:latin typeface="+mn-lt"/>
                <a:ea typeface="Calibri" panose="020F0502020204030204" pitchFamily="34" charset="0"/>
              </a:rPr>
              <a:t>ChatGPT</a:t>
            </a:r>
            <a:r>
              <a:rPr lang="en-US" sz="2200" dirty="0">
                <a:effectLst/>
                <a:latin typeface="+mn-lt"/>
                <a:ea typeface="Calibri" panose="020F0502020204030204" pitchFamily="34" charset="0"/>
              </a:rPr>
              <a:t> Plus in order to make use of </a:t>
            </a:r>
            <a:r>
              <a:rPr lang="en-US" sz="2200" dirty="0">
                <a:latin typeface="+mn-lt"/>
                <a:ea typeface="Calibri" panose="020F0502020204030204" pitchFamily="34" charset="0"/>
              </a:rPr>
              <a:t>paid GPT-4 </a:t>
            </a:r>
            <a:r>
              <a:rPr lang="en-US" sz="2200" dirty="0">
                <a:effectLst/>
                <a:latin typeface="+mn-lt"/>
                <a:ea typeface="Calibri" panose="020F0502020204030204" pitchFamily="34" charset="0"/>
              </a:rPr>
              <a:t>tools. Otherwise can use Free GPT-3.5</a:t>
            </a:r>
          </a:p>
          <a:p>
            <a:pPr marL="0" indent="0">
              <a:lnSpc>
                <a:spcPct val="100000"/>
              </a:lnSpc>
              <a:spcBef>
                <a:spcPts val="400"/>
              </a:spcBef>
              <a:spcAft>
                <a:spcPts val="400"/>
              </a:spcAft>
              <a:buNone/>
            </a:pPr>
            <a:endParaRPr lang="en-US" sz="2200" dirty="0">
              <a:effectLst/>
              <a:latin typeface="+mn-lt"/>
              <a:ea typeface="Calibri" panose="020F0502020204030204" pitchFamily="34" charset="0"/>
            </a:endParaRPr>
          </a:p>
        </p:txBody>
      </p:sp>
    </p:spTree>
    <p:extLst>
      <p:ext uri="{BB962C8B-B14F-4D97-AF65-F5344CB8AC3E}">
        <p14:creationId xmlns:p14="http://schemas.microsoft.com/office/powerpoint/2010/main" val="2024751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C5BA2E58-FEC9-D54D-ACC0-E7CEEF5F42E4}"/>
              </a:ext>
            </a:extLst>
          </p:cNvPr>
          <p:cNvSpPr>
            <a:spLocks noGrp="1"/>
          </p:cNvSpPr>
          <p:nvPr>
            <p:ph type="title"/>
          </p:nvPr>
        </p:nvSpPr>
        <p:spPr>
          <a:xfrm>
            <a:off x="678884" y="603666"/>
            <a:ext cx="10834234" cy="612775"/>
          </a:xfrm>
        </p:spPr>
        <p:txBody>
          <a:bodyPr>
            <a:normAutofit/>
          </a:bodyPr>
          <a:lstStyle/>
          <a:p>
            <a:r>
              <a:rPr lang="en-US" dirty="0">
                <a:effectLst/>
                <a:latin typeface="Times New Roman" panose="02020603050405020304" pitchFamily="18" charset="0"/>
                <a:ea typeface="Calibri" panose="020F0502020204030204" pitchFamily="34" charset="0"/>
              </a:rPr>
              <a:t>Tools used by Startups</a:t>
            </a:r>
            <a:endParaRPr lang="en-US" dirty="0"/>
          </a:p>
        </p:txBody>
      </p:sp>
      <p:sp>
        <p:nvSpPr>
          <p:cNvPr id="36" name="Content Placeholder 2">
            <a:extLst>
              <a:ext uri="{FF2B5EF4-FFF2-40B4-BE49-F238E27FC236}">
                <a16:creationId xmlns:a16="http://schemas.microsoft.com/office/drawing/2014/main" xmlns="" id="{0C74259A-52A3-45E8-B90F-094D09788B9F}"/>
              </a:ext>
            </a:extLst>
          </p:cNvPr>
          <p:cNvSpPr txBox="1">
            <a:spLocks/>
          </p:cNvSpPr>
          <p:nvPr/>
        </p:nvSpPr>
        <p:spPr>
          <a:xfrm>
            <a:off x="678883" y="1321643"/>
            <a:ext cx="10834234" cy="876039"/>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Nunito"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Nunito"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Nunito"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400"/>
              </a:spcBef>
              <a:spcAft>
                <a:spcPts val="400"/>
              </a:spcAft>
              <a:buNone/>
            </a:pPr>
            <a:r>
              <a:rPr lang="en-US" sz="2200" dirty="0">
                <a:effectLst/>
                <a:latin typeface="+mn-lt"/>
                <a:ea typeface="Calibri" panose="020F0502020204030204" pitchFamily="34" charset="0"/>
              </a:rPr>
              <a:t>Startups make use of AI tools to enhance operational efficiency, gain insights, and make strategic decisions. </a:t>
            </a:r>
          </a:p>
        </p:txBody>
      </p:sp>
      <p:grpSp>
        <p:nvGrpSpPr>
          <p:cNvPr id="34" name="Group 33">
            <a:extLst>
              <a:ext uri="{FF2B5EF4-FFF2-40B4-BE49-F238E27FC236}">
                <a16:creationId xmlns:a16="http://schemas.microsoft.com/office/drawing/2014/main" xmlns="" id="{1C825AB6-AC22-4850-96E0-7338DB180F88}"/>
              </a:ext>
            </a:extLst>
          </p:cNvPr>
          <p:cNvGrpSpPr/>
          <p:nvPr/>
        </p:nvGrpSpPr>
        <p:grpSpPr>
          <a:xfrm>
            <a:off x="616815" y="2109453"/>
            <a:ext cx="10958370" cy="2251614"/>
            <a:chOff x="669953" y="1659835"/>
            <a:chExt cx="10958370" cy="2251614"/>
          </a:xfrm>
        </p:grpSpPr>
        <p:sp>
          <p:nvSpPr>
            <p:cNvPr id="35" name="Freeform 6">
              <a:extLst>
                <a:ext uri="{FF2B5EF4-FFF2-40B4-BE49-F238E27FC236}">
                  <a16:creationId xmlns:a16="http://schemas.microsoft.com/office/drawing/2014/main" xmlns="" id="{A70470A8-63D1-44B9-81F8-D4D70DD0085E}"/>
                </a:ext>
              </a:extLst>
            </p:cNvPr>
            <p:cNvSpPr>
              <a:spLocks/>
            </p:cNvSpPr>
            <p:nvPr/>
          </p:nvSpPr>
          <p:spPr bwMode="auto">
            <a:xfrm>
              <a:off x="776848" y="1680017"/>
              <a:ext cx="373861" cy="274869"/>
            </a:xfrm>
            <a:custGeom>
              <a:avLst/>
              <a:gdLst>
                <a:gd name="T0" fmla="*/ 81 w 162"/>
                <a:gd name="T1" fmla="*/ 0 h 119"/>
                <a:gd name="T2" fmla="*/ 0 w 162"/>
                <a:gd name="T3" fmla="*/ 119 h 119"/>
                <a:gd name="T4" fmla="*/ 162 w 162"/>
                <a:gd name="T5" fmla="*/ 119 h 119"/>
                <a:gd name="T6" fmla="*/ 81 w 162"/>
                <a:gd name="T7" fmla="*/ 0 h 119"/>
              </a:gdLst>
              <a:ahLst/>
              <a:cxnLst>
                <a:cxn ang="0">
                  <a:pos x="T0" y="T1"/>
                </a:cxn>
                <a:cxn ang="0">
                  <a:pos x="T2" y="T3"/>
                </a:cxn>
                <a:cxn ang="0">
                  <a:pos x="T4" y="T5"/>
                </a:cxn>
                <a:cxn ang="0">
                  <a:pos x="T6" y="T7"/>
                </a:cxn>
              </a:cxnLst>
              <a:rect l="0" t="0" r="r" b="b"/>
              <a:pathLst>
                <a:path w="162" h="119">
                  <a:moveTo>
                    <a:pt x="81" y="0"/>
                  </a:moveTo>
                  <a:cubicBezTo>
                    <a:pt x="34" y="18"/>
                    <a:pt x="0" y="65"/>
                    <a:pt x="0" y="119"/>
                  </a:cubicBezTo>
                  <a:cubicBezTo>
                    <a:pt x="162" y="119"/>
                    <a:pt x="162" y="119"/>
                    <a:pt x="162" y="119"/>
                  </a:cubicBezTo>
                  <a:cubicBezTo>
                    <a:pt x="162" y="65"/>
                    <a:pt x="129" y="19"/>
                    <a:pt x="81" y="0"/>
                  </a:cubicBez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ru-RU"/>
            </a:p>
          </p:txBody>
        </p:sp>
        <p:sp>
          <p:nvSpPr>
            <p:cNvPr id="37" name="Rectangle: Rounded Corners 36">
              <a:extLst>
                <a:ext uri="{FF2B5EF4-FFF2-40B4-BE49-F238E27FC236}">
                  <a16:creationId xmlns:a16="http://schemas.microsoft.com/office/drawing/2014/main" xmlns="" id="{01493DDC-0964-4744-8189-BEB8FB3198B9}"/>
                </a:ext>
              </a:extLst>
            </p:cNvPr>
            <p:cNvSpPr/>
            <p:nvPr/>
          </p:nvSpPr>
          <p:spPr>
            <a:xfrm>
              <a:off x="776848" y="1953670"/>
              <a:ext cx="10851475" cy="567664"/>
            </a:xfrm>
            <a:prstGeom prst="roundRect">
              <a:avLst>
                <a:gd name="adj" fmla="val 9723"/>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404000" rtlCol="0" anchor="ctr"/>
            <a:lstStyle/>
            <a:p>
              <a:r>
                <a:rPr lang="en-US" sz="2200" b="1" dirty="0">
                  <a:solidFill>
                    <a:schemeClr val="tx1"/>
                  </a:solidFill>
                  <a:effectLst/>
                  <a:latin typeface="Times New Roman" panose="02020603050405020304" pitchFamily="18" charset="0"/>
                  <a:ea typeface="Calibri" panose="020F0502020204030204" pitchFamily="34" charset="0"/>
                </a:rPr>
                <a:t>Pitch Deck Analyzer</a:t>
              </a:r>
              <a:endParaRPr lang="en-IN" sz="2200" b="1" dirty="0">
                <a:solidFill>
                  <a:schemeClr val="tx1"/>
                </a:solidFill>
                <a:latin typeface="Calibri" panose="020F0502020204030204" pitchFamily="34" charset="0"/>
              </a:endParaRPr>
            </a:p>
          </p:txBody>
        </p:sp>
        <p:sp>
          <p:nvSpPr>
            <p:cNvPr id="38" name="Content Placeholder 2">
              <a:extLst>
                <a:ext uri="{FF2B5EF4-FFF2-40B4-BE49-F238E27FC236}">
                  <a16:creationId xmlns:a16="http://schemas.microsoft.com/office/drawing/2014/main" xmlns="" id="{7EB086FF-E6C3-46FE-A56E-F026EF3B9469}"/>
                </a:ext>
              </a:extLst>
            </p:cNvPr>
            <p:cNvSpPr txBox="1">
              <a:spLocks/>
            </p:cNvSpPr>
            <p:nvPr/>
          </p:nvSpPr>
          <p:spPr>
            <a:xfrm>
              <a:off x="669953" y="3035410"/>
              <a:ext cx="10834234" cy="876039"/>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Nunito"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Nunito"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Nunito"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400"/>
                </a:spcBef>
                <a:spcAft>
                  <a:spcPts val="400"/>
                </a:spcAft>
                <a:buNone/>
              </a:pPr>
              <a:r>
                <a:rPr lang="en-US" sz="2200" dirty="0">
                  <a:latin typeface="+mn-lt"/>
                </a:rPr>
                <a:t>It is used for swiftly evaluating and improving business </a:t>
              </a:r>
              <a:r>
                <a:rPr lang="en-US" sz="2200" dirty="0" err="1">
                  <a:latin typeface="+mn-lt"/>
                </a:rPr>
                <a:t>presentations.Allows</a:t>
              </a:r>
              <a:r>
                <a:rPr lang="en-US" sz="2200" dirty="0">
                  <a:latin typeface="+mn-lt"/>
                </a:rPr>
                <a:t> users to instruct the AI model to execute specific tasks, while macros automate repetitive actions</a:t>
              </a:r>
            </a:p>
            <a:p>
              <a:pPr>
                <a:lnSpc>
                  <a:spcPct val="100000"/>
                </a:lnSpc>
                <a:spcBef>
                  <a:spcPts val="400"/>
                </a:spcBef>
                <a:spcAft>
                  <a:spcPts val="400"/>
                </a:spcAft>
                <a:buFont typeface="Wingdings" panose="05000000000000000000" pitchFamily="2" charset="2"/>
                <a:buChar char="Ø"/>
              </a:pPr>
              <a:r>
                <a:rPr lang="en-US" sz="2200" dirty="0">
                  <a:latin typeface="+mn-lt"/>
                </a:rPr>
                <a:t>Offers a data-driven insight and enables a quick assessment of key elements like messaging clarity and financial viability. </a:t>
              </a:r>
            </a:p>
            <a:p>
              <a:pPr>
                <a:lnSpc>
                  <a:spcPct val="100000"/>
                </a:lnSpc>
                <a:spcBef>
                  <a:spcPts val="400"/>
                </a:spcBef>
                <a:spcAft>
                  <a:spcPts val="400"/>
                </a:spcAft>
                <a:buFont typeface="Wingdings" panose="05000000000000000000" pitchFamily="2" charset="2"/>
                <a:buChar char="Ø"/>
              </a:pPr>
              <a:r>
                <a:rPr lang="en-US" sz="2200" dirty="0">
                  <a:latin typeface="+mn-lt"/>
                </a:rPr>
                <a:t>Streamlines decision-making, enhancing the quality of pitches and facilitating more informed investment choices. </a:t>
              </a:r>
            </a:p>
          </p:txBody>
        </p:sp>
        <p:sp>
          <p:nvSpPr>
            <p:cNvPr id="39" name="Freeform 7">
              <a:extLst>
                <a:ext uri="{FF2B5EF4-FFF2-40B4-BE49-F238E27FC236}">
                  <a16:creationId xmlns:a16="http://schemas.microsoft.com/office/drawing/2014/main" xmlns="" id="{4B160F5F-0293-4B9B-973A-E0705C8017F2}"/>
                </a:ext>
              </a:extLst>
            </p:cNvPr>
            <p:cNvSpPr>
              <a:spLocks/>
            </p:cNvSpPr>
            <p:nvPr/>
          </p:nvSpPr>
          <p:spPr bwMode="auto">
            <a:xfrm>
              <a:off x="871995" y="1659835"/>
              <a:ext cx="1061994" cy="1111971"/>
            </a:xfrm>
            <a:custGeom>
              <a:avLst/>
              <a:gdLst>
                <a:gd name="T0" fmla="*/ 332 w 461"/>
                <a:gd name="T1" fmla="*/ 0 h 482"/>
                <a:gd name="T2" fmla="*/ 88 w 461"/>
                <a:gd name="T3" fmla="*/ 0 h 482"/>
                <a:gd name="T4" fmla="*/ 40 w 461"/>
                <a:gd name="T5" fmla="*/ 9 h 482"/>
                <a:gd name="T6" fmla="*/ 0 w 461"/>
                <a:gd name="T7" fmla="*/ 35 h 482"/>
                <a:gd name="T8" fmla="*/ 81 w 461"/>
                <a:gd name="T9" fmla="*/ 35 h 482"/>
                <a:gd name="T10" fmla="*/ 121 w 461"/>
                <a:gd name="T11" fmla="*/ 128 h 482"/>
                <a:gd name="T12" fmla="*/ 121 w 461"/>
                <a:gd name="T13" fmla="*/ 311 h 482"/>
                <a:gd name="T14" fmla="*/ 121 w 461"/>
                <a:gd name="T15" fmla="*/ 312 h 482"/>
                <a:gd name="T16" fmla="*/ 291 w 461"/>
                <a:gd name="T17" fmla="*/ 482 h 482"/>
                <a:gd name="T18" fmla="*/ 461 w 461"/>
                <a:gd name="T19" fmla="*/ 312 h 482"/>
                <a:gd name="T20" fmla="*/ 461 w 461"/>
                <a:gd name="T21" fmla="*/ 312 h 482"/>
                <a:gd name="T22" fmla="*/ 461 w 461"/>
                <a:gd name="T23" fmla="*/ 128 h 482"/>
                <a:gd name="T24" fmla="*/ 332 w 461"/>
                <a:gd name="T25" fmla="*/ 0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 h="482">
                  <a:moveTo>
                    <a:pt x="332" y="0"/>
                  </a:moveTo>
                  <a:cubicBezTo>
                    <a:pt x="88" y="0"/>
                    <a:pt x="88" y="0"/>
                    <a:pt x="88" y="0"/>
                  </a:cubicBezTo>
                  <a:cubicBezTo>
                    <a:pt x="71" y="0"/>
                    <a:pt x="55" y="3"/>
                    <a:pt x="40" y="9"/>
                  </a:cubicBezTo>
                  <a:cubicBezTo>
                    <a:pt x="25" y="15"/>
                    <a:pt x="11" y="24"/>
                    <a:pt x="0" y="35"/>
                  </a:cubicBezTo>
                  <a:cubicBezTo>
                    <a:pt x="22" y="13"/>
                    <a:pt x="58" y="13"/>
                    <a:pt x="81" y="35"/>
                  </a:cubicBezTo>
                  <a:cubicBezTo>
                    <a:pt x="106" y="58"/>
                    <a:pt x="121" y="91"/>
                    <a:pt x="121" y="128"/>
                  </a:cubicBezTo>
                  <a:cubicBezTo>
                    <a:pt x="121" y="311"/>
                    <a:pt x="121" y="311"/>
                    <a:pt x="121" y="311"/>
                  </a:cubicBezTo>
                  <a:cubicBezTo>
                    <a:pt x="121" y="311"/>
                    <a:pt x="121" y="311"/>
                    <a:pt x="121" y="312"/>
                  </a:cubicBezTo>
                  <a:cubicBezTo>
                    <a:pt x="121" y="405"/>
                    <a:pt x="197" y="482"/>
                    <a:pt x="291" y="482"/>
                  </a:cubicBezTo>
                  <a:cubicBezTo>
                    <a:pt x="385" y="482"/>
                    <a:pt x="461" y="405"/>
                    <a:pt x="461" y="312"/>
                  </a:cubicBezTo>
                  <a:cubicBezTo>
                    <a:pt x="461" y="312"/>
                    <a:pt x="461" y="312"/>
                    <a:pt x="461" y="312"/>
                  </a:cubicBezTo>
                  <a:cubicBezTo>
                    <a:pt x="461" y="128"/>
                    <a:pt x="461" y="128"/>
                    <a:pt x="461" y="128"/>
                  </a:cubicBezTo>
                  <a:cubicBezTo>
                    <a:pt x="461" y="57"/>
                    <a:pt x="403" y="0"/>
                    <a:pt x="332"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ru-RU"/>
            </a:p>
          </p:txBody>
        </p:sp>
        <p:sp>
          <p:nvSpPr>
            <p:cNvPr id="40" name="Oval 8">
              <a:extLst>
                <a:ext uri="{FF2B5EF4-FFF2-40B4-BE49-F238E27FC236}">
                  <a16:creationId xmlns:a16="http://schemas.microsoft.com/office/drawing/2014/main" xmlns="" id="{BA27C768-9A49-4AF5-9275-517B3A83F936}"/>
                </a:ext>
              </a:extLst>
            </p:cNvPr>
            <p:cNvSpPr>
              <a:spLocks noChangeArrowheads="1"/>
            </p:cNvSpPr>
            <p:nvPr/>
          </p:nvSpPr>
          <p:spPr bwMode="auto">
            <a:xfrm>
              <a:off x="1215101" y="2051956"/>
              <a:ext cx="654496" cy="652574"/>
            </a:xfrm>
            <a:prstGeom prst="ellipse">
              <a:avLst/>
            </a:prstGeom>
            <a:solidFill>
              <a:schemeClr val="bg2"/>
            </a:solidFill>
            <a:ln>
              <a:noFill/>
            </a:ln>
          </p:spPr>
          <p:txBody>
            <a:bodyPr vert="horz" wrap="square" lIns="91440" tIns="45720" rIns="91440" bIns="45720" numCol="1" anchor="t" anchorCtr="0" compatLnSpc="1">
              <a:prstTxWarp prst="textNoShape">
                <a:avLst/>
              </a:prstTxWarp>
            </a:bodyPr>
            <a:lstStyle/>
            <a:p>
              <a:endParaRPr lang="ru-RU"/>
            </a:p>
          </p:txBody>
        </p:sp>
        <p:grpSp>
          <p:nvGrpSpPr>
            <p:cNvPr id="41" name="Shape 7784">
              <a:extLst>
                <a:ext uri="{FF2B5EF4-FFF2-40B4-BE49-F238E27FC236}">
                  <a16:creationId xmlns:a16="http://schemas.microsoft.com/office/drawing/2014/main" xmlns="" id="{2025860A-B30F-4A6D-8C49-2DB56500FA13}"/>
                </a:ext>
              </a:extLst>
            </p:cNvPr>
            <p:cNvGrpSpPr/>
            <p:nvPr/>
          </p:nvGrpSpPr>
          <p:grpSpPr>
            <a:xfrm>
              <a:off x="1389773" y="2214880"/>
              <a:ext cx="330464" cy="352116"/>
              <a:chOff x="5538788" y="2417763"/>
              <a:chExt cx="557213" cy="593725"/>
            </a:xfrm>
            <a:solidFill>
              <a:schemeClr val="tx1"/>
            </a:solidFill>
          </p:grpSpPr>
          <p:sp>
            <p:nvSpPr>
              <p:cNvPr id="42" name="Shape 7785">
                <a:extLst>
                  <a:ext uri="{FF2B5EF4-FFF2-40B4-BE49-F238E27FC236}">
                    <a16:creationId xmlns:a16="http://schemas.microsoft.com/office/drawing/2014/main" xmlns="" id="{B9E8FD5A-ABF6-4410-8BD4-8DEA503DAB4E}"/>
                  </a:ext>
                </a:extLst>
              </p:cNvPr>
              <p:cNvSpPr/>
              <p:nvPr/>
            </p:nvSpPr>
            <p:spPr>
              <a:xfrm>
                <a:off x="5538788" y="2727325"/>
                <a:ext cx="188913" cy="284162"/>
              </a:xfrm>
              <a:custGeom>
                <a:avLst/>
                <a:gdLst/>
                <a:ahLst/>
                <a:cxnLst/>
                <a:rect l="0" t="0" r="0" b="0"/>
                <a:pathLst>
                  <a:path w="160" h="242" extrusionOk="0">
                    <a:moveTo>
                      <a:pt x="0" y="233"/>
                    </a:moveTo>
                    <a:cubicBezTo>
                      <a:pt x="0" y="238"/>
                      <a:pt x="4" y="242"/>
                      <a:pt x="9" y="242"/>
                    </a:cubicBezTo>
                    <a:cubicBezTo>
                      <a:pt x="151" y="242"/>
                      <a:pt x="151" y="242"/>
                      <a:pt x="151" y="242"/>
                    </a:cubicBezTo>
                    <a:cubicBezTo>
                      <a:pt x="156" y="242"/>
                      <a:pt x="160" y="238"/>
                      <a:pt x="160" y="233"/>
                    </a:cubicBezTo>
                    <a:cubicBezTo>
                      <a:pt x="160" y="0"/>
                      <a:pt x="160" y="0"/>
                      <a:pt x="160" y="0"/>
                    </a:cubicBezTo>
                    <a:cubicBezTo>
                      <a:pt x="0" y="0"/>
                      <a:pt x="0" y="0"/>
                      <a:pt x="0" y="0"/>
                    </a:cubicBezTo>
                    <a:lnTo>
                      <a:pt x="0" y="233"/>
                    </a:lnTo>
                    <a:close/>
                    <a:moveTo>
                      <a:pt x="80" y="227"/>
                    </a:moveTo>
                    <a:cubicBezTo>
                      <a:pt x="71" y="227"/>
                      <a:pt x="63" y="220"/>
                      <a:pt x="63" y="210"/>
                    </a:cubicBezTo>
                    <a:cubicBezTo>
                      <a:pt x="63" y="200"/>
                      <a:pt x="71" y="192"/>
                      <a:pt x="80" y="192"/>
                    </a:cubicBezTo>
                    <a:cubicBezTo>
                      <a:pt x="90" y="192"/>
                      <a:pt x="98" y="200"/>
                      <a:pt x="98" y="210"/>
                    </a:cubicBezTo>
                    <a:cubicBezTo>
                      <a:pt x="98" y="220"/>
                      <a:pt x="90" y="227"/>
                      <a:pt x="80" y="227"/>
                    </a:cubicBezTo>
                    <a:close/>
                    <a:moveTo>
                      <a:pt x="73" y="175"/>
                    </a:moveTo>
                    <a:cubicBezTo>
                      <a:pt x="73" y="171"/>
                      <a:pt x="76" y="167"/>
                      <a:pt x="80" y="167"/>
                    </a:cubicBezTo>
                    <a:cubicBezTo>
                      <a:pt x="85" y="167"/>
                      <a:pt x="88" y="171"/>
                      <a:pt x="88" y="175"/>
                    </a:cubicBezTo>
                    <a:cubicBezTo>
                      <a:pt x="88" y="179"/>
                      <a:pt x="85" y="183"/>
                      <a:pt x="80" y="183"/>
                    </a:cubicBezTo>
                    <a:cubicBezTo>
                      <a:pt x="76" y="183"/>
                      <a:pt x="73" y="179"/>
                      <a:pt x="73" y="175"/>
                    </a:cubicBezTo>
                    <a:close/>
                    <a:moveTo>
                      <a:pt x="29" y="12"/>
                    </a:moveTo>
                    <a:cubicBezTo>
                      <a:pt x="131" y="12"/>
                      <a:pt x="131" y="12"/>
                      <a:pt x="131" y="12"/>
                    </a:cubicBezTo>
                    <a:cubicBezTo>
                      <a:pt x="131" y="33"/>
                      <a:pt x="131" y="33"/>
                      <a:pt x="131" y="33"/>
                    </a:cubicBezTo>
                    <a:cubicBezTo>
                      <a:pt x="29" y="33"/>
                      <a:pt x="29" y="33"/>
                      <a:pt x="29" y="33"/>
                    </a:cubicBezTo>
                    <a:lnTo>
                      <a:pt x="29" y="12"/>
                    </a:lnTo>
                    <a:close/>
                    <a:moveTo>
                      <a:pt x="29" y="43"/>
                    </a:moveTo>
                    <a:cubicBezTo>
                      <a:pt x="131" y="43"/>
                      <a:pt x="131" y="43"/>
                      <a:pt x="131" y="43"/>
                    </a:cubicBezTo>
                    <a:cubicBezTo>
                      <a:pt x="131" y="64"/>
                      <a:pt x="131" y="64"/>
                      <a:pt x="131" y="64"/>
                    </a:cubicBezTo>
                    <a:cubicBezTo>
                      <a:pt x="29" y="64"/>
                      <a:pt x="29" y="64"/>
                      <a:pt x="29" y="64"/>
                    </a:cubicBezTo>
                    <a:lnTo>
                      <a:pt x="29" y="43"/>
                    </a:lnTo>
                    <a:close/>
                    <a:moveTo>
                      <a:pt x="29" y="73"/>
                    </a:moveTo>
                    <a:cubicBezTo>
                      <a:pt x="131" y="73"/>
                      <a:pt x="131" y="73"/>
                      <a:pt x="131" y="73"/>
                    </a:cubicBezTo>
                    <a:cubicBezTo>
                      <a:pt x="131" y="94"/>
                      <a:pt x="131" y="94"/>
                      <a:pt x="131" y="94"/>
                    </a:cubicBezTo>
                    <a:cubicBezTo>
                      <a:pt x="29" y="94"/>
                      <a:pt x="29" y="94"/>
                      <a:pt x="29" y="94"/>
                    </a:cubicBezTo>
                    <a:lnTo>
                      <a:pt x="29" y="73"/>
                    </a:lnTo>
                    <a:close/>
                    <a:moveTo>
                      <a:pt x="29" y="104"/>
                    </a:moveTo>
                    <a:cubicBezTo>
                      <a:pt x="131" y="104"/>
                      <a:pt x="131" y="104"/>
                      <a:pt x="131" y="104"/>
                    </a:cubicBezTo>
                    <a:cubicBezTo>
                      <a:pt x="131" y="125"/>
                      <a:pt x="131" y="125"/>
                      <a:pt x="131" y="125"/>
                    </a:cubicBezTo>
                    <a:cubicBezTo>
                      <a:pt x="29" y="125"/>
                      <a:pt x="29" y="125"/>
                      <a:pt x="29" y="125"/>
                    </a:cubicBezTo>
                    <a:lnTo>
                      <a:pt x="29" y="104"/>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43" name="Shape 7786">
                <a:extLst>
                  <a:ext uri="{FF2B5EF4-FFF2-40B4-BE49-F238E27FC236}">
                    <a16:creationId xmlns:a16="http://schemas.microsoft.com/office/drawing/2014/main" xmlns="" id="{B4585ACB-FDA3-44CA-9E28-42726D2D1ECA}"/>
                  </a:ext>
                </a:extLst>
              </p:cNvPr>
              <p:cNvSpPr/>
              <p:nvPr/>
            </p:nvSpPr>
            <p:spPr>
              <a:xfrm>
                <a:off x="5538788" y="2651125"/>
                <a:ext cx="188913" cy="63500"/>
              </a:xfrm>
              <a:custGeom>
                <a:avLst/>
                <a:gdLst/>
                <a:ahLst/>
                <a:cxnLst/>
                <a:rect l="0" t="0" r="0" b="0"/>
                <a:pathLst>
                  <a:path w="160" h="55" extrusionOk="0">
                    <a:moveTo>
                      <a:pt x="151" y="0"/>
                    </a:moveTo>
                    <a:cubicBezTo>
                      <a:pt x="9" y="0"/>
                      <a:pt x="9" y="0"/>
                      <a:pt x="9" y="0"/>
                    </a:cubicBezTo>
                    <a:cubicBezTo>
                      <a:pt x="4" y="0"/>
                      <a:pt x="0" y="4"/>
                      <a:pt x="0" y="9"/>
                    </a:cubicBezTo>
                    <a:cubicBezTo>
                      <a:pt x="0" y="55"/>
                      <a:pt x="0" y="55"/>
                      <a:pt x="0" y="55"/>
                    </a:cubicBezTo>
                    <a:cubicBezTo>
                      <a:pt x="160" y="55"/>
                      <a:pt x="160" y="55"/>
                      <a:pt x="160" y="55"/>
                    </a:cubicBezTo>
                    <a:cubicBezTo>
                      <a:pt x="160" y="9"/>
                      <a:pt x="160" y="9"/>
                      <a:pt x="160" y="9"/>
                    </a:cubicBezTo>
                    <a:cubicBezTo>
                      <a:pt x="160" y="4"/>
                      <a:pt x="156" y="0"/>
                      <a:pt x="151" y="0"/>
                    </a:cubicBezTo>
                    <a:close/>
                    <a:moveTo>
                      <a:pt x="43" y="43"/>
                    </a:moveTo>
                    <a:cubicBezTo>
                      <a:pt x="36" y="43"/>
                      <a:pt x="30" y="37"/>
                      <a:pt x="30" y="30"/>
                    </a:cubicBezTo>
                    <a:cubicBezTo>
                      <a:pt x="30" y="22"/>
                      <a:pt x="36" y="16"/>
                      <a:pt x="43" y="16"/>
                    </a:cubicBezTo>
                    <a:cubicBezTo>
                      <a:pt x="51" y="16"/>
                      <a:pt x="57" y="22"/>
                      <a:pt x="57" y="30"/>
                    </a:cubicBezTo>
                    <a:cubicBezTo>
                      <a:pt x="57" y="37"/>
                      <a:pt x="51" y="43"/>
                      <a:pt x="43" y="43"/>
                    </a:cubicBezTo>
                    <a:close/>
                    <a:moveTo>
                      <a:pt x="131" y="38"/>
                    </a:moveTo>
                    <a:cubicBezTo>
                      <a:pt x="68" y="38"/>
                      <a:pt x="68" y="38"/>
                      <a:pt x="68" y="38"/>
                    </a:cubicBezTo>
                    <a:cubicBezTo>
                      <a:pt x="68" y="22"/>
                      <a:pt x="68" y="22"/>
                      <a:pt x="68" y="22"/>
                    </a:cubicBezTo>
                    <a:cubicBezTo>
                      <a:pt x="131" y="22"/>
                      <a:pt x="131" y="22"/>
                      <a:pt x="131" y="22"/>
                    </a:cubicBezTo>
                    <a:lnTo>
                      <a:pt x="131" y="38"/>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44" name="Shape 7787">
                <a:extLst>
                  <a:ext uri="{FF2B5EF4-FFF2-40B4-BE49-F238E27FC236}">
                    <a16:creationId xmlns:a16="http://schemas.microsoft.com/office/drawing/2014/main" xmlns="" id="{D5AE5C04-9A42-4B57-817D-0365CA910402}"/>
                  </a:ext>
                </a:extLst>
              </p:cNvPr>
              <p:cNvSpPr/>
              <p:nvPr/>
            </p:nvSpPr>
            <p:spPr>
              <a:xfrm>
                <a:off x="6013450" y="2990850"/>
                <a:ext cx="28575" cy="20637"/>
              </a:xfrm>
              <a:custGeom>
                <a:avLst/>
                <a:gdLst/>
                <a:ahLst/>
                <a:cxnLst/>
                <a:rect l="0" t="0" r="0" b="0"/>
                <a:pathLst>
                  <a:path w="24" h="18" extrusionOk="0">
                    <a:moveTo>
                      <a:pt x="1" y="4"/>
                    </a:moveTo>
                    <a:cubicBezTo>
                      <a:pt x="0" y="4"/>
                      <a:pt x="0" y="4"/>
                      <a:pt x="0" y="4"/>
                    </a:cubicBezTo>
                    <a:cubicBezTo>
                      <a:pt x="0" y="18"/>
                      <a:pt x="0" y="18"/>
                      <a:pt x="0" y="18"/>
                    </a:cubicBezTo>
                    <a:cubicBezTo>
                      <a:pt x="1" y="18"/>
                      <a:pt x="1" y="18"/>
                      <a:pt x="1" y="18"/>
                    </a:cubicBezTo>
                    <a:cubicBezTo>
                      <a:pt x="9" y="18"/>
                      <a:pt x="17" y="16"/>
                      <a:pt x="24" y="12"/>
                    </a:cubicBezTo>
                    <a:cubicBezTo>
                      <a:pt x="17" y="0"/>
                      <a:pt x="17" y="0"/>
                      <a:pt x="17" y="0"/>
                    </a:cubicBezTo>
                    <a:cubicBezTo>
                      <a:pt x="12" y="3"/>
                      <a:pt x="6" y="4"/>
                      <a:pt x="1" y="4"/>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45" name="Shape 7788">
                <a:extLst>
                  <a:ext uri="{FF2B5EF4-FFF2-40B4-BE49-F238E27FC236}">
                    <a16:creationId xmlns:a16="http://schemas.microsoft.com/office/drawing/2014/main" xmlns="" id="{60A180BC-99F9-46C1-9B90-58E81A1284B4}"/>
                  </a:ext>
                </a:extLst>
              </p:cNvPr>
              <p:cNvSpPr/>
              <p:nvPr/>
            </p:nvSpPr>
            <p:spPr>
              <a:xfrm>
                <a:off x="5964238" y="299561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46" name="Shape 7789">
                <a:extLst>
                  <a:ext uri="{FF2B5EF4-FFF2-40B4-BE49-F238E27FC236}">
                    <a16:creationId xmlns:a16="http://schemas.microsoft.com/office/drawing/2014/main" xmlns="" id="{BEA40635-32D8-4A95-AA52-CFB50D3A858A}"/>
                  </a:ext>
                </a:extLst>
              </p:cNvPr>
              <p:cNvSpPr/>
              <p:nvPr/>
            </p:nvSpPr>
            <p:spPr>
              <a:xfrm>
                <a:off x="5913438" y="2995613"/>
                <a:ext cx="23813"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47" name="Shape 7790">
                <a:extLst>
                  <a:ext uri="{FF2B5EF4-FFF2-40B4-BE49-F238E27FC236}">
                    <a16:creationId xmlns:a16="http://schemas.microsoft.com/office/drawing/2014/main" xmlns="" id="{8F8AE141-08E1-4310-B6A8-16A8E7D8BFE9}"/>
                  </a:ext>
                </a:extLst>
              </p:cNvPr>
              <p:cNvSpPr/>
              <p:nvPr/>
            </p:nvSpPr>
            <p:spPr>
              <a:xfrm>
                <a:off x="5862638" y="299561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48" name="Shape 7791">
                <a:extLst>
                  <a:ext uri="{FF2B5EF4-FFF2-40B4-BE49-F238E27FC236}">
                    <a16:creationId xmlns:a16="http://schemas.microsoft.com/office/drawing/2014/main" xmlns="" id="{A64C3FA1-3E9F-4798-86AC-8146CFFE7619}"/>
                  </a:ext>
                </a:extLst>
              </p:cNvPr>
              <p:cNvSpPr/>
              <p:nvPr/>
            </p:nvSpPr>
            <p:spPr>
              <a:xfrm>
                <a:off x="5807075" y="2995613"/>
                <a:ext cx="23813"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49" name="Shape 7792">
                <a:extLst>
                  <a:ext uri="{FF2B5EF4-FFF2-40B4-BE49-F238E27FC236}">
                    <a16:creationId xmlns:a16="http://schemas.microsoft.com/office/drawing/2014/main" xmlns="" id="{15D96E38-CF64-46E4-B5E9-7BF21ADE6442}"/>
                  </a:ext>
                </a:extLst>
              </p:cNvPr>
              <p:cNvSpPr/>
              <p:nvPr/>
            </p:nvSpPr>
            <p:spPr>
              <a:xfrm>
                <a:off x="5753100" y="299561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50" name="Shape 7793">
                <a:extLst>
                  <a:ext uri="{FF2B5EF4-FFF2-40B4-BE49-F238E27FC236}">
                    <a16:creationId xmlns:a16="http://schemas.microsoft.com/office/drawing/2014/main" xmlns="" id="{ED4E238D-C342-4AE1-8CA6-C15DC4EF36B1}"/>
                  </a:ext>
                </a:extLst>
              </p:cNvPr>
              <p:cNvSpPr/>
              <p:nvPr/>
            </p:nvSpPr>
            <p:spPr>
              <a:xfrm>
                <a:off x="6048375" y="2955925"/>
                <a:ext cx="22225" cy="28575"/>
              </a:xfrm>
              <a:custGeom>
                <a:avLst/>
                <a:gdLst/>
                <a:ahLst/>
                <a:cxnLst/>
                <a:rect l="0" t="0" r="0" b="0"/>
                <a:pathLst>
                  <a:path w="19" h="24" extrusionOk="0">
                    <a:moveTo>
                      <a:pt x="0" y="17"/>
                    </a:moveTo>
                    <a:cubicBezTo>
                      <a:pt x="12" y="24"/>
                      <a:pt x="12" y="24"/>
                      <a:pt x="12" y="24"/>
                    </a:cubicBezTo>
                    <a:cubicBezTo>
                      <a:pt x="17" y="17"/>
                      <a:pt x="19" y="9"/>
                      <a:pt x="19" y="0"/>
                    </a:cubicBezTo>
                    <a:cubicBezTo>
                      <a:pt x="6" y="0"/>
                      <a:pt x="6" y="0"/>
                      <a:pt x="6" y="0"/>
                    </a:cubicBezTo>
                    <a:cubicBezTo>
                      <a:pt x="5" y="6"/>
                      <a:pt x="3" y="12"/>
                      <a:pt x="0" y="17"/>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51" name="Shape 7794">
                <a:extLst>
                  <a:ext uri="{FF2B5EF4-FFF2-40B4-BE49-F238E27FC236}">
                    <a16:creationId xmlns:a16="http://schemas.microsoft.com/office/drawing/2014/main" xmlns="" id="{57E090C8-3827-45A6-A95A-070BF5748910}"/>
                  </a:ext>
                </a:extLst>
              </p:cNvPr>
              <p:cNvSpPr/>
              <p:nvPr/>
            </p:nvSpPr>
            <p:spPr>
              <a:xfrm>
                <a:off x="6056313" y="2906713"/>
                <a:ext cx="15875" cy="23812"/>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52" name="Shape 7795">
                <a:extLst>
                  <a:ext uri="{FF2B5EF4-FFF2-40B4-BE49-F238E27FC236}">
                    <a16:creationId xmlns:a16="http://schemas.microsoft.com/office/drawing/2014/main" xmlns="" id="{74B615F6-E34F-49F3-82DE-30A683294E8E}"/>
                  </a:ext>
                </a:extLst>
              </p:cNvPr>
              <p:cNvSpPr/>
              <p:nvPr/>
            </p:nvSpPr>
            <p:spPr>
              <a:xfrm>
                <a:off x="6030913" y="2820988"/>
                <a:ext cx="65088" cy="57150"/>
              </a:xfrm>
              <a:custGeom>
                <a:avLst/>
                <a:gdLst/>
                <a:ahLst/>
                <a:cxnLst/>
                <a:rect l="0" t="0" r="0" b="0"/>
                <a:pathLst>
                  <a:path w="41" h="36" extrusionOk="0">
                    <a:moveTo>
                      <a:pt x="0" y="36"/>
                    </a:moveTo>
                    <a:lnTo>
                      <a:pt x="41" y="36"/>
                    </a:lnTo>
                    <a:lnTo>
                      <a:pt x="21" y="0"/>
                    </a:lnTo>
                    <a:lnTo>
                      <a:pt x="0" y="36"/>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53" name="Shape 7796">
                <a:extLst>
                  <a:ext uri="{FF2B5EF4-FFF2-40B4-BE49-F238E27FC236}">
                    <a16:creationId xmlns:a16="http://schemas.microsoft.com/office/drawing/2014/main" xmlns="" id="{988D43A3-4D2C-46CE-946C-48997446C10F}"/>
                  </a:ext>
                </a:extLst>
              </p:cNvPr>
              <p:cNvSpPr/>
              <p:nvPr/>
            </p:nvSpPr>
            <p:spPr>
              <a:xfrm>
                <a:off x="5908675" y="2495550"/>
                <a:ext cx="187325" cy="282575"/>
              </a:xfrm>
              <a:custGeom>
                <a:avLst/>
                <a:gdLst/>
                <a:ahLst/>
                <a:cxnLst/>
                <a:rect l="0" t="0" r="0" b="0"/>
                <a:pathLst>
                  <a:path w="160" h="242" extrusionOk="0">
                    <a:moveTo>
                      <a:pt x="0" y="233"/>
                    </a:moveTo>
                    <a:cubicBezTo>
                      <a:pt x="0" y="238"/>
                      <a:pt x="4" y="242"/>
                      <a:pt x="9" y="242"/>
                    </a:cubicBezTo>
                    <a:cubicBezTo>
                      <a:pt x="151" y="242"/>
                      <a:pt x="151" y="242"/>
                      <a:pt x="151" y="242"/>
                    </a:cubicBezTo>
                    <a:cubicBezTo>
                      <a:pt x="156" y="242"/>
                      <a:pt x="160" y="238"/>
                      <a:pt x="160" y="233"/>
                    </a:cubicBezTo>
                    <a:cubicBezTo>
                      <a:pt x="160" y="0"/>
                      <a:pt x="160" y="0"/>
                      <a:pt x="160" y="0"/>
                    </a:cubicBezTo>
                    <a:cubicBezTo>
                      <a:pt x="0" y="0"/>
                      <a:pt x="0" y="0"/>
                      <a:pt x="0" y="0"/>
                    </a:cubicBezTo>
                    <a:lnTo>
                      <a:pt x="0" y="233"/>
                    </a:lnTo>
                    <a:close/>
                    <a:moveTo>
                      <a:pt x="80" y="227"/>
                    </a:moveTo>
                    <a:cubicBezTo>
                      <a:pt x="71" y="227"/>
                      <a:pt x="63" y="220"/>
                      <a:pt x="63" y="210"/>
                    </a:cubicBezTo>
                    <a:cubicBezTo>
                      <a:pt x="63" y="200"/>
                      <a:pt x="71" y="192"/>
                      <a:pt x="80" y="192"/>
                    </a:cubicBezTo>
                    <a:cubicBezTo>
                      <a:pt x="90" y="192"/>
                      <a:pt x="98" y="200"/>
                      <a:pt x="98" y="210"/>
                    </a:cubicBezTo>
                    <a:cubicBezTo>
                      <a:pt x="98" y="220"/>
                      <a:pt x="90" y="227"/>
                      <a:pt x="80" y="227"/>
                    </a:cubicBezTo>
                    <a:close/>
                    <a:moveTo>
                      <a:pt x="72" y="175"/>
                    </a:moveTo>
                    <a:cubicBezTo>
                      <a:pt x="72" y="171"/>
                      <a:pt x="76" y="167"/>
                      <a:pt x="80" y="167"/>
                    </a:cubicBezTo>
                    <a:cubicBezTo>
                      <a:pt x="85" y="167"/>
                      <a:pt x="88" y="171"/>
                      <a:pt x="88" y="175"/>
                    </a:cubicBezTo>
                    <a:cubicBezTo>
                      <a:pt x="88" y="179"/>
                      <a:pt x="85" y="183"/>
                      <a:pt x="80" y="183"/>
                    </a:cubicBezTo>
                    <a:cubicBezTo>
                      <a:pt x="76" y="183"/>
                      <a:pt x="72" y="179"/>
                      <a:pt x="72" y="175"/>
                    </a:cubicBezTo>
                    <a:close/>
                    <a:moveTo>
                      <a:pt x="29" y="12"/>
                    </a:moveTo>
                    <a:cubicBezTo>
                      <a:pt x="131" y="12"/>
                      <a:pt x="131" y="12"/>
                      <a:pt x="131" y="12"/>
                    </a:cubicBezTo>
                    <a:cubicBezTo>
                      <a:pt x="131" y="33"/>
                      <a:pt x="131" y="33"/>
                      <a:pt x="131" y="33"/>
                    </a:cubicBezTo>
                    <a:cubicBezTo>
                      <a:pt x="29" y="33"/>
                      <a:pt x="29" y="33"/>
                      <a:pt x="29" y="33"/>
                    </a:cubicBezTo>
                    <a:lnTo>
                      <a:pt x="29" y="12"/>
                    </a:lnTo>
                    <a:close/>
                    <a:moveTo>
                      <a:pt x="29" y="43"/>
                    </a:moveTo>
                    <a:cubicBezTo>
                      <a:pt x="131" y="43"/>
                      <a:pt x="131" y="43"/>
                      <a:pt x="131" y="43"/>
                    </a:cubicBezTo>
                    <a:cubicBezTo>
                      <a:pt x="131" y="64"/>
                      <a:pt x="131" y="64"/>
                      <a:pt x="131" y="64"/>
                    </a:cubicBezTo>
                    <a:cubicBezTo>
                      <a:pt x="29" y="64"/>
                      <a:pt x="29" y="64"/>
                      <a:pt x="29" y="64"/>
                    </a:cubicBezTo>
                    <a:lnTo>
                      <a:pt x="29" y="43"/>
                    </a:lnTo>
                    <a:close/>
                    <a:moveTo>
                      <a:pt x="29" y="73"/>
                    </a:moveTo>
                    <a:cubicBezTo>
                      <a:pt x="131" y="73"/>
                      <a:pt x="131" y="73"/>
                      <a:pt x="131" y="73"/>
                    </a:cubicBezTo>
                    <a:cubicBezTo>
                      <a:pt x="131" y="94"/>
                      <a:pt x="131" y="94"/>
                      <a:pt x="131" y="94"/>
                    </a:cubicBezTo>
                    <a:cubicBezTo>
                      <a:pt x="29" y="94"/>
                      <a:pt x="29" y="94"/>
                      <a:pt x="29" y="94"/>
                    </a:cubicBezTo>
                    <a:lnTo>
                      <a:pt x="29" y="73"/>
                    </a:lnTo>
                    <a:close/>
                    <a:moveTo>
                      <a:pt x="29" y="104"/>
                    </a:moveTo>
                    <a:cubicBezTo>
                      <a:pt x="131" y="104"/>
                      <a:pt x="131" y="104"/>
                      <a:pt x="131" y="104"/>
                    </a:cubicBezTo>
                    <a:cubicBezTo>
                      <a:pt x="131" y="125"/>
                      <a:pt x="131" y="125"/>
                      <a:pt x="131" y="125"/>
                    </a:cubicBezTo>
                    <a:cubicBezTo>
                      <a:pt x="29" y="125"/>
                      <a:pt x="29" y="125"/>
                      <a:pt x="29" y="125"/>
                    </a:cubicBezTo>
                    <a:lnTo>
                      <a:pt x="29" y="104"/>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54" name="Shape 7797">
                <a:extLst>
                  <a:ext uri="{FF2B5EF4-FFF2-40B4-BE49-F238E27FC236}">
                    <a16:creationId xmlns:a16="http://schemas.microsoft.com/office/drawing/2014/main" xmlns="" id="{B20397CF-DF36-4933-9562-F65D18BAF9C3}"/>
                  </a:ext>
                </a:extLst>
              </p:cNvPr>
              <p:cNvSpPr/>
              <p:nvPr/>
            </p:nvSpPr>
            <p:spPr>
              <a:xfrm>
                <a:off x="5908675" y="2417763"/>
                <a:ext cx="187325" cy="65087"/>
              </a:xfrm>
              <a:custGeom>
                <a:avLst/>
                <a:gdLst/>
                <a:ahLst/>
                <a:cxnLst/>
                <a:rect l="0" t="0" r="0" b="0"/>
                <a:pathLst>
                  <a:path w="160" h="55" extrusionOk="0">
                    <a:moveTo>
                      <a:pt x="151" y="0"/>
                    </a:moveTo>
                    <a:cubicBezTo>
                      <a:pt x="9" y="0"/>
                      <a:pt x="9" y="0"/>
                      <a:pt x="9" y="0"/>
                    </a:cubicBezTo>
                    <a:cubicBezTo>
                      <a:pt x="4" y="0"/>
                      <a:pt x="0" y="4"/>
                      <a:pt x="0" y="9"/>
                    </a:cubicBezTo>
                    <a:cubicBezTo>
                      <a:pt x="0" y="55"/>
                      <a:pt x="0" y="55"/>
                      <a:pt x="0" y="55"/>
                    </a:cubicBezTo>
                    <a:cubicBezTo>
                      <a:pt x="160" y="55"/>
                      <a:pt x="160" y="55"/>
                      <a:pt x="160" y="55"/>
                    </a:cubicBezTo>
                    <a:cubicBezTo>
                      <a:pt x="160" y="9"/>
                      <a:pt x="160" y="9"/>
                      <a:pt x="160" y="9"/>
                    </a:cubicBezTo>
                    <a:cubicBezTo>
                      <a:pt x="160" y="4"/>
                      <a:pt x="156" y="0"/>
                      <a:pt x="151" y="0"/>
                    </a:cubicBezTo>
                    <a:close/>
                    <a:moveTo>
                      <a:pt x="93" y="38"/>
                    </a:moveTo>
                    <a:cubicBezTo>
                      <a:pt x="29" y="38"/>
                      <a:pt x="29" y="38"/>
                      <a:pt x="29" y="38"/>
                    </a:cubicBezTo>
                    <a:cubicBezTo>
                      <a:pt x="29" y="22"/>
                      <a:pt x="29" y="22"/>
                      <a:pt x="29" y="22"/>
                    </a:cubicBezTo>
                    <a:cubicBezTo>
                      <a:pt x="93" y="22"/>
                      <a:pt x="93" y="22"/>
                      <a:pt x="93" y="22"/>
                    </a:cubicBezTo>
                    <a:lnTo>
                      <a:pt x="93" y="38"/>
                    </a:lnTo>
                    <a:close/>
                    <a:moveTo>
                      <a:pt x="117" y="43"/>
                    </a:moveTo>
                    <a:cubicBezTo>
                      <a:pt x="110" y="43"/>
                      <a:pt x="104" y="37"/>
                      <a:pt x="104" y="30"/>
                    </a:cubicBezTo>
                    <a:cubicBezTo>
                      <a:pt x="104" y="22"/>
                      <a:pt x="110" y="16"/>
                      <a:pt x="117" y="16"/>
                    </a:cubicBezTo>
                    <a:cubicBezTo>
                      <a:pt x="125" y="16"/>
                      <a:pt x="131" y="22"/>
                      <a:pt x="131" y="30"/>
                    </a:cubicBezTo>
                    <a:cubicBezTo>
                      <a:pt x="131" y="37"/>
                      <a:pt x="125" y="43"/>
                      <a:pt x="117" y="43"/>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55" name="Shape 7798">
                <a:extLst>
                  <a:ext uri="{FF2B5EF4-FFF2-40B4-BE49-F238E27FC236}">
                    <a16:creationId xmlns:a16="http://schemas.microsoft.com/office/drawing/2014/main" xmlns="" id="{2C48F5E4-CE9E-40CA-BBE7-22C786866D05}"/>
                  </a:ext>
                </a:extLst>
              </p:cNvPr>
              <p:cNvSpPr/>
              <p:nvPr/>
            </p:nvSpPr>
            <p:spPr>
              <a:xfrm>
                <a:off x="5592763" y="2417763"/>
                <a:ext cx="30163" cy="20637"/>
              </a:xfrm>
              <a:custGeom>
                <a:avLst/>
                <a:gdLst/>
                <a:ahLst/>
                <a:cxnLst/>
                <a:rect l="0" t="0" r="0" b="0"/>
                <a:pathLst>
                  <a:path w="25" h="18" extrusionOk="0">
                    <a:moveTo>
                      <a:pt x="24" y="14"/>
                    </a:moveTo>
                    <a:cubicBezTo>
                      <a:pt x="25" y="14"/>
                      <a:pt x="25" y="14"/>
                      <a:pt x="25" y="14"/>
                    </a:cubicBezTo>
                    <a:cubicBezTo>
                      <a:pt x="25" y="0"/>
                      <a:pt x="25" y="0"/>
                      <a:pt x="25" y="0"/>
                    </a:cubicBezTo>
                    <a:cubicBezTo>
                      <a:pt x="24" y="0"/>
                      <a:pt x="24" y="0"/>
                      <a:pt x="24" y="0"/>
                    </a:cubicBezTo>
                    <a:cubicBezTo>
                      <a:pt x="16" y="0"/>
                      <a:pt x="8" y="2"/>
                      <a:pt x="0" y="6"/>
                    </a:cubicBezTo>
                    <a:cubicBezTo>
                      <a:pt x="7" y="18"/>
                      <a:pt x="7" y="18"/>
                      <a:pt x="7" y="18"/>
                    </a:cubicBezTo>
                    <a:cubicBezTo>
                      <a:pt x="12" y="15"/>
                      <a:pt x="18" y="14"/>
                      <a:pt x="24" y="14"/>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56" name="Shape 7799">
                <a:extLst>
                  <a:ext uri="{FF2B5EF4-FFF2-40B4-BE49-F238E27FC236}">
                    <a16:creationId xmlns:a16="http://schemas.microsoft.com/office/drawing/2014/main" xmlns="" id="{494B655B-5CB2-4027-A5B4-72794D703577}"/>
                  </a:ext>
                </a:extLst>
              </p:cNvPr>
              <p:cNvSpPr/>
              <p:nvPr/>
            </p:nvSpPr>
            <p:spPr>
              <a:xfrm>
                <a:off x="5646738" y="2417763"/>
                <a:ext cx="26988"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57" name="Shape 7800">
                <a:extLst>
                  <a:ext uri="{FF2B5EF4-FFF2-40B4-BE49-F238E27FC236}">
                    <a16:creationId xmlns:a16="http://schemas.microsoft.com/office/drawing/2014/main" xmlns="" id="{B21B57E9-F552-4372-B31D-A8263B94BE67}"/>
                  </a:ext>
                </a:extLst>
              </p:cNvPr>
              <p:cNvSpPr/>
              <p:nvPr/>
            </p:nvSpPr>
            <p:spPr>
              <a:xfrm>
                <a:off x="5697538" y="241776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58" name="Shape 7801">
                <a:extLst>
                  <a:ext uri="{FF2B5EF4-FFF2-40B4-BE49-F238E27FC236}">
                    <a16:creationId xmlns:a16="http://schemas.microsoft.com/office/drawing/2014/main" xmlns="" id="{A32B6E9C-6158-4D3C-9616-01B2C4C76284}"/>
                  </a:ext>
                </a:extLst>
              </p:cNvPr>
              <p:cNvSpPr/>
              <p:nvPr/>
            </p:nvSpPr>
            <p:spPr>
              <a:xfrm>
                <a:off x="5748338" y="241776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59" name="Shape 7802">
                <a:extLst>
                  <a:ext uri="{FF2B5EF4-FFF2-40B4-BE49-F238E27FC236}">
                    <a16:creationId xmlns:a16="http://schemas.microsoft.com/office/drawing/2014/main" xmlns="" id="{07EE3E21-08DB-460D-BA29-61A54CC5F73A}"/>
                  </a:ext>
                </a:extLst>
              </p:cNvPr>
              <p:cNvSpPr/>
              <p:nvPr/>
            </p:nvSpPr>
            <p:spPr>
              <a:xfrm>
                <a:off x="5799138" y="241776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60" name="Shape 7803">
                <a:extLst>
                  <a:ext uri="{FF2B5EF4-FFF2-40B4-BE49-F238E27FC236}">
                    <a16:creationId xmlns:a16="http://schemas.microsoft.com/office/drawing/2014/main" xmlns="" id="{856323F5-3FCA-4ADF-9CD0-3784D1CBFBA8}"/>
                  </a:ext>
                </a:extLst>
              </p:cNvPr>
              <p:cNvSpPr/>
              <p:nvPr/>
            </p:nvSpPr>
            <p:spPr>
              <a:xfrm>
                <a:off x="5857875" y="241776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61" name="Shape 7804">
                <a:extLst>
                  <a:ext uri="{FF2B5EF4-FFF2-40B4-BE49-F238E27FC236}">
                    <a16:creationId xmlns:a16="http://schemas.microsoft.com/office/drawing/2014/main" xmlns="" id="{CF3B6C7F-B163-4D30-B291-0EEA5DCDE4DE}"/>
                  </a:ext>
                </a:extLst>
              </p:cNvPr>
              <p:cNvSpPr/>
              <p:nvPr/>
            </p:nvSpPr>
            <p:spPr>
              <a:xfrm>
                <a:off x="5564188" y="2444750"/>
                <a:ext cx="22225" cy="28575"/>
              </a:xfrm>
              <a:custGeom>
                <a:avLst/>
                <a:gdLst/>
                <a:ahLst/>
                <a:cxnLst/>
                <a:rect l="0" t="0" r="0" b="0"/>
                <a:pathLst>
                  <a:path w="19" h="24" extrusionOk="0">
                    <a:moveTo>
                      <a:pt x="19" y="7"/>
                    </a:moveTo>
                    <a:cubicBezTo>
                      <a:pt x="7" y="0"/>
                      <a:pt x="7" y="0"/>
                      <a:pt x="7" y="0"/>
                    </a:cubicBezTo>
                    <a:cubicBezTo>
                      <a:pt x="3" y="7"/>
                      <a:pt x="0" y="15"/>
                      <a:pt x="0" y="23"/>
                    </a:cubicBezTo>
                    <a:cubicBezTo>
                      <a:pt x="14" y="24"/>
                      <a:pt x="14" y="24"/>
                      <a:pt x="14" y="24"/>
                    </a:cubicBezTo>
                    <a:cubicBezTo>
                      <a:pt x="14" y="18"/>
                      <a:pt x="16" y="12"/>
                      <a:pt x="19" y="7"/>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62" name="Shape 7805">
                <a:extLst>
                  <a:ext uri="{FF2B5EF4-FFF2-40B4-BE49-F238E27FC236}">
                    <a16:creationId xmlns:a16="http://schemas.microsoft.com/office/drawing/2014/main" xmlns="" id="{F677AD2C-5DE1-4B7F-A4B5-9C25B19627F1}"/>
                  </a:ext>
                </a:extLst>
              </p:cNvPr>
              <p:cNvSpPr/>
              <p:nvPr/>
            </p:nvSpPr>
            <p:spPr>
              <a:xfrm>
                <a:off x="5564188" y="2497138"/>
                <a:ext cx="15875" cy="25400"/>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63" name="Shape 7806">
                <a:extLst>
                  <a:ext uri="{FF2B5EF4-FFF2-40B4-BE49-F238E27FC236}">
                    <a16:creationId xmlns:a16="http://schemas.microsoft.com/office/drawing/2014/main" xmlns="" id="{C0FF95CE-2DD6-46EA-9412-766506460614}"/>
                  </a:ext>
                </a:extLst>
              </p:cNvPr>
              <p:cNvSpPr/>
              <p:nvPr/>
            </p:nvSpPr>
            <p:spPr>
              <a:xfrm>
                <a:off x="5538788" y="2551113"/>
                <a:ext cx="66675" cy="55562"/>
              </a:xfrm>
              <a:custGeom>
                <a:avLst/>
                <a:gdLst/>
                <a:ahLst/>
                <a:cxnLst/>
                <a:rect l="0" t="0" r="0" b="0"/>
                <a:pathLst>
                  <a:path w="42" h="35" extrusionOk="0">
                    <a:moveTo>
                      <a:pt x="42" y="0"/>
                    </a:moveTo>
                    <a:lnTo>
                      <a:pt x="0" y="0"/>
                    </a:lnTo>
                    <a:lnTo>
                      <a:pt x="21" y="35"/>
                    </a:lnTo>
                    <a:lnTo>
                      <a:pt x="42" y="0"/>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grpSp>
      </p:grpSp>
    </p:spTree>
    <p:extLst>
      <p:ext uri="{BB962C8B-B14F-4D97-AF65-F5344CB8AC3E}">
        <p14:creationId xmlns:p14="http://schemas.microsoft.com/office/powerpoint/2010/main" val="17824852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C5BA2E58-FEC9-D54D-ACC0-E7CEEF5F42E4}"/>
              </a:ext>
            </a:extLst>
          </p:cNvPr>
          <p:cNvSpPr>
            <a:spLocks noGrp="1"/>
          </p:cNvSpPr>
          <p:nvPr>
            <p:ph type="title"/>
          </p:nvPr>
        </p:nvSpPr>
        <p:spPr>
          <a:xfrm>
            <a:off x="678884" y="603666"/>
            <a:ext cx="10834234" cy="612775"/>
          </a:xfrm>
        </p:spPr>
        <p:txBody>
          <a:bodyPr>
            <a:normAutofit/>
          </a:bodyPr>
          <a:lstStyle/>
          <a:p>
            <a:r>
              <a:rPr lang="en-US" dirty="0" err="1">
                <a:effectLst/>
                <a:latin typeface="Times New Roman" panose="02020603050405020304" pitchFamily="18" charset="0"/>
                <a:ea typeface="Calibri" panose="020F0502020204030204" pitchFamily="34" charset="0"/>
              </a:rPr>
              <a:t>Cont</a:t>
            </a:r>
            <a:r>
              <a:rPr lang="en-US" dirty="0">
                <a:effectLst/>
                <a:latin typeface="Times New Roman" panose="02020603050405020304" pitchFamily="18" charset="0"/>
                <a:ea typeface="Calibri" panose="020F0502020204030204" pitchFamily="34" charset="0"/>
              </a:rPr>
              <a:t>…</a:t>
            </a:r>
            <a:endParaRPr lang="en-US" dirty="0"/>
          </a:p>
        </p:txBody>
      </p:sp>
      <p:sp>
        <p:nvSpPr>
          <p:cNvPr id="36" name="Content Placeholder 2">
            <a:extLst>
              <a:ext uri="{FF2B5EF4-FFF2-40B4-BE49-F238E27FC236}">
                <a16:creationId xmlns:a16="http://schemas.microsoft.com/office/drawing/2014/main" xmlns="" id="{0C74259A-52A3-45E8-B90F-094D09788B9F}"/>
              </a:ext>
            </a:extLst>
          </p:cNvPr>
          <p:cNvSpPr txBox="1">
            <a:spLocks/>
          </p:cNvSpPr>
          <p:nvPr/>
        </p:nvSpPr>
        <p:spPr>
          <a:xfrm>
            <a:off x="678883" y="1321643"/>
            <a:ext cx="10834234" cy="876039"/>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Nunito"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Nunito"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Nunito"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7000"/>
              </a:lnSpc>
              <a:spcAft>
                <a:spcPts val="800"/>
              </a:spcAft>
              <a:buNone/>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There are many such pitch deck analyzers that a startup can make use of, here are two of them:</a:t>
            </a:r>
          </a:p>
          <a:p>
            <a:pPr>
              <a:lnSpc>
                <a:spcPct val="107000"/>
              </a:lnSpc>
              <a:spcAft>
                <a:spcPts val="800"/>
              </a:spcAf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a. Pitch Deck Analyzer: </a:t>
            </a:r>
            <a:r>
              <a:rPr lang="en-US" sz="1800" u="sng" dirty="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3"/>
              </a:rPr>
              <a:t>https://chat.openai.com/g/g-PaKEiWpDG-vc</a:t>
            </a:r>
            <a:endParaRPr lang="en-US" sz="1800" u="sng" dirty="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b. Startup Pitch Deck: </a:t>
            </a:r>
            <a:r>
              <a:rPr lang="en-US" sz="1800" u="sng" dirty="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4"/>
              </a:rPr>
              <a:t>https://chat.openai.com/g/g-8Bup8KxbJ-startup-pitch-deck</a:t>
            </a:r>
            <a:r>
              <a:rPr lang="en-US" sz="1800" dirty="0">
                <a:effectLst/>
                <a:latin typeface="Times New Roman" panose="02020603050405020304" pitchFamily="18" charset="0"/>
                <a:ea typeface="Calibri" panose="020F0502020204030204" pitchFamily="34" charset="0"/>
              </a:rPr>
              <a:t> </a:t>
            </a:r>
            <a:endParaRPr lang="en-US" sz="18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grpSp>
        <p:nvGrpSpPr>
          <p:cNvPr id="33" name="Group 32">
            <a:extLst>
              <a:ext uri="{FF2B5EF4-FFF2-40B4-BE49-F238E27FC236}">
                <a16:creationId xmlns:a16="http://schemas.microsoft.com/office/drawing/2014/main" xmlns="" id="{F6464BC8-F5CB-4007-B977-17F9B89DAE19}"/>
              </a:ext>
            </a:extLst>
          </p:cNvPr>
          <p:cNvGrpSpPr/>
          <p:nvPr/>
        </p:nvGrpSpPr>
        <p:grpSpPr>
          <a:xfrm>
            <a:off x="616815" y="2810789"/>
            <a:ext cx="10958370" cy="2251614"/>
            <a:chOff x="669953" y="1659835"/>
            <a:chExt cx="10958370" cy="2251614"/>
          </a:xfrm>
        </p:grpSpPr>
        <p:sp>
          <p:nvSpPr>
            <p:cNvPr id="64" name="Freeform 6">
              <a:extLst>
                <a:ext uri="{FF2B5EF4-FFF2-40B4-BE49-F238E27FC236}">
                  <a16:creationId xmlns:a16="http://schemas.microsoft.com/office/drawing/2014/main" xmlns="" id="{C3985629-E9B4-4835-9D49-FEE6E941C8B8}"/>
                </a:ext>
              </a:extLst>
            </p:cNvPr>
            <p:cNvSpPr>
              <a:spLocks/>
            </p:cNvSpPr>
            <p:nvPr/>
          </p:nvSpPr>
          <p:spPr bwMode="auto">
            <a:xfrm>
              <a:off x="776848" y="1680017"/>
              <a:ext cx="373861" cy="274869"/>
            </a:xfrm>
            <a:custGeom>
              <a:avLst/>
              <a:gdLst>
                <a:gd name="T0" fmla="*/ 81 w 162"/>
                <a:gd name="T1" fmla="*/ 0 h 119"/>
                <a:gd name="T2" fmla="*/ 0 w 162"/>
                <a:gd name="T3" fmla="*/ 119 h 119"/>
                <a:gd name="T4" fmla="*/ 162 w 162"/>
                <a:gd name="T5" fmla="*/ 119 h 119"/>
                <a:gd name="T6" fmla="*/ 81 w 162"/>
                <a:gd name="T7" fmla="*/ 0 h 119"/>
              </a:gdLst>
              <a:ahLst/>
              <a:cxnLst>
                <a:cxn ang="0">
                  <a:pos x="T0" y="T1"/>
                </a:cxn>
                <a:cxn ang="0">
                  <a:pos x="T2" y="T3"/>
                </a:cxn>
                <a:cxn ang="0">
                  <a:pos x="T4" y="T5"/>
                </a:cxn>
                <a:cxn ang="0">
                  <a:pos x="T6" y="T7"/>
                </a:cxn>
              </a:cxnLst>
              <a:rect l="0" t="0" r="r" b="b"/>
              <a:pathLst>
                <a:path w="162" h="119">
                  <a:moveTo>
                    <a:pt x="81" y="0"/>
                  </a:moveTo>
                  <a:cubicBezTo>
                    <a:pt x="34" y="18"/>
                    <a:pt x="0" y="65"/>
                    <a:pt x="0" y="119"/>
                  </a:cubicBezTo>
                  <a:cubicBezTo>
                    <a:pt x="162" y="119"/>
                    <a:pt x="162" y="119"/>
                    <a:pt x="162" y="119"/>
                  </a:cubicBezTo>
                  <a:cubicBezTo>
                    <a:pt x="162" y="65"/>
                    <a:pt x="129" y="19"/>
                    <a:pt x="81" y="0"/>
                  </a:cubicBez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ru-RU"/>
            </a:p>
          </p:txBody>
        </p:sp>
        <p:sp>
          <p:nvSpPr>
            <p:cNvPr id="65" name="Rectangle: Rounded Corners 64">
              <a:extLst>
                <a:ext uri="{FF2B5EF4-FFF2-40B4-BE49-F238E27FC236}">
                  <a16:creationId xmlns:a16="http://schemas.microsoft.com/office/drawing/2014/main" xmlns="" id="{43E114C1-9EB2-42D7-9DAB-4752DC2098B5}"/>
                </a:ext>
              </a:extLst>
            </p:cNvPr>
            <p:cNvSpPr/>
            <p:nvPr/>
          </p:nvSpPr>
          <p:spPr>
            <a:xfrm>
              <a:off x="776848" y="1953670"/>
              <a:ext cx="10851475" cy="567664"/>
            </a:xfrm>
            <a:prstGeom prst="roundRect">
              <a:avLst>
                <a:gd name="adj" fmla="val 9723"/>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404000" rtlCol="0" anchor="ctr"/>
            <a:lstStyle/>
            <a:p>
              <a:r>
                <a:rPr lang="en-US" sz="2200" b="1" dirty="0">
                  <a:solidFill>
                    <a:schemeClr val="tx1"/>
                  </a:solidFill>
                  <a:effectLst/>
                  <a:latin typeface="Times New Roman" panose="02020603050405020304" pitchFamily="18" charset="0"/>
                  <a:ea typeface="Calibri" panose="020F0502020204030204" pitchFamily="34" charset="0"/>
                </a:rPr>
                <a:t>Business Blueprint</a:t>
              </a:r>
              <a:endParaRPr lang="en-IN" sz="2200" b="1" dirty="0">
                <a:solidFill>
                  <a:schemeClr val="tx1"/>
                </a:solidFill>
                <a:latin typeface="Calibri" panose="020F0502020204030204" pitchFamily="34" charset="0"/>
              </a:endParaRPr>
            </a:p>
          </p:txBody>
        </p:sp>
        <p:sp>
          <p:nvSpPr>
            <p:cNvPr id="66" name="Content Placeholder 2">
              <a:extLst>
                <a:ext uri="{FF2B5EF4-FFF2-40B4-BE49-F238E27FC236}">
                  <a16:creationId xmlns:a16="http://schemas.microsoft.com/office/drawing/2014/main" xmlns="" id="{39E31862-C51D-4E8B-A5D4-E1D30B3F36CC}"/>
                </a:ext>
              </a:extLst>
            </p:cNvPr>
            <p:cNvSpPr txBox="1">
              <a:spLocks/>
            </p:cNvSpPr>
            <p:nvPr/>
          </p:nvSpPr>
          <p:spPr>
            <a:xfrm>
              <a:off x="669953" y="3035410"/>
              <a:ext cx="10834234" cy="876039"/>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Nunito"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Nunito"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Nunito"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400"/>
                </a:spcBef>
                <a:spcAft>
                  <a:spcPts val="400"/>
                </a:spcAft>
                <a:buNone/>
              </a:pPr>
              <a:r>
                <a:rPr lang="en-US" sz="2200" dirty="0">
                  <a:latin typeface="+mn-lt"/>
                </a:rPr>
                <a:t>Unlike the pitch deck analyzer which helps the business to analyze business presentations, this tool helps start-ups to improve their business ideas and develop plans to meet a set of objectives.</a:t>
              </a:r>
            </a:p>
            <a:p>
              <a:pPr marL="0" indent="0">
                <a:lnSpc>
                  <a:spcPct val="100000"/>
                </a:lnSpc>
                <a:spcBef>
                  <a:spcPts val="400"/>
                </a:spcBef>
                <a:spcAft>
                  <a:spcPts val="400"/>
                </a:spcAft>
                <a:buNone/>
              </a:pPr>
              <a:r>
                <a:rPr lang="en-US" sz="1800" u="sng" kern="100" dirty="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5"/>
                </a:rPr>
                <a:t>https://chat.openai.com/g/g-S18HXeEm9-business-blueprint-gpt</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400"/>
                </a:spcBef>
                <a:spcAft>
                  <a:spcPts val="400"/>
                </a:spcAft>
                <a:buNone/>
              </a:pPr>
              <a:endParaRPr lang="en-US" sz="2200" dirty="0">
                <a:latin typeface="+mn-lt"/>
              </a:endParaRPr>
            </a:p>
          </p:txBody>
        </p:sp>
        <p:sp>
          <p:nvSpPr>
            <p:cNvPr id="67" name="Freeform 7">
              <a:extLst>
                <a:ext uri="{FF2B5EF4-FFF2-40B4-BE49-F238E27FC236}">
                  <a16:creationId xmlns:a16="http://schemas.microsoft.com/office/drawing/2014/main" xmlns="" id="{D2319B01-70EF-40DD-8684-35885369C781}"/>
                </a:ext>
              </a:extLst>
            </p:cNvPr>
            <p:cNvSpPr>
              <a:spLocks/>
            </p:cNvSpPr>
            <p:nvPr/>
          </p:nvSpPr>
          <p:spPr bwMode="auto">
            <a:xfrm>
              <a:off x="871995" y="1659835"/>
              <a:ext cx="1061994" cy="1111971"/>
            </a:xfrm>
            <a:custGeom>
              <a:avLst/>
              <a:gdLst>
                <a:gd name="T0" fmla="*/ 332 w 461"/>
                <a:gd name="T1" fmla="*/ 0 h 482"/>
                <a:gd name="T2" fmla="*/ 88 w 461"/>
                <a:gd name="T3" fmla="*/ 0 h 482"/>
                <a:gd name="T4" fmla="*/ 40 w 461"/>
                <a:gd name="T5" fmla="*/ 9 h 482"/>
                <a:gd name="T6" fmla="*/ 0 w 461"/>
                <a:gd name="T7" fmla="*/ 35 h 482"/>
                <a:gd name="T8" fmla="*/ 81 w 461"/>
                <a:gd name="T9" fmla="*/ 35 h 482"/>
                <a:gd name="T10" fmla="*/ 121 w 461"/>
                <a:gd name="T11" fmla="*/ 128 h 482"/>
                <a:gd name="T12" fmla="*/ 121 w 461"/>
                <a:gd name="T13" fmla="*/ 311 h 482"/>
                <a:gd name="T14" fmla="*/ 121 w 461"/>
                <a:gd name="T15" fmla="*/ 312 h 482"/>
                <a:gd name="T16" fmla="*/ 291 w 461"/>
                <a:gd name="T17" fmla="*/ 482 h 482"/>
                <a:gd name="T18" fmla="*/ 461 w 461"/>
                <a:gd name="T19" fmla="*/ 312 h 482"/>
                <a:gd name="T20" fmla="*/ 461 w 461"/>
                <a:gd name="T21" fmla="*/ 312 h 482"/>
                <a:gd name="T22" fmla="*/ 461 w 461"/>
                <a:gd name="T23" fmla="*/ 128 h 482"/>
                <a:gd name="T24" fmla="*/ 332 w 461"/>
                <a:gd name="T25" fmla="*/ 0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 h="482">
                  <a:moveTo>
                    <a:pt x="332" y="0"/>
                  </a:moveTo>
                  <a:cubicBezTo>
                    <a:pt x="88" y="0"/>
                    <a:pt x="88" y="0"/>
                    <a:pt x="88" y="0"/>
                  </a:cubicBezTo>
                  <a:cubicBezTo>
                    <a:pt x="71" y="0"/>
                    <a:pt x="55" y="3"/>
                    <a:pt x="40" y="9"/>
                  </a:cubicBezTo>
                  <a:cubicBezTo>
                    <a:pt x="25" y="15"/>
                    <a:pt x="11" y="24"/>
                    <a:pt x="0" y="35"/>
                  </a:cubicBezTo>
                  <a:cubicBezTo>
                    <a:pt x="22" y="13"/>
                    <a:pt x="58" y="13"/>
                    <a:pt x="81" y="35"/>
                  </a:cubicBezTo>
                  <a:cubicBezTo>
                    <a:pt x="106" y="58"/>
                    <a:pt x="121" y="91"/>
                    <a:pt x="121" y="128"/>
                  </a:cubicBezTo>
                  <a:cubicBezTo>
                    <a:pt x="121" y="311"/>
                    <a:pt x="121" y="311"/>
                    <a:pt x="121" y="311"/>
                  </a:cubicBezTo>
                  <a:cubicBezTo>
                    <a:pt x="121" y="311"/>
                    <a:pt x="121" y="311"/>
                    <a:pt x="121" y="312"/>
                  </a:cubicBezTo>
                  <a:cubicBezTo>
                    <a:pt x="121" y="405"/>
                    <a:pt x="197" y="482"/>
                    <a:pt x="291" y="482"/>
                  </a:cubicBezTo>
                  <a:cubicBezTo>
                    <a:pt x="385" y="482"/>
                    <a:pt x="461" y="405"/>
                    <a:pt x="461" y="312"/>
                  </a:cubicBezTo>
                  <a:cubicBezTo>
                    <a:pt x="461" y="312"/>
                    <a:pt x="461" y="312"/>
                    <a:pt x="461" y="312"/>
                  </a:cubicBezTo>
                  <a:cubicBezTo>
                    <a:pt x="461" y="128"/>
                    <a:pt x="461" y="128"/>
                    <a:pt x="461" y="128"/>
                  </a:cubicBezTo>
                  <a:cubicBezTo>
                    <a:pt x="461" y="57"/>
                    <a:pt x="403" y="0"/>
                    <a:pt x="332"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ru-RU"/>
            </a:p>
          </p:txBody>
        </p:sp>
        <p:sp>
          <p:nvSpPr>
            <p:cNvPr id="68" name="Oval 8">
              <a:extLst>
                <a:ext uri="{FF2B5EF4-FFF2-40B4-BE49-F238E27FC236}">
                  <a16:creationId xmlns:a16="http://schemas.microsoft.com/office/drawing/2014/main" xmlns="" id="{4553789C-B742-4422-B16A-02EE1D46D518}"/>
                </a:ext>
              </a:extLst>
            </p:cNvPr>
            <p:cNvSpPr>
              <a:spLocks noChangeArrowheads="1"/>
            </p:cNvSpPr>
            <p:nvPr/>
          </p:nvSpPr>
          <p:spPr bwMode="auto">
            <a:xfrm>
              <a:off x="1215101" y="2051956"/>
              <a:ext cx="654496" cy="652574"/>
            </a:xfrm>
            <a:prstGeom prst="ellipse">
              <a:avLst/>
            </a:prstGeom>
            <a:solidFill>
              <a:schemeClr val="bg2"/>
            </a:solidFill>
            <a:ln>
              <a:noFill/>
            </a:ln>
          </p:spPr>
          <p:txBody>
            <a:bodyPr vert="horz" wrap="square" lIns="91440" tIns="45720" rIns="91440" bIns="45720" numCol="1" anchor="t" anchorCtr="0" compatLnSpc="1">
              <a:prstTxWarp prst="textNoShape">
                <a:avLst/>
              </a:prstTxWarp>
            </a:bodyPr>
            <a:lstStyle/>
            <a:p>
              <a:endParaRPr lang="ru-RU"/>
            </a:p>
          </p:txBody>
        </p:sp>
        <p:grpSp>
          <p:nvGrpSpPr>
            <p:cNvPr id="69" name="Shape 7784">
              <a:extLst>
                <a:ext uri="{FF2B5EF4-FFF2-40B4-BE49-F238E27FC236}">
                  <a16:creationId xmlns:a16="http://schemas.microsoft.com/office/drawing/2014/main" xmlns="" id="{A83C8329-B3F8-4627-AFF3-2B31560B6F78}"/>
                </a:ext>
              </a:extLst>
            </p:cNvPr>
            <p:cNvGrpSpPr/>
            <p:nvPr/>
          </p:nvGrpSpPr>
          <p:grpSpPr>
            <a:xfrm>
              <a:off x="1389773" y="2214880"/>
              <a:ext cx="330464" cy="352116"/>
              <a:chOff x="5538788" y="2417763"/>
              <a:chExt cx="557213" cy="593725"/>
            </a:xfrm>
            <a:solidFill>
              <a:schemeClr val="tx1"/>
            </a:solidFill>
          </p:grpSpPr>
          <p:sp>
            <p:nvSpPr>
              <p:cNvPr id="70" name="Shape 7785">
                <a:extLst>
                  <a:ext uri="{FF2B5EF4-FFF2-40B4-BE49-F238E27FC236}">
                    <a16:creationId xmlns:a16="http://schemas.microsoft.com/office/drawing/2014/main" xmlns="" id="{B8467F13-F754-4938-B0CD-CC286DFFEA9C}"/>
                  </a:ext>
                </a:extLst>
              </p:cNvPr>
              <p:cNvSpPr/>
              <p:nvPr/>
            </p:nvSpPr>
            <p:spPr>
              <a:xfrm>
                <a:off x="5538788" y="2727325"/>
                <a:ext cx="188913" cy="284162"/>
              </a:xfrm>
              <a:custGeom>
                <a:avLst/>
                <a:gdLst/>
                <a:ahLst/>
                <a:cxnLst/>
                <a:rect l="0" t="0" r="0" b="0"/>
                <a:pathLst>
                  <a:path w="160" h="242" extrusionOk="0">
                    <a:moveTo>
                      <a:pt x="0" y="233"/>
                    </a:moveTo>
                    <a:cubicBezTo>
                      <a:pt x="0" y="238"/>
                      <a:pt x="4" y="242"/>
                      <a:pt x="9" y="242"/>
                    </a:cubicBezTo>
                    <a:cubicBezTo>
                      <a:pt x="151" y="242"/>
                      <a:pt x="151" y="242"/>
                      <a:pt x="151" y="242"/>
                    </a:cubicBezTo>
                    <a:cubicBezTo>
                      <a:pt x="156" y="242"/>
                      <a:pt x="160" y="238"/>
                      <a:pt x="160" y="233"/>
                    </a:cubicBezTo>
                    <a:cubicBezTo>
                      <a:pt x="160" y="0"/>
                      <a:pt x="160" y="0"/>
                      <a:pt x="160" y="0"/>
                    </a:cubicBezTo>
                    <a:cubicBezTo>
                      <a:pt x="0" y="0"/>
                      <a:pt x="0" y="0"/>
                      <a:pt x="0" y="0"/>
                    </a:cubicBezTo>
                    <a:lnTo>
                      <a:pt x="0" y="233"/>
                    </a:lnTo>
                    <a:close/>
                    <a:moveTo>
                      <a:pt x="80" y="227"/>
                    </a:moveTo>
                    <a:cubicBezTo>
                      <a:pt x="71" y="227"/>
                      <a:pt x="63" y="220"/>
                      <a:pt x="63" y="210"/>
                    </a:cubicBezTo>
                    <a:cubicBezTo>
                      <a:pt x="63" y="200"/>
                      <a:pt x="71" y="192"/>
                      <a:pt x="80" y="192"/>
                    </a:cubicBezTo>
                    <a:cubicBezTo>
                      <a:pt x="90" y="192"/>
                      <a:pt x="98" y="200"/>
                      <a:pt x="98" y="210"/>
                    </a:cubicBezTo>
                    <a:cubicBezTo>
                      <a:pt x="98" y="220"/>
                      <a:pt x="90" y="227"/>
                      <a:pt x="80" y="227"/>
                    </a:cubicBezTo>
                    <a:close/>
                    <a:moveTo>
                      <a:pt x="73" y="175"/>
                    </a:moveTo>
                    <a:cubicBezTo>
                      <a:pt x="73" y="171"/>
                      <a:pt x="76" y="167"/>
                      <a:pt x="80" y="167"/>
                    </a:cubicBezTo>
                    <a:cubicBezTo>
                      <a:pt x="85" y="167"/>
                      <a:pt x="88" y="171"/>
                      <a:pt x="88" y="175"/>
                    </a:cubicBezTo>
                    <a:cubicBezTo>
                      <a:pt x="88" y="179"/>
                      <a:pt x="85" y="183"/>
                      <a:pt x="80" y="183"/>
                    </a:cubicBezTo>
                    <a:cubicBezTo>
                      <a:pt x="76" y="183"/>
                      <a:pt x="73" y="179"/>
                      <a:pt x="73" y="175"/>
                    </a:cubicBezTo>
                    <a:close/>
                    <a:moveTo>
                      <a:pt x="29" y="12"/>
                    </a:moveTo>
                    <a:cubicBezTo>
                      <a:pt x="131" y="12"/>
                      <a:pt x="131" y="12"/>
                      <a:pt x="131" y="12"/>
                    </a:cubicBezTo>
                    <a:cubicBezTo>
                      <a:pt x="131" y="33"/>
                      <a:pt x="131" y="33"/>
                      <a:pt x="131" y="33"/>
                    </a:cubicBezTo>
                    <a:cubicBezTo>
                      <a:pt x="29" y="33"/>
                      <a:pt x="29" y="33"/>
                      <a:pt x="29" y="33"/>
                    </a:cubicBezTo>
                    <a:lnTo>
                      <a:pt x="29" y="12"/>
                    </a:lnTo>
                    <a:close/>
                    <a:moveTo>
                      <a:pt x="29" y="43"/>
                    </a:moveTo>
                    <a:cubicBezTo>
                      <a:pt x="131" y="43"/>
                      <a:pt x="131" y="43"/>
                      <a:pt x="131" y="43"/>
                    </a:cubicBezTo>
                    <a:cubicBezTo>
                      <a:pt x="131" y="64"/>
                      <a:pt x="131" y="64"/>
                      <a:pt x="131" y="64"/>
                    </a:cubicBezTo>
                    <a:cubicBezTo>
                      <a:pt x="29" y="64"/>
                      <a:pt x="29" y="64"/>
                      <a:pt x="29" y="64"/>
                    </a:cubicBezTo>
                    <a:lnTo>
                      <a:pt x="29" y="43"/>
                    </a:lnTo>
                    <a:close/>
                    <a:moveTo>
                      <a:pt x="29" y="73"/>
                    </a:moveTo>
                    <a:cubicBezTo>
                      <a:pt x="131" y="73"/>
                      <a:pt x="131" y="73"/>
                      <a:pt x="131" y="73"/>
                    </a:cubicBezTo>
                    <a:cubicBezTo>
                      <a:pt x="131" y="94"/>
                      <a:pt x="131" y="94"/>
                      <a:pt x="131" y="94"/>
                    </a:cubicBezTo>
                    <a:cubicBezTo>
                      <a:pt x="29" y="94"/>
                      <a:pt x="29" y="94"/>
                      <a:pt x="29" y="94"/>
                    </a:cubicBezTo>
                    <a:lnTo>
                      <a:pt x="29" y="73"/>
                    </a:lnTo>
                    <a:close/>
                    <a:moveTo>
                      <a:pt x="29" y="104"/>
                    </a:moveTo>
                    <a:cubicBezTo>
                      <a:pt x="131" y="104"/>
                      <a:pt x="131" y="104"/>
                      <a:pt x="131" y="104"/>
                    </a:cubicBezTo>
                    <a:cubicBezTo>
                      <a:pt x="131" y="125"/>
                      <a:pt x="131" y="125"/>
                      <a:pt x="131" y="125"/>
                    </a:cubicBezTo>
                    <a:cubicBezTo>
                      <a:pt x="29" y="125"/>
                      <a:pt x="29" y="125"/>
                      <a:pt x="29" y="125"/>
                    </a:cubicBezTo>
                    <a:lnTo>
                      <a:pt x="29" y="104"/>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71" name="Shape 7786">
                <a:extLst>
                  <a:ext uri="{FF2B5EF4-FFF2-40B4-BE49-F238E27FC236}">
                    <a16:creationId xmlns:a16="http://schemas.microsoft.com/office/drawing/2014/main" xmlns="" id="{43C1EED4-1256-44D1-9FFF-6FC3164884E1}"/>
                  </a:ext>
                </a:extLst>
              </p:cNvPr>
              <p:cNvSpPr/>
              <p:nvPr/>
            </p:nvSpPr>
            <p:spPr>
              <a:xfrm>
                <a:off x="5538788" y="2651125"/>
                <a:ext cx="188913" cy="63500"/>
              </a:xfrm>
              <a:custGeom>
                <a:avLst/>
                <a:gdLst/>
                <a:ahLst/>
                <a:cxnLst/>
                <a:rect l="0" t="0" r="0" b="0"/>
                <a:pathLst>
                  <a:path w="160" h="55" extrusionOk="0">
                    <a:moveTo>
                      <a:pt x="151" y="0"/>
                    </a:moveTo>
                    <a:cubicBezTo>
                      <a:pt x="9" y="0"/>
                      <a:pt x="9" y="0"/>
                      <a:pt x="9" y="0"/>
                    </a:cubicBezTo>
                    <a:cubicBezTo>
                      <a:pt x="4" y="0"/>
                      <a:pt x="0" y="4"/>
                      <a:pt x="0" y="9"/>
                    </a:cubicBezTo>
                    <a:cubicBezTo>
                      <a:pt x="0" y="55"/>
                      <a:pt x="0" y="55"/>
                      <a:pt x="0" y="55"/>
                    </a:cubicBezTo>
                    <a:cubicBezTo>
                      <a:pt x="160" y="55"/>
                      <a:pt x="160" y="55"/>
                      <a:pt x="160" y="55"/>
                    </a:cubicBezTo>
                    <a:cubicBezTo>
                      <a:pt x="160" y="9"/>
                      <a:pt x="160" y="9"/>
                      <a:pt x="160" y="9"/>
                    </a:cubicBezTo>
                    <a:cubicBezTo>
                      <a:pt x="160" y="4"/>
                      <a:pt x="156" y="0"/>
                      <a:pt x="151" y="0"/>
                    </a:cubicBezTo>
                    <a:close/>
                    <a:moveTo>
                      <a:pt x="43" y="43"/>
                    </a:moveTo>
                    <a:cubicBezTo>
                      <a:pt x="36" y="43"/>
                      <a:pt x="30" y="37"/>
                      <a:pt x="30" y="30"/>
                    </a:cubicBezTo>
                    <a:cubicBezTo>
                      <a:pt x="30" y="22"/>
                      <a:pt x="36" y="16"/>
                      <a:pt x="43" y="16"/>
                    </a:cubicBezTo>
                    <a:cubicBezTo>
                      <a:pt x="51" y="16"/>
                      <a:pt x="57" y="22"/>
                      <a:pt x="57" y="30"/>
                    </a:cubicBezTo>
                    <a:cubicBezTo>
                      <a:pt x="57" y="37"/>
                      <a:pt x="51" y="43"/>
                      <a:pt x="43" y="43"/>
                    </a:cubicBezTo>
                    <a:close/>
                    <a:moveTo>
                      <a:pt x="131" y="38"/>
                    </a:moveTo>
                    <a:cubicBezTo>
                      <a:pt x="68" y="38"/>
                      <a:pt x="68" y="38"/>
                      <a:pt x="68" y="38"/>
                    </a:cubicBezTo>
                    <a:cubicBezTo>
                      <a:pt x="68" y="22"/>
                      <a:pt x="68" y="22"/>
                      <a:pt x="68" y="22"/>
                    </a:cubicBezTo>
                    <a:cubicBezTo>
                      <a:pt x="131" y="22"/>
                      <a:pt x="131" y="22"/>
                      <a:pt x="131" y="22"/>
                    </a:cubicBezTo>
                    <a:lnTo>
                      <a:pt x="131" y="38"/>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72" name="Shape 7787">
                <a:extLst>
                  <a:ext uri="{FF2B5EF4-FFF2-40B4-BE49-F238E27FC236}">
                    <a16:creationId xmlns:a16="http://schemas.microsoft.com/office/drawing/2014/main" xmlns="" id="{74367297-DC09-49B1-B183-CD25D5196A3D}"/>
                  </a:ext>
                </a:extLst>
              </p:cNvPr>
              <p:cNvSpPr/>
              <p:nvPr/>
            </p:nvSpPr>
            <p:spPr>
              <a:xfrm>
                <a:off x="6013450" y="2990850"/>
                <a:ext cx="28575" cy="20637"/>
              </a:xfrm>
              <a:custGeom>
                <a:avLst/>
                <a:gdLst/>
                <a:ahLst/>
                <a:cxnLst/>
                <a:rect l="0" t="0" r="0" b="0"/>
                <a:pathLst>
                  <a:path w="24" h="18" extrusionOk="0">
                    <a:moveTo>
                      <a:pt x="1" y="4"/>
                    </a:moveTo>
                    <a:cubicBezTo>
                      <a:pt x="0" y="4"/>
                      <a:pt x="0" y="4"/>
                      <a:pt x="0" y="4"/>
                    </a:cubicBezTo>
                    <a:cubicBezTo>
                      <a:pt x="0" y="18"/>
                      <a:pt x="0" y="18"/>
                      <a:pt x="0" y="18"/>
                    </a:cubicBezTo>
                    <a:cubicBezTo>
                      <a:pt x="1" y="18"/>
                      <a:pt x="1" y="18"/>
                      <a:pt x="1" y="18"/>
                    </a:cubicBezTo>
                    <a:cubicBezTo>
                      <a:pt x="9" y="18"/>
                      <a:pt x="17" y="16"/>
                      <a:pt x="24" y="12"/>
                    </a:cubicBezTo>
                    <a:cubicBezTo>
                      <a:pt x="17" y="0"/>
                      <a:pt x="17" y="0"/>
                      <a:pt x="17" y="0"/>
                    </a:cubicBezTo>
                    <a:cubicBezTo>
                      <a:pt x="12" y="3"/>
                      <a:pt x="6" y="4"/>
                      <a:pt x="1" y="4"/>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73" name="Shape 7788">
                <a:extLst>
                  <a:ext uri="{FF2B5EF4-FFF2-40B4-BE49-F238E27FC236}">
                    <a16:creationId xmlns:a16="http://schemas.microsoft.com/office/drawing/2014/main" xmlns="" id="{E5D1840A-9F75-4107-A01C-3954AC002B84}"/>
                  </a:ext>
                </a:extLst>
              </p:cNvPr>
              <p:cNvSpPr/>
              <p:nvPr/>
            </p:nvSpPr>
            <p:spPr>
              <a:xfrm>
                <a:off x="5964238" y="299561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74" name="Shape 7789">
                <a:extLst>
                  <a:ext uri="{FF2B5EF4-FFF2-40B4-BE49-F238E27FC236}">
                    <a16:creationId xmlns:a16="http://schemas.microsoft.com/office/drawing/2014/main" xmlns="" id="{E2FD6BFB-6A19-4A90-81C4-56649F44B1C4}"/>
                  </a:ext>
                </a:extLst>
              </p:cNvPr>
              <p:cNvSpPr/>
              <p:nvPr/>
            </p:nvSpPr>
            <p:spPr>
              <a:xfrm>
                <a:off x="5913438" y="2995613"/>
                <a:ext cx="23813"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75" name="Shape 7790">
                <a:extLst>
                  <a:ext uri="{FF2B5EF4-FFF2-40B4-BE49-F238E27FC236}">
                    <a16:creationId xmlns:a16="http://schemas.microsoft.com/office/drawing/2014/main" xmlns="" id="{D0144CBE-385C-4735-94C5-531B30CC324F}"/>
                  </a:ext>
                </a:extLst>
              </p:cNvPr>
              <p:cNvSpPr/>
              <p:nvPr/>
            </p:nvSpPr>
            <p:spPr>
              <a:xfrm>
                <a:off x="5862638" y="299561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76" name="Shape 7791">
                <a:extLst>
                  <a:ext uri="{FF2B5EF4-FFF2-40B4-BE49-F238E27FC236}">
                    <a16:creationId xmlns:a16="http://schemas.microsoft.com/office/drawing/2014/main" xmlns="" id="{19E33BC3-CB89-4691-AB4F-716AEDA4202C}"/>
                  </a:ext>
                </a:extLst>
              </p:cNvPr>
              <p:cNvSpPr/>
              <p:nvPr/>
            </p:nvSpPr>
            <p:spPr>
              <a:xfrm>
                <a:off x="5807075" y="2995613"/>
                <a:ext cx="23813"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77" name="Shape 7792">
                <a:extLst>
                  <a:ext uri="{FF2B5EF4-FFF2-40B4-BE49-F238E27FC236}">
                    <a16:creationId xmlns:a16="http://schemas.microsoft.com/office/drawing/2014/main" xmlns="" id="{163F030B-57F7-48AD-9F0F-281F87252800}"/>
                  </a:ext>
                </a:extLst>
              </p:cNvPr>
              <p:cNvSpPr/>
              <p:nvPr/>
            </p:nvSpPr>
            <p:spPr>
              <a:xfrm>
                <a:off x="5753100" y="299561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78" name="Shape 7793">
                <a:extLst>
                  <a:ext uri="{FF2B5EF4-FFF2-40B4-BE49-F238E27FC236}">
                    <a16:creationId xmlns:a16="http://schemas.microsoft.com/office/drawing/2014/main" xmlns="" id="{1BFBD7D1-0096-4D0E-9F0C-1048DFAA748E}"/>
                  </a:ext>
                </a:extLst>
              </p:cNvPr>
              <p:cNvSpPr/>
              <p:nvPr/>
            </p:nvSpPr>
            <p:spPr>
              <a:xfrm>
                <a:off x="6048375" y="2955925"/>
                <a:ext cx="22225" cy="28575"/>
              </a:xfrm>
              <a:custGeom>
                <a:avLst/>
                <a:gdLst/>
                <a:ahLst/>
                <a:cxnLst/>
                <a:rect l="0" t="0" r="0" b="0"/>
                <a:pathLst>
                  <a:path w="19" h="24" extrusionOk="0">
                    <a:moveTo>
                      <a:pt x="0" y="17"/>
                    </a:moveTo>
                    <a:cubicBezTo>
                      <a:pt x="12" y="24"/>
                      <a:pt x="12" y="24"/>
                      <a:pt x="12" y="24"/>
                    </a:cubicBezTo>
                    <a:cubicBezTo>
                      <a:pt x="17" y="17"/>
                      <a:pt x="19" y="9"/>
                      <a:pt x="19" y="0"/>
                    </a:cubicBezTo>
                    <a:cubicBezTo>
                      <a:pt x="6" y="0"/>
                      <a:pt x="6" y="0"/>
                      <a:pt x="6" y="0"/>
                    </a:cubicBezTo>
                    <a:cubicBezTo>
                      <a:pt x="5" y="6"/>
                      <a:pt x="3" y="12"/>
                      <a:pt x="0" y="17"/>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79" name="Shape 7794">
                <a:extLst>
                  <a:ext uri="{FF2B5EF4-FFF2-40B4-BE49-F238E27FC236}">
                    <a16:creationId xmlns:a16="http://schemas.microsoft.com/office/drawing/2014/main" xmlns="" id="{3982DA7A-DFC2-433F-AA7A-12EF4C80C3CC}"/>
                  </a:ext>
                </a:extLst>
              </p:cNvPr>
              <p:cNvSpPr/>
              <p:nvPr/>
            </p:nvSpPr>
            <p:spPr>
              <a:xfrm>
                <a:off x="6056313" y="2906713"/>
                <a:ext cx="15875" cy="23812"/>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80" name="Shape 7795">
                <a:extLst>
                  <a:ext uri="{FF2B5EF4-FFF2-40B4-BE49-F238E27FC236}">
                    <a16:creationId xmlns:a16="http://schemas.microsoft.com/office/drawing/2014/main" xmlns="" id="{930A73D0-8F39-417B-BC1D-1BAD811AA919}"/>
                  </a:ext>
                </a:extLst>
              </p:cNvPr>
              <p:cNvSpPr/>
              <p:nvPr/>
            </p:nvSpPr>
            <p:spPr>
              <a:xfrm>
                <a:off x="6030913" y="2820988"/>
                <a:ext cx="65088" cy="57150"/>
              </a:xfrm>
              <a:custGeom>
                <a:avLst/>
                <a:gdLst/>
                <a:ahLst/>
                <a:cxnLst/>
                <a:rect l="0" t="0" r="0" b="0"/>
                <a:pathLst>
                  <a:path w="41" h="36" extrusionOk="0">
                    <a:moveTo>
                      <a:pt x="0" y="36"/>
                    </a:moveTo>
                    <a:lnTo>
                      <a:pt x="41" y="36"/>
                    </a:lnTo>
                    <a:lnTo>
                      <a:pt x="21" y="0"/>
                    </a:lnTo>
                    <a:lnTo>
                      <a:pt x="0" y="36"/>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81" name="Shape 7796">
                <a:extLst>
                  <a:ext uri="{FF2B5EF4-FFF2-40B4-BE49-F238E27FC236}">
                    <a16:creationId xmlns:a16="http://schemas.microsoft.com/office/drawing/2014/main" xmlns="" id="{7383D49F-BBC1-4784-AA89-18C823290E54}"/>
                  </a:ext>
                </a:extLst>
              </p:cNvPr>
              <p:cNvSpPr/>
              <p:nvPr/>
            </p:nvSpPr>
            <p:spPr>
              <a:xfrm>
                <a:off x="5908675" y="2495550"/>
                <a:ext cx="187325" cy="282575"/>
              </a:xfrm>
              <a:custGeom>
                <a:avLst/>
                <a:gdLst/>
                <a:ahLst/>
                <a:cxnLst/>
                <a:rect l="0" t="0" r="0" b="0"/>
                <a:pathLst>
                  <a:path w="160" h="242" extrusionOk="0">
                    <a:moveTo>
                      <a:pt x="0" y="233"/>
                    </a:moveTo>
                    <a:cubicBezTo>
                      <a:pt x="0" y="238"/>
                      <a:pt x="4" y="242"/>
                      <a:pt x="9" y="242"/>
                    </a:cubicBezTo>
                    <a:cubicBezTo>
                      <a:pt x="151" y="242"/>
                      <a:pt x="151" y="242"/>
                      <a:pt x="151" y="242"/>
                    </a:cubicBezTo>
                    <a:cubicBezTo>
                      <a:pt x="156" y="242"/>
                      <a:pt x="160" y="238"/>
                      <a:pt x="160" y="233"/>
                    </a:cubicBezTo>
                    <a:cubicBezTo>
                      <a:pt x="160" y="0"/>
                      <a:pt x="160" y="0"/>
                      <a:pt x="160" y="0"/>
                    </a:cubicBezTo>
                    <a:cubicBezTo>
                      <a:pt x="0" y="0"/>
                      <a:pt x="0" y="0"/>
                      <a:pt x="0" y="0"/>
                    </a:cubicBezTo>
                    <a:lnTo>
                      <a:pt x="0" y="233"/>
                    </a:lnTo>
                    <a:close/>
                    <a:moveTo>
                      <a:pt x="80" y="227"/>
                    </a:moveTo>
                    <a:cubicBezTo>
                      <a:pt x="71" y="227"/>
                      <a:pt x="63" y="220"/>
                      <a:pt x="63" y="210"/>
                    </a:cubicBezTo>
                    <a:cubicBezTo>
                      <a:pt x="63" y="200"/>
                      <a:pt x="71" y="192"/>
                      <a:pt x="80" y="192"/>
                    </a:cubicBezTo>
                    <a:cubicBezTo>
                      <a:pt x="90" y="192"/>
                      <a:pt x="98" y="200"/>
                      <a:pt x="98" y="210"/>
                    </a:cubicBezTo>
                    <a:cubicBezTo>
                      <a:pt x="98" y="220"/>
                      <a:pt x="90" y="227"/>
                      <a:pt x="80" y="227"/>
                    </a:cubicBezTo>
                    <a:close/>
                    <a:moveTo>
                      <a:pt x="72" y="175"/>
                    </a:moveTo>
                    <a:cubicBezTo>
                      <a:pt x="72" y="171"/>
                      <a:pt x="76" y="167"/>
                      <a:pt x="80" y="167"/>
                    </a:cubicBezTo>
                    <a:cubicBezTo>
                      <a:pt x="85" y="167"/>
                      <a:pt x="88" y="171"/>
                      <a:pt x="88" y="175"/>
                    </a:cubicBezTo>
                    <a:cubicBezTo>
                      <a:pt x="88" y="179"/>
                      <a:pt x="85" y="183"/>
                      <a:pt x="80" y="183"/>
                    </a:cubicBezTo>
                    <a:cubicBezTo>
                      <a:pt x="76" y="183"/>
                      <a:pt x="72" y="179"/>
                      <a:pt x="72" y="175"/>
                    </a:cubicBezTo>
                    <a:close/>
                    <a:moveTo>
                      <a:pt x="29" y="12"/>
                    </a:moveTo>
                    <a:cubicBezTo>
                      <a:pt x="131" y="12"/>
                      <a:pt x="131" y="12"/>
                      <a:pt x="131" y="12"/>
                    </a:cubicBezTo>
                    <a:cubicBezTo>
                      <a:pt x="131" y="33"/>
                      <a:pt x="131" y="33"/>
                      <a:pt x="131" y="33"/>
                    </a:cubicBezTo>
                    <a:cubicBezTo>
                      <a:pt x="29" y="33"/>
                      <a:pt x="29" y="33"/>
                      <a:pt x="29" y="33"/>
                    </a:cubicBezTo>
                    <a:lnTo>
                      <a:pt x="29" y="12"/>
                    </a:lnTo>
                    <a:close/>
                    <a:moveTo>
                      <a:pt x="29" y="43"/>
                    </a:moveTo>
                    <a:cubicBezTo>
                      <a:pt x="131" y="43"/>
                      <a:pt x="131" y="43"/>
                      <a:pt x="131" y="43"/>
                    </a:cubicBezTo>
                    <a:cubicBezTo>
                      <a:pt x="131" y="64"/>
                      <a:pt x="131" y="64"/>
                      <a:pt x="131" y="64"/>
                    </a:cubicBezTo>
                    <a:cubicBezTo>
                      <a:pt x="29" y="64"/>
                      <a:pt x="29" y="64"/>
                      <a:pt x="29" y="64"/>
                    </a:cubicBezTo>
                    <a:lnTo>
                      <a:pt x="29" y="43"/>
                    </a:lnTo>
                    <a:close/>
                    <a:moveTo>
                      <a:pt x="29" y="73"/>
                    </a:moveTo>
                    <a:cubicBezTo>
                      <a:pt x="131" y="73"/>
                      <a:pt x="131" y="73"/>
                      <a:pt x="131" y="73"/>
                    </a:cubicBezTo>
                    <a:cubicBezTo>
                      <a:pt x="131" y="94"/>
                      <a:pt x="131" y="94"/>
                      <a:pt x="131" y="94"/>
                    </a:cubicBezTo>
                    <a:cubicBezTo>
                      <a:pt x="29" y="94"/>
                      <a:pt x="29" y="94"/>
                      <a:pt x="29" y="94"/>
                    </a:cubicBezTo>
                    <a:lnTo>
                      <a:pt x="29" y="73"/>
                    </a:lnTo>
                    <a:close/>
                    <a:moveTo>
                      <a:pt x="29" y="104"/>
                    </a:moveTo>
                    <a:cubicBezTo>
                      <a:pt x="131" y="104"/>
                      <a:pt x="131" y="104"/>
                      <a:pt x="131" y="104"/>
                    </a:cubicBezTo>
                    <a:cubicBezTo>
                      <a:pt x="131" y="125"/>
                      <a:pt x="131" y="125"/>
                      <a:pt x="131" y="125"/>
                    </a:cubicBezTo>
                    <a:cubicBezTo>
                      <a:pt x="29" y="125"/>
                      <a:pt x="29" y="125"/>
                      <a:pt x="29" y="125"/>
                    </a:cubicBezTo>
                    <a:lnTo>
                      <a:pt x="29" y="104"/>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82" name="Shape 7797">
                <a:extLst>
                  <a:ext uri="{FF2B5EF4-FFF2-40B4-BE49-F238E27FC236}">
                    <a16:creationId xmlns:a16="http://schemas.microsoft.com/office/drawing/2014/main" xmlns="" id="{1AE46AD4-E08F-4458-9E3C-759E506415D6}"/>
                  </a:ext>
                </a:extLst>
              </p:cNvPr>
              <p:cNvSpPr/>
              <p:nvPr/>
            </p:nvSpPr>
            <p:spPr>
              <a:xfrm>
                <a:off x="5908675" y="2417763"/>
                <a:ext cx="187325" cy="65087"/>
              </a:xfrm>
              <a:custGeom>
                <a:avLst/>
                <a:gdLst/>
                <a:ahLst/>
                <a:cxnLst/>
                <a:rect l="0" t="0" r="0" b="0"/>
                <a:pathLst>
                  <a:path w="160" h="55" extrusionOk="0">
                    <a:moveTo>
                      <a:pt x="151" y="0"/>
                    </a:moveTo>
                    <a:cubicBezTo>
                      <a:pt x="9" y="0"/>
                      <a:pt x="9" y="0"/>
                      <a:pt x="9" y="0"/>
                    </a:cubicBezTo>
                    <a:cubicBezTo>
                      <a:pt x="4" y="0"/>
                      <a:pt x="0" y="4"/>
                      <a:pt x="0" y="9"/>
                    </a:cubicBezTo>
                    <a:cubicBezTo>
                      <a:pt x="0" y="55"/>
                      <a:pt x="0" y="55"/>
                      <a:pt x="0" y="55"/>
                    </a:cubicBezTo>
                    <a:cubicBezTo>
                      <a:pt x="160" y="55"/>
                      <a:pt x="160" y="55"/>
                      <a:pt x="160" y="55"/>
                    </a:cubicBezTo>
                    <a:cubicBezTo>
                      <a:pt x="160" y="9"/>
                      <a:pt x="160" y="9"/>
                      <a:pt x="160" y="9"/>
                    </a:cubicBezTo>
                    <a:cubicBezTo>
                      <a:pt x="160" y="4"/>
                      <a:pt x="156" y="0"/>
                      <a:pt x="151" y="0"/>
                    </a:cubicBezTo>
                    <a:close/>
                    <a:moveTo>
                      <a:pt x="93" y="38"/>
                    </a:moveTo>
                    <a:cubicBezTo>
                      <a:pt x="29" y="38"/>
                      <a:pt x="29" y="38"/>
                      <a:pt x="29" y="38"/>
                    </a:cubicBezTo>
                    <a:cubicBezTo>
                      <a:pt x="29" y="22"/>
                      <a:pt x="29" y="22"/>
                      <a:pt x="29" y="22"/>
                    </a:cubicBezTo>
                    <a:cubicBezTo>
                      <a:pt x="93" y="22"/>
                      <a:pt x="93" y="22"/>
                      <a:pt x="93" y="22"/>
                    </a:cubicBezTo>
                    <a:lnTo>
                      <a:pt x="93" y="38"/>
                    </a:lnTo>
                    <a:close/>
                    <a:moveTo>
                      <a:pt x="117" y="43"/>
                    </a:moveTo>
                    <a:cubicBezTo>
                      <a:pt x="110" y="43"/>
                      <a:pt x="104" y="37"/>
                      <a:pt x="104" y="30"/>
                    </a:cubicBezTo>
                    <a:cubicBezTo>
                      <a:pt x="104" y="22"/>
                      <a:pt x="110" y="16"/>
                      <a:pt x="117" y="16"/>
                    </a:cubicBezTo>
                    <a:cubicBezTo>
                      <a:pt x="125" y="16"/>
                      <a:pt x="131" y="22"/>
                      <a:pt x="131" y="30"/>
                    </a:cubicBezTo>
                    <a:cubicBezTo>
                      <a:pt x="131" y="37"/>
                      <a:pt x="125" y="43"/>
                      <a:pt x="117" y="43"/>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83" name="Shape 7798">
                <a:extLst>
                  <a:ext uri="{FF2B5EF4-FFF2-40B4-BE49-F238E27FC236}">
                    <a16:creationId xmlns:a16="http://schemas.microsoft.com/office/drawing/2014/main" xmlns="" id="{1D73D8E3-ABB3-4DCD-926B-4887638BD266}"/>
                  </a:ext>
                </a:extLst>
              </p:cNvPr>
              <p:cNvSpPr/>
              <p:nvPr/>
            </p:nvSpPr>
            <p:spPr>
              <a:xfrm>
                <a:off x="5592763" y="2417763"/>
                <a:ext cx="30163" cy="20637"/>
              </a:xfrm>
              <a:custGeom>
                <a:avLst/>
                <a:gdLst/>
                <a:ahLst/>
                <a:cxnLst/>
                <a:rect l="0" t="0" r="0" b="0"/>
                <a:pathLst>
                  <a:path w="25" h="18" extrusionOk="0">
                    <a:moveTo>
                      <a:pt x="24" y="14"/>
                    </a:moveTo>
                    <a:cubicBezTo>
                      <a:pt x="25" y="14"/>
                      <a:pt x="25" y="14"/>
                      <a:pt x="25" y="14"/>
                    </a:cubicBezTo>
                    <a:cubicBezTo>
                      <a:pt x="25" y="0"/>
                      <a:pt x="25" y="0"/>
                      <a:pt x="25" y="0"/>
                    </a:cubicBezTo>
                    <a:cubicBezTo>
                      <a:pt x="24" y="0"/>
                      <a:pt x="24" y="0"/>
                      <a:pt x="24" y="0"/>
                    </a:cubicBezTo>
                    <a:cubicBezTo>
                      <a:pt x="16" y="0"/>
                      <a:pt x="8" y="2"/>
                      <a:pt x="0" y="6"/>
                    </a:cubicBezTo>
                    <a:cubicBezTo>
                      <a:pt x="7" y="18"/>
                      <a:pt x="7" y="18"/>
                      <a:pt x="7" y="18"/>
                    </a:cubicBezTo>
                    <a:cubicBezTo>
                      <a:pt x="12" y="15"/>
                      <a:pt x="18" y="14"/>
                      <a:pt x="24" y="14"/>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84" name="Shape 7799">
                <a:extLst>
                  <a:ext uri="{FF2B5EF4-FFF2-40B4-BE49-F238E27FC236}">
                    <a16:creationId xmlns:a16="http://schemas.microsoft.com/office/drawing/2014/main" xmlns="" id="{BDE4BECC-496A-4858-9609-9C4F77D6A085}"/>
                  </a:ext>
                </a:extLst>
              </p:cNvPr>
              <p:cNvSpPr/>
              <p:nvPr/>
            </p:nvSpPr>
            <p:spPr>
              <a:xfrm>
                <a:off x="5646738" y="2417763"/>
                <a:ext cx="26988"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85" name="Shape 7800">
                <a:extLst>
                  <a:ext uri="{FF2B5EF4-FFF2-40B4-BE49-F238E27FC236}">
                    <a16:creationId xmlns:a16="http://schemas.microsoft.com/office/drawing/2014/main" xmlns="" id="{4849F315-7BDE-4A56-95B2-0F2CBEA41221}"/>
                  </a:ext>
                </a:extLst>
              </p:cNvPr>
              <p:cNvSpPr/>
              <p:nvPr/>
            </p:nvSpPr>
            <p:spPr>
              <a:xfrm>
                <a:off x="5697538" y="241776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86" name="Shape 7801">
                <a:extLst>
                  <a:ext uri="{FF2B5EF4-FFF2-40B4-BE49-F238E27FC236}">
                    <a16:creationId xmlns:a16="http://schemas.microsoft.com/office/drawing/2014/main" xmlns="" id="{DCB8C63A-E868-418D-8BF9-996ACCE58E56}"/>
                  </a:ext>
                </a:extLst>
              </p:cNvPr>
              <p:cNvSpPr/>
              <p:nvPr/>
            </p:nvSpPr>
            <p:spPr>
              <a:xfrm>
                <a:off x="5748338" y="241776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87" name="Shape 7802">
                <a:extLst>
                  <a:ext uri="{FF2B5EF4-FFF2-40B4-BE49-F238E27FC236}">
                    <a16:creationId xmlns:a16="http://schemas.microsoft.com/office/drawing/2014/main" xmlns="" id="{7E302B4F-27CD-47E9-B9B4-671A9CDD0763}"/>
                  </a:ext>
                </a:extLst>
              </p:cNvPr>
              <p:cNvSpPr/>
              <p:nvPr/>
            </p:nvSpPr>
            <p:spPr>
              <a:xfrm>
                <a:off x="5799138" y="241776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88" name="Shape 7803">
                <a:extLst>
                  <a:ext uri="{FF2B5EF4-FFF2-40B4-BE49-F238E27FC236}">
                    <a16:creationId xmlns:a16="http://schemas.microsoft.com/office/drawing/2014/main" xmlns="" id="{50A5E583-30F9-47CA-B0B3-1623084D3B40}"/>
                  </a:ext>
                </a:extLst>
              </p:cNvPr>
              <p:cNvSpPr/>
              <p:nvPr/>
            </p:nvSpPr>
            <p:spPr>
              <a:xfrm>
                <a:off x="5857875" y="241776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89" name="Shape 7804">
                <a:extLst>
                  <a:ext uri="{FF2B5EF4-FFF2-40B4-BE49-F238E27FC236}">
                    <a16:creationId xmlns:a16="http://schemas.microsoft.com/office/drawing/2014/main" xmlns="" id="{BAC8F7FC-A380-46B3-859D-3A8458F4251D}"/>
                  </a:ext>
                </a:extLst>
              </p:cNvPr>
              <p:cNvSpPr/>
              <p:nvPr/>
            </p:nvSpPr>
            <p:spPr>
              <a:xfrm>
                <a:off x="5564188" y="2444750"/>
                <a:ext cx="22225" cy="28575"/>
              </a:xfrm>
              <a:custGeom>
                <a:avLst/>
                <a:gdLst/>
                <a:ahLst/>
                <a:cxnLst/>
                <a:rect l="0" t="0" r="0" b="0"/>
                <a:pathLst>
                  <a:path w="19" h="24" extrusionOk="0">
                    <a:moveTo>
                      <a:pt x="19" y="7"/>
                    </a:moveTo>
                    <a:cubicBezTo>
                      <a:pt x="7" y="0"/>
                      <a:pt x="7" y="0"/>
                      <a:pt x="7" y="0"/>
                    </a:cubicBezTo>
                    <a:cubicBezTo>
                      <a:pt x="3" y="7"/>
                      <a:pt x="0" y="15"/>
                      <a:pt x="0" y="23"/>
                    </a:cubicBezTo>
                    <a:cubicBezTo>
                      <a:pt x="14" y="24"/>
                      <a:pt x="14" y="24"/>
                      <a:pt x="14" y="24"/>
                    </a:cubicBezTo>
                    <a:cubicBezTo>
                      <a:pt x="14" y="18"/>
                      <a:pt x="16" y="12"/>
                      <a:pt x="19" y="7"/>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90" name="Shape 7805">
                <a:extLst>
                  <a:ext uri="{FF2B5EF4-FFF2-40B4-BE49-F238E27FC236}">
                    <a16:creationId xmlns:a16="http://schemas.microsoft.com/office/drawing/2014/main" xmlns="" id="{DA9938B4-245E-422B-8E2B-39742E5308D0}"/>
                  </a:ext>
                </a:extLst>
              </p:cNvPr>
              <p:cNvSpPr/>
              <p:nvPr/>
            </p:nvSpPr>
            <p:spPr>
              <a:xfrm>
                <a:off x="5564188" y="2497138"/>
                <a:ext cx="15875" cy="25400"/>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91" name="Shape 7806">
                <a:extLst>
                  <a:ext uri="{FF2B5EF4-FFF2-40B4-BE49-F238E27FC236}">
                    <a16:creationId xmlns:a16="http://schemas.microsoft.com/office/drawing/2014/main" xmlns="" id="{11CE533C-A00D-4A8F-889E-E9E889AC36EE}"/>
                  </a:ext>
                </a:extLst>
              </p:cNvPr>
              <p:cNvSpPr/>
              <p:nvPr/>
            </p:nvSpPr>
            <p:spPr>
              <a:xfrm>
                <a:off x="5538788" y="2551113"/>
                <a:ext cx="66675" cy="55562"/>
              </a:xfrm>
              <a:custGeom>
                <a:avLst/>
                <a:gdLst/>
                <a:ahLst/>
                <a:cxnLst/>
                <a:rect l="0" t="0" r="0" b="0"/>
                <a:pathLst>
                  <a:path w="42" h="35" extrusionOk="0">
                    <a:moveTo>
                      <a:pt x="42" y="0"/>
                    </a:moveTo>
                    <a:lnTo>
                      <a:pt x="0" y="0"/>
                    </a:lnTo>
                    <a:lnTo>
                      <a:pt x="21" y="35"/>
                    </a:lnTo>
                    <a:lnTo>
                      <a:pt x="42" y="0"/>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grpSp>
      </p:grpSp>
    </p:spTree>
    <p:extLst>
      <p:ext uri="{BB962C8B-B14F-4D97-AF65-F5344CB8AC3E}">
        <p14:creationId xmlns:p14="http://schemas.microsoft.com/office/powerpoint/2010/main" val="1997953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D43AEE6F-2D36-8080-8CBC-FA6BDE14526E}"/>
              </a:ext>
            </a:extLst>
          </p:cNvPr>
          <p:cNvSpPr>
            <a:spLocks noGrp="1"/>
          </p:cNvSpPr>
          <p:nvPr>
            <p:ph idx="1"/>
          </p:nvPr>
        </p:nvSpPr>
        <p:spPr/>
        <p:txBody>
          <a:bodyPr/>
          <a:lstStyle/>
          <a:p>
            <a:r>
              <a:rPr lang="en-US" dirty="0">
                <a:hlinkClick r:id="rId2"/>
              </a:rPr>
              <a:t>Prompt Engg Guide</a:t>
            </a:r>
            <a:endParaRPr lang="en-US" dirty="0"/>
          </a:p>
        </p:txBody>
      </p:sp>
    </p:spTree>
    <p:extLst>
      <p:ext uri="{BB962C8B-B14F-4D97-AF65-F5344CB8AC3E}">
        <p14:creationId xmlns:p14="http://schemas.microsoft.com/office/powerpoint/2010/main" val="34335659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Content Placeholder 2">
            <a:extLst>
              <a:ext uri="{FF2B5EF4-FFF2-40B4-BE49-F238E27FC236}">
                <a16:creationId xmlns:a16="http://schemas.microsoft.com/office/drawing/2014/main" xmlns="" id="{0C74259A-52A3-45E8-B90F-094D09788B9F}"/>
              </a:ext>
            </a:extLst>
          </p:cNvPr>
          <p:cNvSpPr txBox="1">
            <a:spLocks/>
          </p:cNvSpPr>
          <p:nvPr/>
        </p:nvSpPr>
        <p:spPr>
          <a:xfrm>
            <a:off x="678883" y="1321643"/>
            <a:ext cx="10834234" cy="876039"/>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Nunito"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Nunito"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Nunito"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7000"/>
              </a:lnSpc>
              <a:spcAft>
                <a:spcPts val="800"/>
              </a:spcAft>
            </a:pPr>
            <a:endParaRPr lang="en-US" sz="18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grpSp>
        <p:nvGrpSpPr>
          <p:cNvPr id="33" name="Group 32">
            <a:extLst>
              <a:ext uri="{FF2B5EF4-FFF2-40B4-BE49-F238E27FC236}">
                <a16:creationId xmlns:a16="http://schemas.microsoft.com/office/drawing/2014/main" xmlns="" id="{F6464BC8-F5CB-4007-B977-17F9B89DAE19}"/>
              </a:ext>
            </a:extLst>
          </p:cNvPr>
          <p:cNvGrpSpPr/>
          <p:nvPr/>
        </p:nvGrpSpPr>
        <p:grpSpPr>
          <a:xfrm>
            <a:off x="616815" y="449329"/>
            <a:ext cx="10958370" cy="2251614"/>
            <a:chOff x="669953" y="1659835"/>
            <a:chExt cx="10958370" cy="2251614"/>
          </a:xfrm>
        </p:grpSpPr>
        <p:sp>
          <p:nvSpPr>
            <p:cNvPr id="64" name="Freeform 6">
              <a:extLst>
                <a:ext uri="{FF2B5EF4-FFF2-40B4-BE49-F238E27FC236}">
                  <a16:creationId xmlns:a16="http://schemas.microsoft.com/office/drawing/2014/main" xmlns="" id="{C3985629-E9B4-4835-9D49-FEE6E941C8B8}"/>
                </a:ext>
              </a:extLst>
            </p:cNvPr>
            <p:cNvSpPr>
              <a:spLocks/>
            </p:cNvSpPr>
            <p:nvPr/>
          </p:nvSpPr>
          <p:spPr bwMode="auto">
            <a:xfrm>
              <a:off x="776848" y="1680017"/>
              <a:ext cx="373861" cy="274869"/>
            </a:xfrm>
            <a:custGeom>
              <a:avLst/>
              <a:gdLst>
                <a:gd name="T0" fmla="*/ 81 w 162"/>
                <a:gd name="T1" fmla="*/ 0 h 119"/>
                <a:gd name="T2" fmla="*/ 0 w 162"/>
                <a:gd name="T3" fmla="*/ 119 h 119"/>
                <a:gd name="T4" fmla="*/ 162 w 162"/>
                <a:gd name="T5" fmla="*/ 119 h 119"/>
                <a:gd name="T6" fmla="*/ 81 w 162"/>
                <a:gd name="T7" fmla="*/ 0 h 119"/>
              </a:gdLst>
              <a:ahLst/>
              <a:cxnLst>
                <a:cxn ang="0">
                  <a:pos x="T0" y="T1"/>
                </a:cxn>
                <a:cxn ang="0">
                  <a:pos x="T2" y="T3"/>
                </a:cxn>
                <a:cxn ang="0">
                  <a:pos x="T4" y="T5"/>
                </a:cxn>
                <a:cxn ang="0">
                  <a:pos x="T6" y="T7"/>
                </a:cxn>
              </a:cxnLst>
              <a:rect l="0" t="0" r="r" b="b"/>
              <a:pathLst>
                <a:path w="162" h="119">
                  <a:moveTo>
                    <a:pt x="81" y="0"/>
                  </a:moveTo>
                  <a:cubicBezTo>
                    <a:pt x="34" y="18"/>
                    <a:pt x="0" y="65"/>
                    <a:pt x="0" y="119"/>
                  </a:cubicBezTo>
                  <a:cubicBezTo>
                    <a:pt x="162" y="119"/>
                    <a:pt x="162" y="119"/>
                    <a:pt x="162" y="119"/>
                  </a:cubicBezTo>
                  <a:cubicBezTo>
                    <a:pt x="162" y="65"/>
                    <a:pt x="129" y="19"/>
                    <a:pt x="81" y="0"/>
                  </a:cubicBez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ru-RU"/>
            </a:p>
          </p:txBody>
        </p:sp>
        <p:sp>
          <p:nvSpPr>
            <p:cNvPr id="65" name="Rectangle: Rounded Corners 64">
              <a:extLst>
                <a:ext uri="{FF2B5EF4-FFF2-40B4-BE49-F238E27FC236}">
                  <a16:creationId xmlns:a16="http://schemas.microsoft.com/office/drawing/2014/main" xmlns="" id="{43E114C1-9EB2-42D7-9DAB-4752DC2098B5}"/>
                </a:ext>
              </a:extLst>
            </p:cNvPr>
            <p:cNvSpPr/>
            <p:nvPr/>
          </p:nvSpPr>
          <p:spPr>
            <a:xfrm>
              <a:off x="776848" y="1953670"/>
              <a:ext cx="10851475" cy="567664"/>
            </a:xfrm>
            <a:prstGeom prst="roundRect">
              <a:avLst>
                <a:gd name="adj" fmla="val 9723"/>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404000" rtlCol="0" anchor="ctr"/>
            <a:lstStyle/>
            <a:p>
              <a:r>
                <a:rPr lang="en-US" sz="2200" b="1" dirty="0">
                  <a:solidFill>
                    <a:schemeClr val="tx1"/>
                  </a:solidFill>
                  <a:effectLst/>
                  <a:latin typeface="Times New Roman" panose="02020603050405020304" pitchFamily="18" charset="0"/>
                  <a:ea typeface="Calibri" panose="020F0502020204030204" pitchFamily="34" charset="0"/>
                </a:rPr>
                <a:t>Lemonade Twist</a:t>
              </a:r>
              <a:endParaRPr lang="en-IN" sz="2200" b="1" dirty="0">
                <a:solidFill>
                  <a:schemeClr val="tx1"/>
                </a:solidFill>
                <a:latin typeface="Calibri" panose="020F0502020204030204" pitchFamily="34" charset="0"/>
              </a:endParaRPr>
            </a:p>
          </p:txBody>
        </p:sp>
        <p:sp>
          <p:nvSpPr>
            <p:cNvPr id="66" name="Content Placeholder 2">
              <a:extLst>
                <a:ext uri="{FF2B5EF4-FFF2-40B4-BE49-F238E27FC236}">
                  <a16:creationId xmlns:a16="http://schemas.microsoft.com/office/drawing/2014/main" xmlns="" id="{39E31862-C51D-4E8B-A5D4-E1D30B3F36CC}"/>
                </a:ext>
              </a:extLst>
            </p:cNvPr>
            <p:cNvSpPr txBox="1">
              <a:spLocks/>
            </p:cNvSpPr>
            <p:nvPr/>
          </p:nvSpPr>
          <p:spPr>
            <a:xfrm>
              <a:off x="669953" y="3035410"/>
              <a:ext cx="10834234" cy="876039"/>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Nunito"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Nunito"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Nunito"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400"/>
                </a:spcBef>
                <a:spcAft>
                  <a:spcPts val="400"/>
                </a:spcAft>
                <a:buNone/>
              </a:pPr>
              <a:r>
                <a:rPr lang="en-US" sz="2200" dirty="0">
                  <a:latin typeface="+mn-lt"/>
                </a:rPr>
                <a:t>Lemonade Twist is a B2B marketing and sales tool startups, used for targeted lead generation, customer segmentation, and personalized marketing campaigns. It streamlines sales processes with automation, use analytics for performance tracking, and ensures seamless integration with existing systems. </a:t>
              </a:r>
            </a:p>
            <a:p>
              <a:pPr marL="0" indent="0">
                <a:lnSpc>
                  <a:spcPct val="107000"/>
                </a:lnSpc>
                <a:spcAft>
                  <a:spcPts val="800"/>
                </a:spcAft>
                <a:buNone/>
              </a:pPr>
              <a:r>
                <a:rPr lang="en-US" sz="1800" u="sng" kern="100" dirty="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3"/>
                </a:rPr>
                <a:t>https://chat.openai.com/g/g-YpUQYatQE-lemonade-twist</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400"/>
                </a:spcBef>
                <a:spcAft>
                  <a:spcPts val="400"/>
                </a:spcAft>
                <a:buNone/>
              </a:pPr>
              <a:endParaRPr lang="en-US" sz="2200" dirty="0">
                <a:latin typeface="+mn-lt"/>
              </a:endParaRPr>
            </a:p>
          </p:txBody>
        </p:sp>
        <p:sp>
          <p:nvSpPr>
            <p:cNvPr id="67" name="Freeform 7">
              <a:extLst>
                <a:ext uri="{FF2B5EF4-FFF2-40B4-BE49-F238E27FC236}">
                  <a16:creationId xmlns:a16="http://schemas.microsoft.com/office/drawing/2014/main" xmlns="" id="{D2319B01-70EF-40DD-8684-35885369C781}"/>
                </a:ext>
              </a:extLst>
            </p:cNvPr>
            <p:cNvSpPr>
              <a:spLocks/>
            </p:cNvSpPr>
            <p:nvPr/>
          </p:nvSpPr>
          <p:spPr bwMode="auto">
            <a:xfrm>
              <a:off x="871995" y="1659835"/>
              <a:ext cx="1061994" cy="1111971"/>
            </a:xfrm>
            <a:custGeom>
              <a:avLst/>
              <a:gdLst>
                <a:gd name="T0" fmla="*/ 332 w 461"/>
                <a:gd name="T1" fmla="*/ 0 h 482"/>
                <a:gd name="T2" fmla="*/ 88 w 461"/>
                <a:gd name="T3" fmla="*/ 0 h 482"/>
                <a:gd name="T4" fmla="*/ 40 w 461"/>
                <a:gd name="T5" fmla="*/ 9 h 482"/>
                <a:gd name="T6" fmla="*/ 0 w 461"/>
                <a:gd name="T7" fmla="*/ 35 h 482"/>
                <a:gd name="T8" fmla="*/ 81 w 461"/>
                <a:gd name="T9" fmla="*/ 35 h 482"/>
                <a:gd name="T10" fmla="*/ 121 w 461"/>
                <a:gd name="T11" fmla="*/ 128 h 482"/>
                <a:gd name="T12" fmla="*/ 121 w 461"/>
                <a:gd name="T13" fmla="*/ 311 h 482"/>
                <a:gd name="T14" fmla="*/ 121 w 461"/>
                <a:gd name="T15" fmla="*/ 312 h 482"/>
                <a:gd name="T16" fmla="*/ 291 w 461"/>
                <a:gd name="T17" fmla="*/ 482 h 482"/>
                <a:gd name="T18" fmla="*/ 461 w 461"/>
                <a:gd name="T19" fmla="*/ 312 h 482"/>
                <a:gd name="T20" fmla="*/ 461 w 461"/>
                <a:gd name="T21" fmla="*/ 312 h 482"/>
                <a:gd name="T22" fmla="*/ 461 w 461"/>
                <a:gd name="T23" fmla="*/ 128 h 482"/>
                <a:gd name="T24" fmla="*/ 332 w 461"/>
                <a:gd name="T25" fmla="*/ 0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 h="482">
                  <a:moveTo>
                    <a:pt x="332" y="0"/>
                  </a:moveTo>
                  <a:cubicBezTo>
                    <a:pt x="88" y="0"/>
                    <a:pt x="88" y="0"/>
                    <a:pt x="88" y="0"/>
                  </a:cubicBezTo>
                  <a:cubicBezTo>
                    <a:pt x="71" y="0"/>
                    <a:pt x="55" y="3"/>
                    <a:pt x="40" y="9"/>
                  </a:cubicBezTo>
                  <a:cubicBezTo>
                    <a:pt x="25" y="15"/>
                    <a:pt x="11" y="24"/>
                    <a:pt x="0" y="35"/>
                  </a:cubicBezTo>
                  <a:cubicBezTo>
                    <a:pt x="22" y="13"/>
                    <a:pt x="58" y="13"/>
                    <a:pt x="81" y="35"/>
                  </a:cubicBezTo>
                  <a:cubicBezTo>
                    <a:pt x="106" y="58"/>
                    <a:pt x="121" y="91"/>
                    <a:pt x="121" y="128"/>
                  </a:cubicBezTo>
                  <a:cubicBezTo>
                    <a:pt x="121" y="311"/>
                    <a:pt x="121" y="311"/>
                    <a:pt x="121" y="311"/>
                  </a:cubicBezTo>
                  <a:cubicBezTo>
                    <a:pt x="121" y="311"/>
                    <a:pt x="121" y="311"/>
                    <a:pt x="121" y="312"/>
                  </a:cubicBezTo>
                  <a:cubicBezTo>
                    <a:pt x="121" y="405"/>
                    <a:pt x="197" y="482"/>
                    <a:pt x="291" y="482"/>
                  </a:cubicBezTo>
                  <a:cubicBezTo>
                    <a:pt x="385" y="482"/>
                    <a:pt x="461" y="405"/>
                    <a:pt x="461" y="312"/>
                  </a:cubicBezTo>
                  <a:cubicBezTo>
                    <a:pt x="461" y="312"/>
                    <a:pt x="461" y="312"/>
                    <a:pt x="461" y="312"/>
                  </a:cubicBezTo>
                  <a:cubicBezTo>
                    <a:pt x="461" y="128"/>
                    <a:pt x="461" y="128"/>
                    <a:pt x="461" y="128"/>
                  </a:cubicBezTo>
                  <a:cubicBezTo>
                    <a:pt x="461" y="57"/>
                    <a:pt x="403" y="0"/>
                    <a:pt x="332"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ru-RU"/>
            </a:p>
          </p:txBody>
        </p:sp>
        <p:sp>
          <p:nvSpPr>
            <p:cNvPr id="68" name="Oval 8">
              <a:extLst>
                <a:ext uri="{FF2B5EF4-FFF2-40B4-BE49-F238E27FC236}">
                  <a16:creationId xmlns:a16="http://schemas.microsoft.com/office/drawing/2014/main" xmlns="" id="{4553789C-B742-4422-B16A-02EE1D46D518}"/>
                </a:ext>
              </a:extLst>
            </p:cNvPr>
            <p:cNvSpPr>
              <a:spLocks noChangeArrowheads="1"/>
            </p:cNvSpPr>
            <p:nvPr/>
          </p:nvSpPr>
          <p:spPr bwMode="auto">
            <a:xfrm>
              <a:off x="1215101" y="2051956"/>
              <a:ext cx="654496" cy="652574"/>
            </a:xfrm>
            <a:prstGeom prst="ellipse">
              <a:avLst/>
            </a:prstGeom>
            <a:solidFill>
              <a:schemeClr val="bg2"/>
            </a:solidFill>
            <a:ln>
              <a:noFill/>
            </a:ln>
          </p:spPr>
          <p:txBody>
            <a:bodyPr vert="horz" wrap="square" lIns="91440" tIns="45720" rIns="91440" bIns="45720" numCol="1" anchor="t" anchorCtr="0" compatLnSpc="1">
              <a:prstTxWarp prst="textNoShape">
                <a:avLst/>
              </a:prstTxWarp>
            </a:bodyPr>
            <a:lstStyle/>
            <a:p>
              <a:endParaRPr lang="ru-RU"/>
            </a:p>
          </p:txBody>
        </p:sp>
        <p:grpSp>
          <p:nvGrpSpPr>
            <p:cNvPr id="69" name="Shape 7784">
              <a:extLst>
                <a:ext uri="{FF2B5EF4-FFF2-40B4-BE49-F238E27FC236}">
                  <a16:creationId xmlns:a16="http://schemas.microsoft.com/office/drawing/2014/main" xmlns="" id="{A83C8329-B3F8-4627-AFF3-2B31560B6F78}"/>
                </a:ext>
              </a:extLst>
            </p:cNvPr>
            <p:cNvGrpSpPr/>
            <p:nvPr/>
          </p:nvGrpSpPr>
          <p:grpSpPr>
            <a:xfrm>
              <a:off x="1389773" y="2214880"/>
              <a:ext cx="330464" cy="352116"/>
              <a:chOff x="5538788" y="2417763"/>
              <a:chExt cx="557213" cy="593725"/>
            </a:xfrm>
            <a:solidFill>
              <a:schemeClr val="tx1"/>
            </a:solidFill>
          </p:grpSpPr>
          <p:sp>
            <p:nvSpPr>
              <p:cNvPr id="70" name="Shape 7785">
                <a:extLst>
                  <a:ext uri="{FF2B5EF4-FFF2-40B4-BE49-F238E27FC236}">
                    <a16:creationId xmlns:a16="http://schemas.microsoft.com/office/drawing/2014/main" xmlns="" id="{B8467F13-F754-4938-B0CD-CC286DFFEA9C}"/>
                  </a:ext>
                </a:extLst>
              </p:cNvPr>
              <p:cNvSpPr/>
              <p:nvPr/>
            </p:nvSpPr>
            <p:spPr>
              <a:xfrm>
                <a:off x="5538788" y="2727325"/>
                <a:ext cx="188913" cy="284162"/>
              </a:xfrm>
              <a:custGeom>
                <a:avLst/>
                <a:gdLst/>
                <a:ahLst/>
                <a:cxnLst/>
                <a:rect l="0" t="0" r="0" b="0"/>
                <a:pathLst>
                  <a:path w="160" h="242" extrusionOk="0">
                    <a:moveTo>
                      <a:pt x="0" y="233"/>
                    </a:moveTo>
                    <a:cubicBezTo>
                      <a:pt x="0" y="238"/>
                      <a:pt x="4" y="242"/>
                      <a:pt x="9" y="242"/>
                    </a:cubicBezTo>
                    <a:cubicBezTo>
                      <a:pt x="151" y="242"/>
                      <a:pt x="151" y="242"/>
                      <a:pt x="151" y="242"/>
                    </a:cubicBezTo>
                    <a:cubicBezTo>
                      <a:pt x="156" y="242"/>
                      <a:pt x="160" y="238"/>
                      <a:pt x="160" y="233"/>
                    </a:cubicBezTo>
                    <a:cubicBezTo>
                      <a:pt x="160" y="0"/>
                      <a:pt x="160" y="0"/>
                      <a:pt x="160" y="0"/>
                    </a:cubicBezTo>
                    <a:cubicBezTo>
                      <a:pt x="0" y="0"/>
                      <a:pt x="0" y="0"/>
                      <a:pt x="0" y="0"/>
                    </a:cubicBezTo>
                    <a:lnTo>
                      <a:pt x="0" y="233"/>
                    </a:lnTo>
                    <a:close/>
                    <a:moveTo>
                      <a:pt x="80" y="227"/>
                    </a:moveTo>
                    <a:cubicBezTo>
                      <a:pt x="71" y="227"/>
                      <a:pt x="63" y="220"/>
                      <a:pt x="63" y="210"/>
                    </a:cubicBezTo>
                    <a:cubicBezTo>
                      <a:pt x="63" y="200"/>
                      <a:pt x="71" y="192"/>
                      <a:pt x="80" y="192"/>
                    </a:cubicBezTo>
                    <a:cubicBezTo>
                      <a:pt x="90" y="192"/>
                      <a:pt x="98" y="200"/>
                      <a:pt x="98" y="210"/>
                    </a:cubicBezTo>
                    <a:cubicBezTo>
                      <a:pt x="98" y="220"/>
                      <a:pt x="90" y="227"/>
                      <a:pt x="80" y="227"/>
                    </a:cubicBezTo>
                    <a:close/>
                    <a:moveTo>
                      <a:pt x="73" y="175"/>
                    </a:moveTo>
                    <a:cubicBezTo>
                      <a:pt x="73" y="171"/>
                      <a:pt x="76" y="167"/>
                      <a:pt x="80" y="167"/>
                    </a:cubicBezTo>
                    <a:cubicBezTo>
                      <a:pt x="85" y="167"/>
                      <a:pt x="88" y="171"/>
                      <a:pt x="88" y="175"/>
                    </a:cubicBezTo>
                    <a:cubicBezTo>
                      <a:pt x="88" y="179"/>
                      <a:pt x="85" y="183"/>
                      <a:pt x="80" y="183"/>
                    </a:cubicBezTo>
                    <a:cubicBezTo>
                      <a:pt x="76" y="183"/>
                      <a:pt x="73" y="179"/>
                      <a:pt x="73" y="175"/>
                    </a:cubicBezTo>
                    <a:close/>
                    <a:moveTo>
                      <a:pt x="29" y="12"/>
                    </a:moveTo>
                    <a:cubicBezTo>
                      <a:pt x="131" y="12"/>
                      <a:pt x="131" y="12"/>
                      <a:pt x="131" y="12"/>
                    </a:cubicBezTo>
                    <a:cubicBezTo>
                      <a:pt x="131" y="33"/>
                      <a:pt x="131" y="33"/>
                      <a:pt x="131" y="33"/>
                    </a:cubicBezTo>
                    <a:cubicBezTo>
                      <a:pt x="29" y="33"/>
                      <a:pt x="29" y="33"/>
                      <a:pt x="29" y="33"/>
                    </a:cubicBezTo>
                    <a:lnTo>
                      <a:pt x="29" y="12"/>
                    </a:lnTo>
                    <a:close/>
                    <a:moveTo>
                      <a:pt x="29" y="43"/>
                    </a:moveTo>
                    <a:cubicBezTo>
                      <a:pt x="131" y="43"/>
                      <a:pt x="131" y="43"/>
                      <a:pt x="131" y="43"/>
                    </a:cubicBezTo>
                    <a:cubicBezTo>
                      <a:pt x="131" y="64"/>
                      <a:pt x="131" y="64"/>
                      <a:pt x="131" y="64"/>
                    </a:cubicBezTo>
                    <a:cubicBezTo>
                      <a:pt x="29" y="64"/>
                      <a:pt x="29" y="64"/>
                      <a:pt x="29" y="64"/>
                    </a:cubicBezTo>
                    <a:lnTo>
                      <a:pt x="29" y="43"/>
                    </a:lnTo>
                    <a:close/>
                    <a:moveTo>
                      <a:pt x="29" y="73"/>
                    </a:moveTo>
                    <a:cubicBezTo>
                      <a:pt x="131" y="73"/>
                      <a:pt x="131" y="73"/>
                      <a:pt x="131" y="73"/>
                    </a:cubicBezTo>
                    <a:cubicBezTo>
                      <a:pt x="131" y="94"/>
                      <a:pt x="131" y="94"/>
                      <a:pt x="131" y="94"/>
                    </a:cubicBezTo>
                    <a:cubicBezTo>
                      <a:pt x="29" y="94"/>
                      <a:pt x="29" y="94"/>
                      <a:pt x="29" y="94"/>
                    </a:cubicBezTo>
                    <a:lnTo>
                      <a:pt x="29" y="73"/>
                    </a:lnTo>
                    <a:close/>
                    <a:moveTo>
                      <a:pt x="29" y="104"/>
                    </a:moveTo>
                    <a:cubicBezTo>
                      <a:pt x="131" y="104"/>
                      <a:pt x="131" y="104"/>
                      <a:pt x="131" y="104"/>
                    </a:cubicBezTo>
                    <a:cubicBezTo>
                      <a:pt x="131" y="125"/>
                      <a:pt x="131" y="125"/>
                      <a:pt x="131" y="125"/>
                    </a:cubicBezTo>
                    <a:cubicBezTo>
                      <a:pt x="29" y="125"/>
                      <a:pt x="29" y="125"/>
                      <a:pt x="29" y="125"/>
                    </a:cubicBezTo>
                    <a:lnTo>
                      <a:pt x="29" y="104"/>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71" name="Shape 7786">
                <a:extLst>
                  <a:ext uri="{FF2B5EF4-FFF2-40B4-BE49-F238E27FC236}">
                    <a16:creationId xmlns:a16="http://schemas.microsoft.com/office/drawing/2014/main" xmlns="" id="{43C1EED4-1256-44D1-9FFF-6FC3164884E1}"/>
                  </a:ext>
                </a:extLst>
              </p:cNvPr>
              <p:cNvSpPr/>
              <p:nvPr/>
            </p:nvSpPr>
            <p:spPr>
              <a:xfrm>
                <a:off x="5538788" y="2651125"/>
                <a:ext cx="188913" cy="63500"/>
              </a:xfrm>
              <a:custGeom>
                <a:avLst/>
                <a:gdLst/>
                <a:ahLst/>
                <a:cxnLst/>
                <a:rect l="0" t="0" r="0" b="0"/>
                <a:pathLst>
                  <a:path w="160" h="55" extrusionOk="0">
                    <a:moveTo>
                      <a:pt x="151" y="0"/>
                    </a:moveTo>
                    <a:cubicBezTo>
                      <a:pt x="9" y="0"/>
                      <a:pt x="9" y="0"/>
                      <a:pt x="9" y="0"/>
                    </a:cubicBezTo>
                    <a:cubicBezTo>
                      <a:pt x="4" y="0"/>
                      <a:pt x="0" y="4"/>
                      <a:pt x="0" y="9"/>
                    </a:cubicBezTo>
                    <a:cubicBezTo>
                      <a:pt x="0" y="55"/>
                      <a:pt x="0" y="55"/>
                      <a:pt x="0" y="55"/>
                    </a:cubicBezTo>
                    <a:cubicBezTo>
                      <a:pt x="160" y="55"/>
                      <a:pt x="160" y="55"/>
                      <a:pt x="160" y="55"/>
                    </a:cubicBezTo>
                    <a:cubicBezTo>
                      <a:pt x="160" y="9"/>
                      <a:pt x="160" y="9"/>
                      <a:pt x="160" y="9"/>
                    </a:cubicBezTo>
                    <a:cubicBezTo>
                      <a:pt x="160" y="4"/>
                      <a:pt x="156" y="0"/>
                      <a:pt x="151" y="0"/>
                    </a:cubicBezTo>
                    <a:close/>
                    <a:moveTo>
                      <a:pt x="43" y="43"/>
                    </a:moveTo>
                    <a:cubicBezTo>
                      <a:pt x="36" y="43"/>
                      <a:pt x="30" y="37"/>
                      <a:pt x="30" y="30"/>
                    </a:cubicBezTo>
                    <a:cubicBezTo>
                      <a:pt x="30" y="22"/>
                      <a:pt x="36" y="16"/>
                      <a:pt x="43" y="16"/>
                    </a:cubicBezTo>
                    <a:cubicBezTo>
                      <a:pt x="51" y="16"/>
                      <a:pt x="57" y="22"/>
                      <a:pt x="57" y="30"/>
                    </a:cubicBezTo>
                    <a:cubicBezTo>
                      <a:pt x="57" y="37"/>
                      <a:pt x="51" y="43"/>
                      <a:pt x="43" y="43"/>
                    </a:cubicBezTo>
                    <a:close/>
                    <a:moveTo>
                      <a:pt x="131" y="38"/>
                    </a:moveTo>
                    <a:cubicBezTo>
                      <a:pt x="68" y="38"/>
                      <a:pt x="68" y="38"/>
                      <a:pt x="68" y="38"/>
                    </a:cubicBezTo>
                    <a:cubicBezTo>
                      <a:pt x="68" y="22"/>
                      <a:pt x="68" y="22"/>
                      <a:pt x="68" y="22"/>
                    </a:cubicBezTo>
                    <a:cubicBezTo>
                      <a:pt x="131" y="22"/>
                      <a:pt x="131" y="22"/>
                      <a:pt x="131" y="22"/>
                    </a:cubicBezTo>
                    <a:lnTo>
                      <a:pt x="131" y="38"/>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72" name="Shape 7787">
                <a:extLst>
                  <a:ext uri="{FF2B5EF4-FFF2-40B4-BE49-F238E27FC236}">
                    <a16:creationId xmlns:a16="http://schemas.microsoft.com/office/drawing/2014/main" xmlns="" id="{74367297-DC09-49B1-B183-CD25D5196A3D}"/>
                  </a:ext>
                </a:extLst>
              </p:cNvPr>
              <p:cNvSpPr/>
              <p:nvPr/>
            </p:nvSpPr>
            <p:spPr>
              <a:xfrm>
                <a:off x="6013450" y="2990850"/>
                <a:ext cx="28575" cy="20637"/>
              </a:xfrm>
              <a:custGeom>
                <a:avLst/>
                <a:gdLst/>
                <a:ahLst/>
                <a:cxnLst/>
                <a:rect l="0" t="0" r="0" b="0"/>
                <a:pathLst>
                  <a:path w="24" h="18" extrusionOk="0">
                    <a:moveTo>
                      <a:pt x="1" y="4"/>
                    </a:moveTo>
                    <a:cubicBezTo>
                      <a:pt x="0" y="4"/>
                      <a:pt x="0" y="4"/>
                      <a:pt x="0" y="4"/>
                    </a:cubicBezTo>
                    <a:cubicBezTo>
                      <a:pt x="0" y="18"/>
                      <a:pt x="0" y="18"/>
                      <a:pt x="0" y="18"/>
                    </a:cubicBezTo>
                    <a:cubicBezTo>
                      <a:pt x="1" y="18"/>
                      <a:pt x="1" y="18"/>
                      <a:pt x="1" y="18"/>
                    </a:cubicBezTo>
                    <a:cubicBezTo>
                      <a:pt x="9" y="18"/>
                      <a:pt x="17" y="16"/>
                      <a:pt x="24" y="12"/>
                    </a:cubicBezTo>
                    <a:cubicBezTo>
                      <a:pt x="17" y="0"/>
                      <a:pt x="17" y="0"/>
                      <a:pt x="17" y="0"/>
                    </a:cubicBezTo>
                    <a:cubicBezTo>
                      <a:pt x="12" y="3"/>
                      <a:pt x="6" y="4"/>
                      <a:pt x="1" y="4"/>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73" name="Shape 7788">
                <a:extLst>
                  <a:ext uri="{FF2B5EF4-FFF2-40B4-BE49-F238E27FC236}">
                    <a16:creationId xmlns:a16="http://schemas.microsoft.com/office/drawing/2014/main" xmlns="" id="{E5D1840A-9F75-4107-A01C-3954AC002B84}"/>
                  </a:ext>
                </a:extLst>
              </p:cNvPr>
              <p:cNvSpPr/>
              <p:nvPr/>
            </p:nvSpPr>
            <p:spPr>
              <a:xfrm>
                <a:off x="5964238" y="299561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74" name="Shape 7789">
                <a:extLst>
                  <a:ext uri="{FF2B5EF4-FFF2-40B4-BE49-F238E27FC236}">
                    <a16:creationId xmlns:a16="http://schemas.microsoft.com/office/drawing/2014/main" xmlns="" id="{E2FD6BFB-6A19-4A90-81C4-56649F44B1C4}"/>
                  </a:ext>
                </a:extLst>
              </p:cNvPr>
              <p:cNvSpPr/>
              <p:nvPr/>
            </p:nvSpPr>
            <p:spPr>
              <a:xfrm>
                <a:off x="5913438" y="2995613"/>
                <a:ext cx="23813"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75" name="Shape 7790">
                <a:extLst>
                  <a:ext uri="{FF2B5EF4-FFF2-40B4-BE49-F238E27FC236}">
                    <a16:creationId xmlns:a16="http://schemas.microsoft.com/office/drawing/2014/main" xmlns="" id="{D0144CBE-385C-4735-94C5-531B30CC324F}"/>
                  </a:ext>
                </a:extLst>
              </p:cNvPr>
              <p:cNvSpPr/>
              <p:nvPr/>
            </p:nvSpPr>
            <p:spPr>
              <a:xfrm>
                <a:off x="5862638" y="299561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76" name="Shape 7791">
                <a:extLst>
                  <a:ext uri="{FF2B5EF4-FFF2-40B4-BE49-F238E27FC236}">
                    <a16:creationId xmlns:a16="http://schemas.microsoft.com/office/drawing/2014/main" xmlns="" id="{19E33BC3-CB89-4691-AB4F-716AEDA4202C}"/>
                  </a:ext>
                </a:extLst>
              </p:cNvPr>
              <p:cNvSpPr/>
              <p:nvPr/>
            </p:nvSpPr>
            <p:spPr>
              <a:xfrm>
                <a:off x="5807075" y="2995613"/>
                <a:ext cx="23813"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77" name="Shape 7792">
                <a:extLst>
                  <a:ext uri="{FF2B5EF4-FFF2-40B4-BE49-F238E27FC236}">
                    <a16:creationId xmlns:a16="http://schemas.microsoft.com/office/drawing/2014/main" xmlns="" id="{163F030B-57F7-48AD-9F0F-281F87252800}"/>
                  </a:ext>
                </a:extLst>
              </p:cNvPr>
              <p:cNvSpPr/>
              <p:nvPr/>
            </p:nvSpPr>
            <p:spPr>
              <a:xfrm>
                <a:off x="5753100" y="299561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78" name="Shape 7793">
                <a:extLst>
                  <a:ext uri="{FF2B5EF4-FFF2-40B4-BE49-F238E27FC236}">
                    <a16:creationId xmlns:a16="http://schemas.microsoft.com/office/drawing/2014/main" xmlns="" id="{1BFBD7D1-0096-4D0E-9F0C-1048DFAA748E}"/>
                  </a:ext>
                </a:extLst>
              </p:cNvPr>
              <p:cNvSpPr/>
              <p:nvPr/>
            </p:nvSpPr>
            <p:spPr>
              <a:xfrm>
                <a:off x="6048375" y="2955925"/>
                <a:ext cx="22225" cy="28575"/>
              </a:xfrm>
              <a:custGeom>
                <a:avLst/>
                <a:gdLst/>
                <a:ahLst/>
                <a:cxnLst/>
                <a:rect l="0" t="0" r="0" b="0"/>
                <a:pathLst>
                  <a:path w="19" h="24" extrusionOk="0">
                    <a:moveTo>
                      <a:pt x="0" y="17"/>
                    </a:moveTo>
                    <a:cubicBezTo>
                      <a:pt x="12" y="24"/>
                      <a:pt x="12" y="24"/>
                      <a:pt x="12" y="24"/>
                    </a:cubicBezTo>
                    <a:cubicBezTo>
                      <a:pt x="17" y="17"/>
                      <a:pt x="19" y="9"/>
                      <a:pt x="19" y="0"/>
                    </a:cubicBezTo>
                    <a:cubicBezTo>
                      <a:pt x="6" y="0"/>
                      <a:pt x="6" y="0"/>
                      <a:pt x="6" y="0"/>
                    </a:cubicBezTo>
                    <a:cubicBezTo>
                      <a:pt x="5" y="6"/>
                      <a:pt x="3" y="12"/>
                      <a:pt x="0" y="17"/>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79" name="Shape 7794">
                <a:extLst>
                  <a:ext uri="{FF2B5EF4-FFF2-40B4-BE49-F238E27FC236}">
                    <a16:creationId xmlns:a16="http://schemas.microsoft.com/office/drawing/2014/main" xmlns="" id="{3982DA7A-DFC2-433F-AA7A-12EF4C80C3CC}"/>
                  </a:ext>
                </a:extLst>
              </p:cNvPr>
              <p:cNvSpPr/>
              <p:nvPr/>
            </p:nvSpPr>
            <p:spPr>
              <a:xfrm>
                <a:off x="6056313" y="2906713"/>
                <a:ext cx="15875" cy="23812"/>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80" name="Shape 7795">
                <a:extLst>
                  <a:ext uri="{FF2B5EF4-FFF2-40B4-BE49-F238E27FC236}">
                    <a16:creationId xmlns:a16="http://schemas.microsoft.com/office/drawing/2014/main" xmlns="" id="{930A73D0-8F39-417B-BC1D-1BAD811AA919}"/>
                  </a:ext>
                </a:extLst>
              </p:cNvPr>
              <p:cNvSpPr/>
              <p:nvPr/>
            </p:nvSpPr>
            <p:spPr>
              <a:xfrm>
                <a:off x="6030913" y="2820988"/>
                <a:ext cx="65088" cy="57150"/>
              </a:xfrm>
              <a:custGeom>
                <a:avLst/>
                <a:gdLst/>
                <a:ahLst/>
                <a:cxnLst/>
                <a:rect l="0" t="0" r="0" b="0"/>
                <a:pathLst>
                  <a:path w="41" h="36" extrusionOk="0">
                    <a:moveTo>
                      <a:pt x="0" y="36"/>
                    </a:moveTo>
                    <a:lnTo>
                      <a:pt x="41" y="36"/>
                    </a:lnTo>
                    <a:lnTo>
                      <a:pt x="21" y="0"/>
                    </a:lnTo>
                    <a:lnTo>
                      <a:pt x="0" y="36"/>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81" name="Shape 7796">
                <a:extLst>
                  <a:ext uri="{FF2B5EF4-FFF2-40B4-BE49-F238E27FC236}">
                    <a16:creationId xmlns:a16="http://schemas.microsoft.com/office/drawing/2014/main" xmlns="" id="{7383D49F-BBC1-4784-AA89-18C823290E54}"/>
                  </a:ext>
                </a:extLst>
              </p:cNvPr>
              <p:cNvSpPr/>
              <p:nvPr/>
            </p:nvSpPr>
            <p:spPr>
              <a:xfrm>
                <a:off x="5908675" y="2495550"/>
                <a:ext cx="187325" cy="282575"/>
              </a:xfrm>
              <a:custGeom>
                <a:avLst/>
                <a:gdLst/>
                <a:ahLst/>
                <a:cxnLst/>
                <a:rect l="0" t="0" r="0" b="0"/>
                <a:pathLst>
                  <a:path w="160" h="242" extrusionOk="0">
                    <a:moveTo>
                      <a:pt x="0" y="233"/>
                    </a:moveTo>
                    <a:cubicBezTo>
                      <a:pt x="0" y="238"/>
                      <a:pt x="4" y="242"/>
                      <a:pt x="9" y="242"/>
                    </a:cubicBezTo>
                    <a:cubicBezTo>
                      <a:pt x="151" y="242"/>
                      <a:pt x="151" y="242"/>
                      <a:pt x="151" y="242"/>
                    </a:cubicBezTo>
                    <a:cubicBezTo>
                      <a:pt x="156" y="242"/>
                      <a:pt x="160" y="238"/>
                      <a:pt x="160" y="233"/>
                    </a:cubicBezTo>
                    <a:cubicBezTo>
                      <a:pt x="160" y="0"/>
                      <a:pt x="160" y="0"/>
                      <a:pt x="160" y="0"/>
                    </a:cubicBezTo>
                    <a:cubicBezTo>
                      <a:pt x="0" y="0"/>
                      <a:pt x="0" y="0"/>
                      <a:pt x="0" y="0"/>
                    </a:cubicBezTo>
                    <a:lnTo>
                      <a:pt x="0" y="233"/>
                    </a:lnTo>
                    <a:close/>
                    <a:moveTo>
                      <a:pt x="80" y="227"/>
                    </a:moveTo>
                    <a:cubicBezTo>
                      <a:pt x="71" y="227"/>
                      <a:pt x="63" y="220"/>
                      <a:pt x="63" y="210"/>
                    </a:cubicBezTo>
                    <a:cubicBezTo>
                      <a:pt x="63" y="200"/>
                      <a:pt x="71" y="192"/>
                      <a:pt x="80" y="192"/>
                    </a:cubicBezTo>
                    <a:cubicBezTo>
                      <a:pt x="90" y="192"/>
                      <a:pt x="98" y="200"/>
                      <a:pt x="98" y="210"/>
                    </a:cubicBezTo>
                    <a:cubicBezTo>
                      <a:pt x="98" y="220"/>
                      <a:pt x="90" y="227"/>
                      <a:pt x="80" y="227"/>
                    </a:cubicBezTo>
                    <a:close/>
                    <a:moveTo>
                      <a:pt x="72" y="175"/>
                    </a:moveTo>
                    <a:cubicBezTo>
                      <a:pt x="72" y="171"/>
                      <a:pt x="76" y="167"/>
                      <a:pt x="80" y="167"/>
                    </a:cubicBezTo>
                    <a:cubicBezTo>
                      <a:pt x="85" y="167"/>
                      <a:pt x="88" y="171"/>
                      <a:pt x="88" y="175"/>
                    </a:cubicBezTo>
                    <a:cubicBezTo>
                      <a:pt x="88" y="179"/>
                      <a:pt x="85" y="183"/>
                      <a:pt x="80" y="183"/>
                    </a:cubicBezTo>
                    <a:cubicBezTo>
                      <a:pt x="76" y="183"/>
                      <a:pt x="72" y="179"/>
                      <a:pt x="72" y="175"/>
                    </a:cubicBezTo>
                    <a:close/>
                    <a:moveTo>
                      <a:pt x="29" y="12"/>
                    </a:moveTo>
                    <a:cubicBezTo>
                      <a:pt x="131" y="12"/>
                      <a:pt x="131" y="12"/>
                      <a:pt x="131" y="12"/>
                    </a:cubicBezTo>
                    <a:cubicBezTo>
                      <a:pt x="131" y="33"/>
                      <a:pt x="131" y="33"/>
                      <a:pt x="131" y="33"/>
                    </a:cubicBezTo>
                    <a:cubicBezTo>
                      <a:pt x="29" y="33"/>
                      <a:pt x="29" y="33"/>
                      <a:pt x="29" y="33"/>
                    </a:cubicBezTo>
                    <a:lnTo>
                      <a:pt x="29" y="12"/>
                    </a:lnTo>
                    <a:close/>
                    <a:moveTo>
                      <a:pt x="29" y="43"/>
                    </a:moveTo>
                    <a:cubicBezTo>
                      <a:pt x="131" y="43"/>
                      <a:pt x="131" y="43"/>
                      <a:pt x="131" y="43"/>
                    </a:cubicBezTo>
                    <a:cubicBezTo>
                      <a:pt x="131" y="64"/>
                      <a:pt x="131" y="64"/>
                      <a:pt x="131" y="64"/>
                    </a:cubicBezTo>
                    <a:cubicBezTo>
                      <a:pt x="29" y="64"/>
                      <a:pt x="29" y="64"/>
                      <a:pt x="29" y="64"/>
                    </a:cubicBezTo>
                    <a:lnTo>
                      <a:pt x="29" y="43"/>
                    </a:lnTo>
                    <a:close/>
                    <a:moveTo>
                      <a:pt x="29" y="73"/>
                    </a:moveTo>
                    <a:cubicBezTo>
                      <a:pt x="131" y="73"/>
                      <a:pt x="131" y="73"/>
                      <a:pt x="131" y="73"/>
                    </a:cubicBezTo>
                    <a:cubicBezTo>
                      <a:pt x="131" y="94"/>
                      <a:pt x="131" y="94"/>
                      <a:pt x="131" y="94"/>
                    </a:cubicBezTo>
                    <a:cubicBezTo>
                      <a:pt x="29" y="94"/>
                      <a:pt x="29" y="94"/>
                      <a:pt x="29" y="94"/>
                    </a:cubicBezTo>
                    <a:lnTo>
                      <a:pt x="29" y="73"/>
                    </a:lnTo>
                    <a:close/>
                    <a:moveTo>
                      <a:pt x="29" y="104"/>
                    </a:moveTo>
                    <a:cubicBezTo>
                      <a:pt x="131" y="104"/>
                      <a:pt x="131" y="104"/>
                      <a:pt x="131" y="104"/>
                    </a:cubicBezTo>
                    <a:cubicBezTo>
                      <a:pt x="131" y="125"/>
                      <a:pt x="131" y="125"/>
                      <a:pt x="131" y="125"/>
                    </a:cubicBezTo>
                    <a:cubicBezTo>
                      <a:pt x="29" y="125"/>
                      <a:pt x="29" y="125"/>
                      <a:pt x="29" y="125"/>
                    </a:cubicBezTo>
                    <a:lnTo>
                      <a:pt x="29" y="104"/>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82" name="Shape 7797">
                <a:extLst>
                  <a:ext uri="{FF2B5EF4-FFF2-40B4-BE49-F238E27FC236}">
                    <a16:creationId xmlns:a16="http://schemas.microsoft.com/office/drawing/2014/main" xmlns="" id="{1AE46AD4-E08F-4458-9E3C-759E506415D6}"/>
                  </a:ext>
                </a:extLst>
              </p:cNvPr>
              <p:cNvSpPr/>
              <p:nvPr/>
            </p:nvSpPr>
            <p:spPr>
              <a:xfrm>
                <a:off x="5908675" y="2417763"/>
                <a:ext cx="187325" cy="65087"/>
              </a:xfrm>
              <a:custGeom>
                <a:avLst/>
                <a:gdLst/>
                <a:ahLst/>
                <a:cxnLst/>
                <a:rect l="0" t="0" r="0" b="0"/>
                <a:pathLst>
                  <a:path w="160" h="55" extrusionOk="0">
                    <a:moveTo>
                      <a:pt x="151" y="0"/>
                    </a:moveTo>
                    <a:cubicBezTo>
                      <a:pt x="9" y="0"/>
                      <a:pt x="9" y="0"/>
                      <a:pt x="9" y="0"/>
                    </a:cubicBezTo>
                    <a:cubicBezTo>
                      <a:pt x="4" y="0"/>
                      <a:pt x="0" y="4"/>
                      <a:pt x="0" y="9"/>
                    </a:cubicBezTo>
                    <a:cubicBezTo>
                      <a:pt x="0" y="55"/>
                      <a:pt x="0" y="55"/>
                      <a:pt x="0" y="55"/>
                    </a:cubicBezTo>
                    <a:cubicBezTo>
                      <a:pt x="160" y="55"/>
                      <a:pt x="160" y="55"/>
                      <a:pt x="160" y="55"/>
                    </a:cubicBezTo>
                    <a:cubicBezTo>
                      <a:pt x="160" y="9"/>
                      <a:pt x="160" y="9"/>
                      <a:pt x="160" y="9"/>
                    </a:cubicBezTo>
                    <a:cubicBezTo>
                      <a:pt x="160" y="4"/>
                      <a:pt x="156" y="0"/>
                      <a:pt x="151" y="0"/>
                    </a:cubicBezTo>
                    <a:close/>
                    <a:moveTo>
                      <a:pt x="93" y="38"/>
                    </a:moveTo>
                    <a:cubicBezTo>
                      <a:pt x="29" y="38"/>
                      <a:pt x="29" y="38"/>
                      <a:pt x="29" y="38"/>
                    </a:cubicBezTo>
                    <a:cubicBezTo>
                      <a:pt x="29" y="22"/>
                      <a:pt x="29" y="22"/>
                      <a:pt x="29" y="22"/>
                    </a:cubicBezTo>
                    <a:cubicBezTo>
                      <a:pt x="93" y="22"/>
                      <a:pt x="93" y="22"/>
                      <a:pt x="93" y="22"/>
                    </a:cubicBezTo>
                    <a:lnTo>
                      <a:pt x="93" y="38"/>
                    </a:lnTo>
                    <a:close/>
                    <a:moveTo>
                      <a:pt x="117" y="43"/>
                    </a:moveTo>
                    <a:cubicBezTo>
                      <a:pt x="110" y="43"/>
                      <a:pt x="104" y="37"/>
                      <a:pt x="104" y="30"/>
                    </a:cubicBezTo>
                    <a:cubicBezTo>
                      <a:pt x="104" y="22"/>
                      <a:pt x="110" y="16"/>
                      <a:pt x="117" y="16"/>
                    </a:cubicBezTo>
                    <a:cubicBezTo>
                      <a:pt x="125" y="16"/>
                      <a:pt x="131" y="22"/>
                      <a:pt x="131" y="30"/>
                    </a:cubicBezTo>
                    <a:cubicBezTo>
                      <a:pt x="131" y="37"/>
                      <a:pt x="125" y="43"/>
                      <a:pt x="117" y="43"/>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83" name="Shape 7798">
                <a:extLst>
                  <a:ext uri="{FF2B5EF4-FFF2-40B4-BE49-F238E27FC236}">
                    <a16:creationId xmlns:a16="http://schemas.microsoft.com/office/drawing/2014/main" xmlns="" id="{1D73D8E3-ABB3-4DCD-926B-4887638BD266}"/>
                  </a:ext>
                </a:extLst>
              </p:cNvPr>
              <p:cNvSpPr/>
              <p:nvPr/>
            </p:nvSpPr>
            <p:spPr>
              <a:xfrm>
                <a:off x="5592763" y="2417763"/>
                <a:ext cx="30163" cy="20637"/>
              </a:xfrm>
              <a:custGeom>
                <a:avLst/>
                <a:gdLst/>
                <a:ahLst/>
                <a:cxnLst/>
                <a:rect l="0" t="0" r="0" b="0"/>
                <a:pathLst>
                  <a:path w="25" h="18" extrusionOk="0">
                    <a:moveTo>
                      <a:pt x="24" y="14"/>
                    </a:moveTo>
                    <a:cubicBezTo>
                      <a:pt x="25" y="14"/>
                      <a:pt x="25" y="14"/>
                      <a:pt x="25" y="14"/>
                    </a:cubicBezTo>
                    <a:cubicBezTo>
                      <a:pt x="25" y="0"/>
                      <a:pt x="25" y="0"/>
                      <a:pt x="25" y="0"/>
                    </a:cubicBezTo>
                    <a:cubicBezTo>
                      <a:pt x="24" y="0"/>
                      <a:pt x="24" y="0"/>
                      <a:pt x="24" y="0"/>
                    </a:cubicBezTo>
                    <a:cubicBezTo>
                      <a:pt x="16" y="0"/>
                      <a:pt x="8" y="2"/>
                      <a:pt x="0" y="6"/>
                    </a:cubicBezTo>
                    <a:cubicBezTo>
                      <a:pt x="7" y="18"/>
                      <a:pt x="7" y="18"/>
                      <a:pt x="7" y="18"/>
                    </a:cubicBezTo>
                    <a:cubicBezTo>
                      <a:pt x="12" y="15"/>
                      <a:pt x="18" y="14"/>
                      <a:pt x="24" y="14"/>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84" name="Shape 7799">
                <a:extLst>
                  <a:ext uri="{FF2B5EF4-FFF2-40B4-BE49-F238E27FC236}">
                    <a16:creationId xmlns:a16="http://schemas.microsoft.com/office/drawing/2014/main" xmlns="" id="{BDE4BECC-496A-4858-9609-9C4F77D6A085}"/>
                  </a:ext>
                </a:extLst>
              </p:cNvPr>
              <p:cNvSpPr/>
              <p:nvPr/>
            </p:nvSpPr>
            <p:spPr>
              <a:xfrm>
                <a:off x="5646738" y="2417763"/>
                <a:ext cx="26988"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85" name="Shape 7800">
                <a:extLst>
                  <a:ext uri="{FF2B5EF4-FFF2-40B4-BE49-F238E27FC236}">
                    <a16:creationId xmlns:a16="http://schemas.microsoft.com/office/drawing/2014/main" xmlns="" id="{4849F315-7BDE-4A56-95B2-0F2CBEA41221}"/>
                  </a:ext>
                </a:extLst>
              </p:cNvPr>
              <p:cNvSpPr/>
              <p:nvPr/>
            </p:nvSpPr>
            <p:spPr>
              <a:xfrm>
                <a:off x="5697538" y="241776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86" name="Shape 7801">
                <a:extLst>
                  <a:ext uri="{FF2B5EF4-FFF2-40B4-BE49-F238E27FC236}">
                    <a16:creationId xmlns:a16="http://schemas.microsoft.com/office/drawing/2014/main" xmlns="" id="{DCB8C63A-E868-418D-8BF9-996ACCE58E56}"/>
                  </a:ext>
                </a:extLst>
              </p:cNvPr>
              <p:cNvSpPr/>
              <p:nvPr/>
            </p:nvSpPr>
            <p:spPr>
              <a:xfrm>
                <a:off x="5748338" y="241776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87" name="Shape 7802">
                <a:extLst>
                  <a:ext uri="{FF2B5EF4-FFF2-40B4-BE49-F238E27FC236}">
                    <a16:creationId xmlns:a16="http://schemas.microsoft.com/office/drawing/2014/main" xmlns="" id="{7E302B4F-27CD-47E9-B9B4-671A9CDD0763}"/>
                  </a:ext>
                </a:extLst>
              </p:cNvPr>
              <p:cNvSpPr/>
              <p:nvPr/>
            </p:nvSpPr>
            <p:spPr>
              <a:xfrm>
                <a:off x="5799138" y="241776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88" name="Shape 7803">
                <a:extLst>
                  <a:ext uri="{FF2B5EF4-FFF2-40B4-BE49-F238E27FC236}">
                    <a16:creationId xmlns:a16="http://schemas.microsoft.com/office/drawing/2014/main" xmlns="" id="{50A5E583-30F9-47CA-B0B3-1623084D3B40}"/>
                  </a:ext>
                </a:extLst>
              </p:cNvPr>
              <p:cNvSpPr/>
              <p:nvPr/>
            </p:nvSpPr>
            <p:spPr>
              <a:xfrm>
                <a:off x="5857875" y="241776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89" name="Shape 7804">
                <a:extLst>
                  <a:ext uri="{FF2B5EF4-FFF2-40B4-BE49-F238E27FC236}">
                    <a16:creationId xmlns:a16="http://schemas.microsoft.com/office/drawing/2014/main" xmlns="" id="{BAC8F7FC-A380-46B3-859D-3A8458F4251D}"/>
                  </a:ext>
                </a:extLst>
              </p:cNvPr>
              <p:cNvSpPr/>
              <p:nvPr/>
            </p:nvSpPr>
            <p:spPr>
              <a:xfrm>
                <a:off x="5564188" y="2444750"/>
                <a:ext cx="22225" cy="28575"/>
              </a:xfrm>
              <a:custGeom>
                <a:avLst/>
                <a:gdLst/>
                <a:ahLst/>
                <a:cxnLst/>
                <a:rect l="0" t="0" r="0" b="0"/>
                <a:pathLst>
                  <a:path w="19" h="24" extrusionOk="0">
                    <a:moveTo>
                      <a:pt x="19" y="7"/>
                    </a:moveTo>
                    <a:cubicBezTo>
                      <a:pt x="7" y="0"/>
                      <a:pt x="7" y="0"/>
                      <a:pt x="7" y="0"/>
                    </a:cubicBezTo>
                    <a:cubicBezTo>
                      <a:pt x="3" y="7"/>
                      <a:pt x="0" y="15"/>
                      <a:pt x="0" y="23"/>
                    </a:cubicBezTo>
                    <a:cubicBezTo>
                      <a:pt x="14" y="24"/>
                      <a:pt x="14" y="24"/>
                      <a:pt x="14" y="24"/>
                    </a:cubicBezTo>
                    <a:cubicBezTo>
                      <a:pt x="14" y="18"/>
                      <a:pt x="16" y="12"/>
                      <a:pt x="19" y="7"/>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90" name="Shape 7805">
                <a:extLst>
                  <a:ext uri="{FF2B5EF4-FFF2-40B4-BE49-F238E27FC236}">
                    <a16:creationId xmlns:a16="http://schemas.microsoft.com/office/drawing/2014/main" xmlns="" id="{DA9938B4-245E-422B-8E2B-39742E5308D0}"/>
                  </a:ext>
                </a:extLst>
              </p:cNvPr>
              <p:cNvSpPr/>
              <p:nvPr/>
            </p:nvSpPr>
            <p:spPr>
              <a:xfrm>
                <a:off x="5564188" y="2497138"/>
                <a:ext cx="15875" cy="25400"/>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91" name="Shape 7806">
                <a:extLst>
                  <a:ext uri="{FF2B5EF4-FFF2-40B4-BE49-F238E27FC236}">
                    <a16:creationId xmlns:a16="http://schemas.microsoft.com/office/drawing/2014/main" xmlns="" id="{11CE533C-A00D-4A8F-889E-E9E889AC36EE}"/>
                  </a:ext>
                </a:extLst>
              </p:cNvPr>
              <p:cNvSpPr/>
              <p:nvPr/>
            </p:nvSpPr>
            <p:spPr>
              <a:xfrm>
                <a:off x="5538788" y="2551113"/>
                <a:ext cx="66675" cy="55562"/>
              </a:xfrm>
              <a:custGeom>
                <a:avLst/>
                <a:gdLst/>
                <a:ahLst/>
                <a:cxnLst/>
                <a:rect l="0" t="0" r="0" b="0"/>
                <a:pathLst>
                  <a:path w="42" h="35" extrusionOk="0">
                    <a:moveTo>
                      <a:pt x="42" y="0"/>
                    </a:moveTo>
                    <a:lnTo>
                      <a:pt x="0" y="0"/>
                    </a:lnTo>
                    <a:lnTo>
                      <a:pt x="21" y="35"/>
                    </a:lnTo>
                    <a:lnTo>
                      <a:pt x="42" y="0"/>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grpSp>
      </p:grpSp>
    </p:spTree>
    <p:extLst>
      <p:ext uri="{BB962C8B-B14F-4D97-AF65-F5344CB8AC3E}">
        <p14:creationId xmlns:p14="http://schemas.microsoft.com/office/powerpoint/2010/main" val="17553409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Content Placeholder 2">
            <a:extLst>
              <a:ext uri="{FF2B5EF4-FFF2-40B4-BE49-F238E27FC236}">
                <a16:creationId xmlns:a16="http://schemas.microsoft.com/office/drawing/2014/main" xmlns="" id="{0C74259A-52A3-45E8-B90F-094D09788B9F}"/>
              </a:ext>
            </a:extLst>
          </p:cNvPr>
          <p:cNvSpPr txBox="1">
            <a:spLocks/>
          </p:cNvSpPr>
          <p:nvPr/>
        </p:nvSpPr>
        <p:spPr>
          <a:xfrm>
            <a:off x="678883" y="1321643"/>
            <a:ext cx="10834234" cy="876039"/>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Nunito"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Nunito"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Nunito"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7000"/>
              </a:lnSpc>
              <a:spcAft>
                <a:spcPts val="800"/>
              </a:spcAft>
            </a:pPr>
            <a:endParaRPr lang="en-US" sz="18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grpSp>
        <p:nvGrpSpPr>
          <p:cNvPr id="33" name="Group 32">
            <a:extLst>
              <a:ext uri="{FF2B5EF4-FFF2-40B4-BE49-F238E27FC236}">
                <a16:creationId xmlns:a16="http://schemas.microsoft.com/office/drawing/2014/main" xmlns="" id="{F6464BC8-F5CB-4007-B977-17F9B89DAE19}"/>
              </a:ext>
            </a:extLst>
          </p:cNvPr>
          <p:cNvGrpSpPr/>
          <p:nvPr/>
        </p:nvGrpSpPr>
        <p:grpSpPr>
          <a:xfrm>
            <a:off x="616815" y="449329"/>
            <a:ext cx="10958370" cy="2251614"/>
            <a:chOff x="669953" y="1659835"/>
            <a:chExt cx="10958370" cy="2251614"/>
          </a:xfrm>
        </p:grpSpPr>
        <p:sp>
          <p:nvSpPr>
            <p:cNvPr id="64" name="Freeform 6">
              <a:extLst>
                <a:ext uri="{FF2B5EF4-FFF2-40B4-BE49-F238E27FC236}">
                  <a16:creationId xmlns:a16="http://schemas.microsoft.com/office/drawing/2014/main" xmlns="" id="{C3985629-E9B4-4835-9D49-FEE6E941C8B8}"/>
                </a:ext>
              </a:extLst>
            </p:cNvPr>
            <p:cNvSpPr>
              <a:spLocks/>
            </p:cNvSpPr>
            <p:nvPr/>
          </p:nvSpPr>
          <p:spPr bwMode="auto">
            <a:xfrm>
              <a:off x="776848" y="1680017"/>
              <a:ext cx="373861" cy="274869"/>
            </a:xfrm>
            <a:custGeom>
              <a:avLst/>
              <a:gdLst>
                <a:gd name="T0" fmla="*/ 81 w 162"/>
                <a:gd name="T1" fmla="*/ 0 h 119"/>
                <a:gd name="T2" fmla="*/ 0 w 162"/>
                <a:gd name="T3" fmla="*/ 119 h 119"/>
                <a:gd name="T4" fmla="*/ 162 w 162"/>
                <a:gd name="T5" fmla="*/ 119 h 119"/>
                <a:gd name="T6" fmla="*/ 81 w 162"/>
                <a:gd name="T7" fmla="*/ 0 h 119"/>
              </a:gdLst>
              <a:ahLst/>
              <a:cxnLst>
                <a:cxn ang="0">
                  <a:pos x="T0" y="T1"/>
                </a:cxn>
                <a:cxn ang="0">
                  <a:pos x="T2" y="T3"/>
                </a:cxn>
                <a:cxn ang="0">
                  <a:pos x="T4" y="T5"/>
                </a:cxn>
                <a:cxn ang="0">
                  <a:pos x="T6" y="T7"/>
                </a:cxn>
              </a:cxnLst>
              <a:rect l="0" t="0" r="r" b="b"/>
              <a:pathLst>
                <a:path w="162" h="119">
                  <a:moveTo>
                    <a:pt x="81" y="0"/>
                  </a:moveTo>
                  <a:cubicBezTo>
                    <a:pt x="34" y="18"/>
                    <a:pt x="0" y="65"/>
                    <a:pt x="0" y="119"/>
                  </a:cubicBezTo>
                  <a:cubicBezTo>
                    <a:pt x="162" y="119"/>
                    <a:pt x="162" y="119"/>
                    <a:pt x="162" y="119"/>
                  </a:cubicBezTo>
                  <a:cubicBezTo>
                    <a:pt x="162" y="65"/>
                    <a:pt x="129" y="19"/>
                    <a:pt x="81" y="0"/>
                  </a:cubicBez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ru-RU"/>
            </a:p>
          </p:txBody>
        </p:sp>
        <p:sp>
          <p:nvSpPr>
            <p:cNvPr id="65" name="Rectangle: Rounded Corners 64">
              <a:extLst>
                <a:ext uri="{FF2B5EF4-FFF2-40B4-BE49-F238E27FC236}">
                  <a16:creationId xmlns:a16="http://schemas.microsoft.com/office/drawing/2014/main" xmlns="" id="{43E114C1-9EB2-42D7-9DAB-4752DC2098B5}"/>
                </a:ext>
              </a:extLst>
            </p:cNvPr>
            <p:cNvSpPr/>
            <p:nvPr/>
          </p:nvSpPr>
          <p:spPr>
            <a:xfrm>
              <a:off x="776848" y="1953670"/>
              <a:ext cx="10851475" cy="567664"/>
            </a:xfrm>
            <a:prstGeom prst="roundRect">
              <a:avLst>
                <a:gd name="adj" fmla="val 9723"/>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404000" rtlCol="0" anchor="ctr"/>
            <a:lstStyle/>
            <a:p>
              <a:r>
                <a:rPr lang="en-US" sz="2200" b="1" dirty="0">
                  <a:solidFill>
                    <a:schemeClr val="tx1"/>
                  </a:solidFill>
                  <a:effectLst/>
                  <a:latin typeface="Times New Roman" panose="02020603050405020304" pitchFamily="18" charset="0"/>
                  <a:ea typeface="Calibri" panose="020F0502020204030204" pitchFamily="34" charset="0"/>
                </a:rPr>
                <a:t>Toon CEO Guy</a:t>
              </a:r>
              <a:endParaRPr lang="en-IN" sz="2200" b="1" dirty="0">
                <a:solidFill>
                  <a:schemeClr val="tx1"/>
                </a:solidFill>
                <a:latin typeface="Calibri" panose="020F0502020204030204" pitchFamily="34" charset="0"/>
              </a:endParaRPr>
            </a:p>
          </p:txBody>
        </p:sp>
        <p:sp>
          <p:nvSpPr>
            <p:cNvPr id="66" name="Content Placeholder 2">
              <a:extLst>
                <a:ext uri="{FF2B5EF4-FFF2-40B4-BE49-F238E27FC236}">
                  <a16:creationId xmlns:a16="http://schemas.microsoft.com/office/drawing/2014/main" xmlns="" id="{39E31862-C51D-4E8B-A5D4-E1D30B3F36CC}"/>
                </a:ext>
              </a:extLst>
            </p:cNvPr>
            <p:cNvSpPr txBox="1">
              <a:spLocks/>
            </p:cNvSpPr>
            <p:nvPr/>
          </p:nvSpPr>
          <p:spPr>
            <a:xfrm>
              <a:off x="669953" y="3035410"/>
              <a:ext cx="10834234" cy="876039"/>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Nunito"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Nunito"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Nunito"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400"/>
                </a:spcBef>
                <a:spcAft>
                  <a:spcPts val="400"/>
                </a:spcAft>
                <a:buNone/>
              </a:pPr>
              <a:r>
                <a:rPr lang="en-US" sz="2200" dirty="0">
                  <a:latin typeface="+mn-lt"/>
                </a:rPr>
                <a:t>"Toon CEO Guy," a GPT-powered tool, is a valuable asset for startups navigating product and market strategy. It excels in idea generation and market research. This tool extends its support to email marketing campaigns, contributing to effective messaging.  It also helps to brainstorm product names and refine branding strategies. </a:t>
              </a:r>
            </a:p>
            <a:p>
              <a:pPr marL="0" indent="0">
                <a:lnSpc>
                  <a:spcPct val="107000"/>
                </a:lnSpc>
                <a:spcAft>
                  <a:spcPts val="800"/>
                </a:spcAft>
                <a:buNone/>
              </a:pPr>
              <a:r>
                <a:rPr lang="en-US" sz="1800" u="sng" kern="100" dirty="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3"/>
                </a:rPr>
                <a:t>https://chat.openai.com/g/g-zgKvwBkln-toon-ceo-guy</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400"/>
                </a:spcBef>
                <a:spcAft>
                  <a:spcPts val="400"/>
                </a:spcAft>
                <a:buNone/>
              </a:pPr>
              <a:endParaRPr lang="en-US" sz="2200" dirty="0">
                <a:latin typeface="+mn-lt"/>
              </a:endParaRPr>
            </a:p>
          </p:txBody>
        </p:sp>
        <p:sp>
          <p:nvSpPr>
            <p:cNvPr id="67" name="Freeform 7">
              <a:extLst>
                <a:ext uri="{FF2B5EF4-FFF2-40B4-BE49-F238E27FC236}">
                  <a16:creationId xmlns:a16="http://schemas.microsoft.com/office/drawing/2014/main" xmlns="" id="{D2319B01-70EF-40DD-8684-35885369C781}"/>
                </a:ext>
              </a:extLst>
            </p:cNvPr>
            <p:cNvSpPr>
              <a:spLocks/>
            </p:cNvSpPr>
            <p:nvPr/>
          </p:nvSpPr>
          <p:spPr bwMode="auto">
            <a:xfrm>
              <a:off x="871995" y="1659835"/>
              <a:ext cx="1061994" cy="1111971"/>
            </a:xfrm>
            <a:custGeom>
              <a:avLst/>
              <a:gdLst>
                <a:gd name="T0" fmla="*/ 332 w 461"/>
                <a:gd name="T1" fmla="*/ 0 h 482"/>
                <a:gd name="T2" fmla="*/ 88 w 461"/>
                <a:gd name="T3" fmla="*/ 0 h 482"/>
                <a:gd name="T4" fmla="*/ 40 w 461"/>
                <a:gd name="T5" fmla="*/ 9 h 482"/>
                <a:gd name="T6" fmla="*/ 0 w 461"/>
                <a:gd name="T7" fmla="*/ 35 h 482"/>
                <a:gd name="T8" fmla="*/ 81 w 461"/>
                <a:gd name="T9" fmla="*/ 35 h 482"/>
                <a:gd name="T10" fmla="*/ 121 w 461"/>
                <a:gd name="T11" fmla="*/ 128 h 482"/>
                <a:gd name="T12" fmla="*/ 121 w 461"/>
                <a:gd name="T13" fmla="*/ 311 h 482"/>
                <a:gd name="T14" fmla="*/ 121 w 461"/>
                <a:gd name="T15" fmla="*/ 312 h 482"/>
                <a:gd name="T16" fmla="*/ 291 w 461"/>
                <a:gd name="T17" fmla="*/ 482 h 482"/>
                <a:gd name="T18" fmla="*/ 461 w 461"/>
                <a:gd name="T19" fmla="*/ 312 h 482"/>
                <a:gd name="T20" fmla="*/ 461 w 461"/>
                <a:gd name="T21" fmla="*/ 312 h 482"/>
                <a:gd name="T22" fmla="*/ 461 w 461"/>
                <a:gd name="T23" fmla="*/ 128 h 482"/>
                <a:gd name="T24" fmla="*/ 332 w 461"/>
                <a:gd name="T25" fmla="*/ 0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 h="482">
                  <a:moveTo>
                    <a:pt x="332" y="0"/>
                  </a:moveTo>
                  <a:cubicBezTo>
                    <a:pt x="88" y="0"/>
                    <a:pt x="88" y="0"/>
                    <a:pt x="88" y="0"/>
                  </a:cubicBezTo>
                  <a:cubicBezTo>
                    <a:pt x="71" y="0"/>
                    <a:pt x="55" y="3"/>
                    <a:pt x="40" y="9"/>
                  </a:cubicBezTo>
                  <a:cubicBezTo>
                    <a:pt x="25" y="15"/>
                    <a:pt x="11" y="24"/>
                    <a:pt x="0" y="35"/>
                  </a:cubicBezTo>
                  <a:cubicBezTo>
                    <a:pt x="22" y="13"/>
                    <a:pt x="58" y="13"/>
                    <a:pt x="81" y="35"/>
                  </a:cubicBezTo>
                  <a:cubicBezTo>
                    <a:pt x="106" y="58"/>
                    <a:pt x="121" y="91"/>
                    <a:pt x="121" y="128"/>
                  </a:cubicBezTo>
                  <a:cubicBezTo>
                    <a:pt x="121" y="311"/>
                    <a:pt x="121" y="311"/>
                    <a:pt x="121" y="311"/>
                  </a:cubicBezTo>
                  <a:cubicBezTo>
                    <a:pt x="121" y="311"/>
                    <a:pt x="121" y="311"/>
                    <a:pt x="121" y="312"/>
                  </a:cubicBezTo>
                  <a:cubicBezTo>
                    <a:pt x="121" y="405"/>
                    <a:pt x="197" y="482"/>
                    <a:pt x="291" y="482"/>
                  </a:cubicBezTo>
                  <a:cubicBezTo>
                    <a:pt x="385" y="482"/>
                    <a:pt x="461" y="405"/>
                    <a:pt x="461" y="312"/>
                  </a:cubicBezTo>
                  <a:cubicBezTo>
                    <a:pt x="461" y="312"/>
                    <a:pt x="461" y="312"/>
                    <a:pt x="461" y="312"/>
                  </a:cubicBezTo>
                  <a:cubicBezTo>
                    <a:pt x="461" y="128"/>
                    <a:pt x="461" y="128"/>
                    <a:pt x="461" y="128"/>
                  </a:cubicBezTo>
                  <a:cubicBezTo>
                    <a:pt x="461" y="57"/>
                    <a:pt x="403" y="0"/>
                    <a:pt x="332"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ru-RU"/>
            </a:p>
          </p:txBody>
        </p:sp>
        <p:sp>
          <p:nvSpPr>
            <p:cNvPr id="68" name="Oval 8">
              <a:extLst>
                <a:ext uri="{FF2B5EF4-FFF2-40B4-BE49-F238E27FC236}">
                  <a16:creationId xmlns:a16="http://schemas.microsoft.com/office/drawing/2014/main" xmlns="" id="{4553789C-B742-4422-B16A-02EE1D46D518}"/>
                </a:ext>
              </a:extLst>
            </p:cNvPr>
            <p:cNvSpPr>
              <a:spLocks noChangeArrowheads="1"/>
            </p:cNvSpPr>
            <p:nvPr/>
          </p:nvSpPr>
          <p:spPr bwMode="auto">
            <a:xfrm>
              <a:off x="1215101" y="2051956"/>
              <a:ext cx="654496" cy="652574"/>
            </a:xfrm>
            <a:prstGeom prst="ellipse">
              <a:avLst/>
            </a:prstGeom>
            <a:solidFill>
              <a:schemeClr val="bg2"/>
            </a:solidFill>
            <a:ln>
              <a:noFill/>
            </a:ln>
          </p:spPr>
          <p:txBody>
            <a:bodyPr vert="horz" wrap="square" lIns="91440" tIns="45720" rIns="91440" bIns="45720" numCol="1" anchor="t" anchorCtr="0" compatLnSpc="1">
              <a:prstTxWarp prst="textNoShape">
                <a:avLst/>
              </a:prstTxWarp>
            </a:bodyPr>
            <a:lstStyle/>
            <a:p>
              <a:endParaRPr lang="ru-RU"/>
            </a:p>
          </p:txBody>
        </p:sp>
        <p:grpSp>
          <p:nvGrpSpPr>
            <p:cNvPr id="69" name="Shape 7784">
              <a:extLst>
                <a:ext uri="{FF2B5EF4-FFF2-40B4-BE49-F238E27FC236}">
                  <a16:creationId xmlns:a16="http://schemas.microsoft.com/office/drawing/2014/main" xmlns="" id="{A83C8329-B3F8-4627-AFF3-2B31560B6F78}"/>
                </a:ext>
              </a:extLst>
            </p:cNvPr>
            <p:cNvGrpSpPr/>
            <p:nvPr/>
          </p:nvGrpSpPr>
          <p:grpSpPr>
            <a:xfrm>
              <a:off x="1389773" y="2214880"/>
              <a:ext cx="330464" cy="352116"/>
              <a:chOff x="5538788" y="2417763"/>
              <a:chExt cx="557213" cy="593725"/>
            </a:xfrm>
            <a:solidFill>
              <a:schemeClr val="tx1"/>
            </a:solidFill>
          </p:grpSpPr>
          <p:sp>
            <p:nvSpPr>
              <p:cNvPr id="70" name="Shape 7785">
                <a:extLst>
                  <a:ext uri="{FF2B5EF4-FFF2-40B4-BE49-F238E27FC236}">
                    <a16:creationId xmlns:a16="http://schemas.microsoft.com/office/drawing/2014/main" xmlns="" id="{B8467F13-F754-4938-B0CD-CC286DFFEA9C}"/>
                  </a:ext>
                </a:extLst>
              </p:cNvPr>
              <p:cNvSpPr/>
              <p:nvPr/>
            </p:nvSpPr>
            <p:spPr>
              <a:xfrm>
                <a:off x="5538788" y="2727325"/>
                <a:ext cx="188913" cy="284162"/>
              </a:xfrm>
              <a:custGeom>
                <a:avLst/>
                <a:gdLst/>
                <a:ahLst/>
                <a:cxnLst/>
                <a:rect l="0" t="0" r="0" b="0"/>
                <a:pathLst>
                  <a:path w="160" h="242" extrusionOk="0">
                    <a:moveTo>
                      <a:pt x="0" y="233"/>
                    </a:moveTo>
                    <a:cubicBezTo>
                      <a:pt x="0" y="238"/>
                      <a:pt x="4" y="242"/>
                      <a:pt x="9" y="242"/>
                    </a:cubicBezTo>
                    <a:cubicBezTo>
                      <a:pt x="151" y="242"/>
                      <a:pt x="151" y="242"/>
                      <a:pt x="151" y="242"/>
                    </a:cubicBezTo>
                    <a:cubicBezTo>
                      <a:pt x="156" y="242"/>
                      <a:pt x="160" y="238"/>
                      <a:pt x="160" y="233"/>
                    </a:cubicBezTo>
                    <a:cubicBezTo>
                      <a:pt x="160" y="0"/>
                      <a:pt x="160" y="0"/>
                      <a:pt x="160" y="0"/>
                    </a:cubicBezTo>
                    <a:cubicBezTo>
                      <a:pt x="0" y="0"/>
                      <a:pt x="0" y="0"/>
                      <a:pt x="0" y="0"/>
                    </a:cubicBezTo>
                    <a:lnTo>
                      <a:pt x="0" y="233"/>
                    </a:lnTo>
                    <a:close/>
                    <a:moveTo>
                      <a:pt x="80" y="227"/>
                    </a:moveTo>
                    <a:cubicBezTo>
                      <a:pt x="71" y="227"/>
                      <a:pt x="63" y="220"/>
                      <a:pt x="63" y="210"/>
                    </a:cubicBezTo>
                    <a:cubicBezTo>
                      <a:pt x="63" y="200"/>
                      <a:pt x="71" y="192"/>
                      <a:pt x="80" y="192"/>
                    </a:cubicBezTo>
                    <a:cubicBezTo>
                      <a:pt x="90" y="192"/>
                      <a:pt x="98" y="200"/>
                      <a:pt x="98" y="210"/>
                    </a:cubicBezTo>
                    <a:cubicBezTo>
                      <a:pt x="98" y="220"/>
                      <a:pt x="90" y="227"/>
                      <a:pt x="80" y="227"/>
                    </a:cubicBezTo>
                    <a:close/>
                    <a:moveTo>
                      <a:pt x="73" y="175"/>
                    </a:moveTo>
                    <a:cubicBezTo>
                      <a:pt x="73" y="171"/>
                      <a:pt x="76" y="167"/>
                      <a:pt x="80" y="167"/>
                    </a:cubicBezTo>
                    <a:cubicBezTo>
                      <a:pt x="85" y="167"/>
                      <a:pt x="88" y="171"/>
                      <a:pt x="88" y="175"/>
                    </a:cubicBezTo>
                    <a:cubicBezTo>
                      <a:pt x="88" y="179"/>
                      <a:pt x="85" y="183"/>
                      <a:pt x="80" y="183"/>
                    </a:cubicBezTo>
                    <a:cubicBezTo>
                      <a:pt x="76" y="183"/>
                      <a:pt x="73" y="179"/>
                      <a:pt x="73" y="175"/>
                    </a:cubicBezTo>
                    <a:close/>
                    <a:moveTo>
                      <a:pt x="29" y="12"/>
                    </a:moveTo>
                    <a:cubicBezTo>
                      <a:pt x="131" y="12"/>
                      <a:pt x="131" y="12"/>
                      <a:pt x="131" y="12"/>
                    </a:cubicBezTo>
                    <a:cubicBezTo>
                      <a:pt x="131" y="33"/>
                      <a:pt x="131" y="33"/>
                      <a:pt x="131" y="33"/>
                    </a:cubicBezTo>
                    <a:cubicBezTo>
                      <a:pt x="29" y="33"/>
                      <a:pt x="29" y="33"/>
                      <a:pt x="29" y="33"/>
                    </a:cubicBezTo>
                    <a:lnTo>
                      <a:pt x="29" y="12"/>
                    </a:lnTo>
                    <a:close/>
                    <a:moveTo>
                      <a:pt x="29" y="43"/>
                    </a:moveTo>
                    <a:cubicBezTo>
                      <a:pt x="131" y="43"/>
                      <a:pt x="131" y="43"/>
                      <a:pt x="131" y="43"/>
                    </a:cubicBezTo>
                    <a:cubicBezTo>
                      <a:pt x="131" y="64"/>
                      <a:pt x="131" y="64"/>
                      <a:pt x="131" y="64"/>
                    </a:cubicBezTo>
                    <a:cubicBezTo>
                      <a:pt x="29" y="64"/>
                      <a:pt x="29" y="64"/>
                      <a:pt x="29" y="64"/>
                    </a:cubicBezTo>
                    <a:lnTo>
                      <a:pt x="29" y="43"/>
                    </a:lnTo>
                    <a:close/>
                    <a:moveTo>
                      <a:pt x="29" y="73"/>
                    </a:moveTo>
                    <a:cubicBezTo>
                      <a:pt x="131" y="73"/>
                      <a:pt x="131" y="73"/>
                      <a:pt x="131" y="73"/>
                    </a:cubicBezTo>
                    <a:cubicBezTo>
                      <a:pt x="131" y="94"/>
                      <a:pt x="131" y="94"/>
                      <a:pt x="131" y="94"/>
                    </a:cubicBezTo>
                    <a:cubicBezTo>
                      <a:pt x="29" y="94"/>
                      <a:pt x="29" y="94"/>
                      <a:pt x="29" y="94"/>
                    </a:cubicBezTo>
                    <a:lnTo>
                      <a:pt x="29" y="73"/>
                    </a:lnTo>
                    <a:close/>
                    <a:moveTo>
                      <a:pt x="29" y="104"/>
                    </a:moveTo>
                    <a:cubicBezTo>
                      <a:pt x="131" y="104"/>
                      <a:pt x="131" y="104"/>
                      <a:pt x="131" y="104"/>
                    </a:cubicBezTo>
                    <a:cubicBezTo>
                      <a:pt x="131" y="125"/>
                      <a:pt x="131" y="125"/>
                      <a:pt x="131" y="125"/>
                    </a:cubicBezTo>
                    <a:cubicBezTo>
                      <a:pt x="29" y="125"/>
                      <a:pt x="29" y="125"/>
                      <a:pt x="29" y="125"/>
                    </a:cubicBezTo>
                    <a:lnTo>
                      <a:pt x="29" y="104"/>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71" name="Shape 7786">
                <a:extLst>
                  <a:ext uri="{FF2B5EF4-FFF2-40B4-BE49-F238E27FC236}">
                    <a16:creationId xmlns:a16="http://schemas.microsoft.com/office/drawing/2014/main" xmlns="" id="{43C1EED4-1256-44D1-9FFF-6FC3164884E1}"/>
                  </a:ext>
                </a:extLst>
              </p:cNvPr>
              <p:cNvSpPr/>
              <p:nvPr/>
            </p:nvSpPr>
            <p:spPr>
              <a:xfrm>
                <a:off x="5538788" y="2651125"/>
                <a:ext cx="188913" cy="63500"/>
              </a:xfrm>
              <a:custGeom>
                <a:avLst/>
                <a:gdLst/>
                <a:ahLst/>
                <a:cxnLst/>
                <a:rect l="0" t="0" r="0" b="0"/>
                <a:pathLst>
                  <a:path w="160" h="55" extrusionOk="0">
                    <a:moveTo>
                      <a:pt x="151" y="0"/>
                    </a:moveTo>
                    <a:cubicBezTo>
                      <a:pt x="9" y="0"/>
                      <a:pt x="9" y="0"/>
                      <a:pt x="9" y="0"/>
                    </a:cubicBezTo>
                    <a:cubicBezTo>
                      <a:pt x="4" y="0"/>
                      <a:pt x="0" y="4"/>
                      <a:pt x="0" y="9"/>
                    </a:cubicBezTo>
                    <a:cubicBezTo>
                      <a:pt x="0" y="55"/>
                      <a:pt x="0" y="55"/>
                      <a:pt x="0" y="55"/>
                    </a:cubicBezTo>
                    <a:cubicBezTo>
                      <a:pt x="160" y="55"/>
                      <a:pt x="160" y="55"/>
                      <a:pt x="160" y="55"/>
                    </a:cubicBezTo>
                    <a:cubicBezTo>
                      <a:pt x="160" y="9"/>
                      <a:pt x="160" y="9"/>
                      <a:pt x="160" y="9"/>
                    </a:cubicBezTo>
                    <a:cubicBezTo>
                      <a:pt x="160" y="4"/>
                      <a:pt x="156" y="0"/>
                      <a:pt x="151" y="0"/>
                    </a:cubicBezTo>
                    <a:close/>
                    <a:moveTo>
                      <a:pt x="43" y="43"/>
                    </a:moveTo>
                    <a:cubicBezTo>
                      <a:pt x="36" y="43"/>
                      <a:pt x="30" y="37"/>
                      <a:pt x="30" y="30"/>
                    </a:cubicBezTo>
                    <a:cubicBezTo>
                      <a:pt x="30" y="22"/>
                      <a:pt x="36" y="16"/>
                      <a:pt x="43" y="16"/>
                    </a:cubicBezTo>
                    <a:cubicBezTo>
                      <a:pt x="51" y="16"/>
                      <a:pt x="57" y="22"/>
                      <a:pt x="57" y="30"/>
                    </a:cubicBezTo>
                    <a:cubicBezTo>
                      <a:pt x="57" y="37"/>
                      <a:pt x="51" y="43"/>
                      <a:pt x="43" y="43"/>
                    </a:cubicBezTo>
                    <a:close/>
                    <a:moveTo>
                      <a:pt x="131" y="38"/>
                    </a:moveTo>
                    <a:cubicBezTo>
                      <a:pt x="68" y="38"/>
                      <a:pt x="68" y="38"/>
                      <a:pt x="68" y="38"/>
                    </a:cubicBezTo>
                    <a:cubicBezTo>
                      <a:pt x="68" y="22"/>
                      <a:pt x="68" y="22"/>
                      <a:pt x="68" y="22"/>
                    </a:cubicBezTo>
                    <a:cubicBezTo>
                      <a:pt x="131" y="22"/>
                      <a:pt x="131" y="22"/>
                      <a:pt x="131" y="22"/>
                    </a:cubicBezTo>
                    <a:lnTo>
                      <a:pt x="131" y="38"/>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72" name="Shape 7787">
                <a:extLst>
                  <a:ext uri="{FF2B5EF4-FFF2-40B4-BE49-F238E27FC236}">
                    <a16:creationId xmlns:a16="http://schemas.microsoft.com/office/drawing/2014/main" xmlns="" id="{74367297-DC09-49B1-B183-CD25D5196A3D}"/>
                  </a:ext>
                </a:extLst>
              </p:cNvPr>
              <p:cNvSpPr/>
              <p:nvPr/>
            </p:nvSpPr>
            <p:spPr>
              <a:xfrm>
                <a:off x="6013450" y="2990850"/>
                <a:ext cx="28575" cy="20637"/>
              </a:xfrm>
              <a:custGeom>
                <a:avLst/>
                <a:gdLst/>
                <a:ahLst/>
                <a:cxnLst/>
                <a:rect l="0" t="0" r="0" b="0"/>
                <a:pathLst>
                  <a:path w="24" h="18" extrusionOk="0">
                    <a:moveTo>
                      <a:pt x="1" y="4"/>
                    </a:moveTo>
                    <a:cubicBezTo>
                      <a:pt x="0" y="4"/>
                      <a:pt x="0" y="4"/>
                      <a:pt x="0" y="4"/>
                    </a:cubicBezTo>
                    <a:cubicBezTo>
                      <a:pt x="0" y="18"/>
                      <a:pt x="0" y="18"/>
                      <a:pt x="0" y="18"/>
                    </a:cubicBezTo>
                    <a:cubicBezTo>
                      <a:pt x="1" y="18"/>
                      <a:pt x="1" y="18"/>
                      <a:pt x="1" y="18"/>
                    </a:cubicBezTo>
                    <a:cubicBezTo>
                      <a:pt x="9" y="18"/>
                      <a:pt x="17" y="16"/>
                      <a:pt x="24" y="12"/>
                    </a:cubicBezTo>
                    <a:cubicBezTo>
                      <a:pt x="17" y="0"/>
                      <a:pt x="17" y="0"/>
                      <a:pt x="17" y="0"/>
                    </a:cubicBezTo>
                    <a:cubicBezTo>
                      <a:pt x="12" y="3"/>
                      <a:pt x="6" y="4"/>
                      <a:pt x="1" y="4"/>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73" name="Shape 7788">
                <a:extLst>
                  <a:ext uri="{FF2B5EF4-FFF2-40B4-BE49-F238E27FC236}">
                    <a16:creationId xmlns:a16="http://schemas.microsoft.com/office/drawing/2014/main" xmlns="" id="{E5D1840A-9F75-4107-A01C-3954AC002B84}"/>
                  </a:ext>
                </a:extLst>
              </p:cNvPr>
              <p:cNvSpPr/>
              <p:nvPr/>
            </p:nvSpPr>
            <p:spPr>
              <a:xfrm>
                <a:off x="5964238" y="299561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74" name="Shape 7789">
                <a:extLst>
                  <a:ext uri="{FF2B5EF4-FFF2-40B4-BE49-F238E27FC236}">
                    <a16:creationId xmlns:a16="http://schemas.microsoft.com/office/drawing/2014/main" xmlns="" id="{E2FD6BFB-6A19-4A90-81C4-56649F44B1C4}"/>
                  </a:ext>
                </a:extLst>
              </p:cNvPr>
              <p:cNvSpPr/>
              <p:nvPr/>
            </p:nvSpPr>
            <p:spPr>
              <a:xfrm>
                <a:off x="5913438" y="2995613"/>
                <a:ext cx="23813"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75" name="Shape 7790">
                <a:extLst>
                  <a:ext uri="{FF2B5EF4-FFF2-40B4-BE49-F238E27FC236}">
                    <a16:creationId xmlns:a16="http://schemas.microsoft.com/office/drawing/2014/main" xmlns="" id="{D0144CBE-385C-4735-94C5-531B30CC324F}"/>
                  </a:ext>
                </a:extLst>
              </p:cNvPr>
              <p:cNvSpPr/>
              <p:nvPr/>
            </p:nvSpPr>
            <p:spPr>
              <a:xfrm>
                <a:off x="5862638" y="299561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76" name="Shape 7791">
                <a:extLst>
                  <a:ext uri="{FF2B5EF4-FFF2-40B4-BE49-F238E27FC236}">
                    <a16:creationId xmlns:a16="http://schemas.microsoft.com/office/drawing/2014/main" xmlns="" id="{19E33BC3-CB89-4691-AB4F-716AEDA4202C}"/>
                  </a:ext>
                </a:extLst>
              </p:cNvPr>
              <p:cNvSpPr/>
              <p:nvPr/>
            </p:nvSpPr>
            <p:spPr>
              <a:xfrm>
                <a:off x="5807075" y="2995613"/>
                <a:ext cx="23813"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77" name="Shape 7792">
                <a:extLst>
                  <a:ext uri="{FF2B5EF4-FFF2-40B4-BE49-F238E27FC236}">
                    <a16:creationId xmlns:a16="http://schemas.microsoft.com/office/drawing/2014/main" xmlns="" id="{163F030B-57F7-48AD-9F0F-281F87252800}"/>
                  </a:ext>
                </a:extLst>
              </p:cNvPr>
              <p:cNvSpPr/>
              <p:nvPr/>
            </p:nvSpPr>
            <p:spPr>
              <a:xfrm>
                <a:off x="5753100" y="299561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78" name="Shape 7793">
                <a:extLst>
                  <a:ext uri="{FF2B5EF4-FFF2-40B4-BE49-F238E27FC236}">
                    <a16:creationId xmlns:a16="http://schemas.microsoft.com/office/drawing/2014/main" xmlns="" id="{1BFBD7D1-0096-4D0E-9F0C-1048DFAA748E}"/>
                  </a:ext>
                </a:extLst>
              </p:cNvPr>
              <p:cNvSpPr/>
              <p:nvPr/>
            </p:nvSpPr>
            <p:spPr>
              <a:xfrm>
                <a:off x="6048375" y="2955925"/>
                <a:ext cx="22225" cy="28575"/>
              </a:xfrm>
              <a:custGeom>
                <a:avLst/>
                <a:gdLst/>
                <a:ahLst/>
                <a:cxnLst/>
                <a:rect l="0" t="0" r="0" b="0"/>
                <a:pathLst>
                  <a:path w="19" h="24" extrusionOk="0">
                    <a:moveTo>
                      <a:pt x="0" y="17"/>
                    </a:moveTo>
                    <a:cubicBezTo>
                      <a:pt x="12" y="24"/>
                      <a:pt x="12" y="24"/>
                      <a:pt x="12" y="24"/>
                    </a:cubicBezTo>
                    <a:cubicBezTo>
                      <a:pt x="17" y="17"/>
                      <a:pt x="19" y="9"/>
                      <a:pt x="19" y="0"/>
                    </a:cubicBezTo>
                    <a:cubicBezTo>
                      <a:pt x="6" y="0"/>
                      <a:pt x="6" y="0"/>
                      <a:pt x="6" y="0"/>
                    </a:cubicBezTo>
                    <a:cubicBezTo>
                      <a:pt x="5" y="6"/>
                      <a:pt x="3" y="12"/>
                      <a:pt x="0" y="17"/>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79" name="Shape 7794">
                <a:extLst>
                  <a:ext uri="{FF2B5EF4-FFF2-40B4-BE49-F238E27FC236}">
                    <a16:creationId xmlns:a16="http://schemas.microsoft.com/office/drawing/2014/main" xmlns="" id="{3982DA7A-DFC2-433F-AA7A-12EF4C80C3CC}"/>
                  </a:ext>
                </a:extLst>
              </p:cNvPr>
              <p:cNvSpPr/>
              <p:nvPr/>
            </p:nvSpPr>
            <p:spPr>
              <a:xfrm>
                <a:off x="6056313" y="2906713"/>
                <a:ext cx="15875" cy="23812"/>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80" name="Shape 7795">
                <a:extLst>
                  <a:ext uri="{FF2B5EF4-FFF2-40B4-BE49-F238E27FC236}">
                    <a16:creationId xmlns:a16="http://schemas.microsoft.com/office/drawing/2014/main" xmlns="" id="{930A73D0-8F39-417B-BC1D-1BAD811AA919}"/>
                  </a:ext>
                </a:extLst>
              </p:cNvPr>
              <p:cNvSpPr/>
              <p:nvPr/>
            </p:nvSpPr>
            <p:spPr>
              <a:xfrm>
                <a:off x="6030913" y="2820988"/>
                <a:ext cx="65088" cy="57150"/>
              </a:xfrm>
              <a:custGeom>
                <a:avLst/>
                <a:gdLst/>
                <a:ahLst/>
                <a:cxnLst/>
                <a:rect l="0" t="0" r="0" b="0"/>
                <a:pathLst>
                  <a:path w="41" h="36" extrusionOk="0">
                    <a:moveTo>
                      <a:pt x="0" y="36"/>
                    </a:moveTo>
                    <a:lnTo>
                      <a:pt x="41" y="36"/>
                    </a:lnTo>
                    <a:lnTo>
                      <a:pt x="21" y="0"/>
                    </a:lnTo>
                    <a:lnTo>
                      <a:pt x="0" y="36"/>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81" name="Shape 7796">
                <a:extLst>
                  <a:ext uri="{FF2B5EF4-FFF2-40B4-BE49-F238E27FC236}">
                    <a16:creationId xmlns:a16="http://schemas.microsoft.com/office/drawing/2014/main" xmlns="" id="{7383D49F-BBC1-4784-AA89-18C823290E54}"/>
                  </a:ext>
                </a:extLst>
              </p:cNvPr>
              <p:cNvSpPr/>
              <p:nvPr/>
            </p:nvSpPr>
            <p:spPr>
              <a:xfrm>
                <a:off x="5908675" y="2495550"/>
                <a:ext cx="187325" cy="282575"/>
              </a:xfrm>
              <a:custGeom>
                <a:avLst/>
                <a:gdLst/>
                <a:ahLst/>
                <a:cxnLst/>
                <a:rect l="0" t="0" r="0" b="0"/>
                <a:pathLst>
                  <a:path w="160" h="242" extrusionOk="0">
                    <a:moveTo>
                      <a:pt x="0" y="233"/>
                    </a:moveTo>
                    <a:cubicBezTo>
                      <a:pt x="0" y="238"/>
                      <a:pt x="4" y="242"/>
                      <a:pt x="9" y="242"/>
                    </a:cubicBezTo>
                    <a:cubicBezTo>
                      <a:pt x="151" y="242"/>
                      <a:pt x="151" y="242"/>
                      <a:pt x="151" y="242"/>
                    </a:cubicBezTo>
                    <a:cubicBezTo>
                      <a:pt x="156" y="242"/>
                      <a:pt x="160" y="238"/>
                      <a:pt x="160" y="233"/>
                    </a:cubicBezTo>
                    <a:cubicBezTo>
                      <a:pt x="160" y="0"/>
                      <a:pt x="160" y="0"/>
                      <a:pt x="160" y="0"/>
                    </a:cubicBezTo>
                    <a:cubicBezTo>
                      <a:pt x="0" y="0"/>
                      <a:pt x="0" y="0"/>
                      <a:pt x="0" y="0"/>
                    </a:cubicBezTo>
                    <a:lnTo>
                      <a:pt x="0" y="233"/>
                    </a:lnTo>
                    <a:close/>
                    <a:moveTo>
                      <a:pt x="80" y="227"/>
                    </a:moveTo>
                    <a:cubicBezTo>
                      <a:pt x="71" y="227"/>
                      <a:pt x="63" y="220"/>
                      <a:pt x="63" y="210"/>
                    </a:cubicBezTo>
                    <a:cubicBezTo>
                      <a:pt x="63" y="200"/>
                      <a:pt x="71" y="192"/>
                      <a:pt x="80" y="192"/>
                    </a:cubicBezTo>
                    <a:cubicBezTo>
                      <a:pt x="90" y="192"/>
                      <a:pt x="98" y="200"/>
                      <a:pt x="98" y="210"/>
                    </a:cubicBezTo>
                    <a:cubicBezTo>
                      <a:pt x="98" y="220"/>
                      <a:pt x="90" y="227"/>
                      <a:pt x="80" y="227"/>
                    </a:cubicBezTo>
                    <a:close/>
                    <a:moveTo>
                      <a:pt x="72" y="175"/>
                    </a:moveTo>
                    <a:cubicBezTo>
                      <a:pt x="72" y="171"/>
                      <a:pt x="76" y="167"/>
                      <a:pt x="80" y="167"/>
                    </a:cubicBezTo>
                    <a:cubicBezTo>
                      <a:pt x="85" y="167"/>
                      <a:pt x="88" y="171"/>
                      <a:pt x="88" y="175"/>
                    </a:cubicBezTo>
                    <a:cubicBezTo>
                      <a:pt x="88" y="179"/>
                      <a:pt x="85" y="183"/>
                      <a:pt x="80" y="183"/>
                    </a:cubicBezTo>
                    <a:cubicBezTo>
                      <a:pt x="76" y="183"/>
                      <a:pt x="72" y="179"/>
                      <a:pt x="72" y="175"/>
                    </a:cubicBezTo>
                    <a:close/>
                    <a:moveTo>
                      <a:pt x="29" y="12"/>
                    </a:moveTo>
                    <a:cubicBezTo>
                      <a:pt x="131" y="12"/>
                      <a:pt x="131" y="12"/>
                      <a:pt x="131" y="12"/>
                    </a:cubicBezTo>
                    <a:cubicBezTo>
                      <a:pt x="131" y="33"/>
                      <a:pt x="131" y="33"/>
                      <a:pt x="131" y="33"/>
                    </a:cubicBezTo>
                    <a:cubicBezTo>
                      <a:pt x="29" y="33"/>
                      <a:pt x="29" y="33"/>
                      <a:pt x="29" y="33"/>
                    </a:cubicBezTo>
                    <a:lnTo>
                      <a:pt x="29" y="12"/>
                    </a:lnTo>
                    <a:close/>
                    <a:moveTo>
                      <a:pt x="29" y="43"/>
                    </a:moveTo>
                    <a:cubicBezTo>
                      <a:pt x="131" y="43"/>
                      <a:pt x="131" y="43"/>
                      <a:pt x="131" y="43"/>
                    </a:cubicBezTo>
                    <a:cubicBezTo>
                      <a:pt x="131" y="64"/>
                      <a:pt x="131" y="64"/>
                      <a:pt x="131" y="64"/>
                    </a:cubicBezTo>
                    <a:cubicBezTo>
                      <a:pt x="29" y="64"/>
                      <a:pt x="29" y="64"/>
                      <a:pt x="29" y="64"/>
                    </a:cubicBezTo>
                    <a:lnTo>
                      <a:pt x="29" y="43"/>
                    </a:lnTo>
                    <a:close/>
                    <a:moveTo>
                      <a:pt x="29" y="73"/>
                    </a:moveTo>
                    <a:cubicBezTo>
                      <a:pt x="131" y="73"/>
                      <a:pt x="131" y="73"/>
                      <a:pt x="131" y="73"/>
                    </a:cubicBezTo>
                    <a:cubicBezTo>
                      <a:pt x="131" y="94"/>
                      <a:pt x="131" y="94"/>
                      <a:pt x="131" y="94"/>
                    </a:cubicBezTo>
                    <a:cubicBezTo>
                      <a:pt x="29" y="94"/>
                      <a:pt x="29" y="94"/>
                      <a:pt x="29" y="94"/>
                    </a:cubicBezTo>
                    <a:lnTo>
                      <a:pt x="29" y="73"/>
                    </a:lnTo>
                    <a:close/>
                    <a:moveTo>
                      <a:pt x="29" y="104"/>
                    </a:moveTo>
                    <a:cubicBezTo>
                      <a:pt x="131" y="104"/>
                      <a:pt x="131" y="104"/>
                      <a:pt x="131" y="104"/>
                    </a:cubicBezTo>
                    <a:cubicBezTo>
                      <a:pt x="131" y="125"/>
                      <a:pt x="131" y="125"/>
                      <a:pt x="131" y="125"/>
                    </a:cubicBezTo>
                    <a:cubicBezTo>
                      <a:pt x="29" y="125"/>
                      <a:pt x="29" y="125"/>
                      <a:pt x="29" y="125"/>
                    </a:cubicBezTo>
                    <a:lnTo>
                      <a:pt x="29" y="104"/>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82" name="Shape 7797">
                <a:extLst>
                  <a:ext uri="{FF2B5EF4-FFF2-40B4-BE49-F238E27FC236}">
                    <a16:creationId xmlns:a16="http://schemas.microsoft.com/office/drawing/2014/main" xmlns="" id="{1AE46AD4-E08F-4458-9E3C-759E506415D6}"/>
                  </a:ext>
                </a:extLst>
              </p:cNvPr>
              <p:cNvSpPr/>
              <p:nvPr/>
            </p:nvSpPr>
            <p:spPr>
              <a:xfrm>
                <a:off x="5908675" y="2417763"/>
                <a:ext cx="187325" cy="65087"/>
              </a:xfrm>
              <a:custGeom>
                <a:avLst/>
                <a:gdLst/>
                <a:ahLst/>
                <a:cxnLst/>
                <a:rect l="0" t="0" r="0" b="0"/>
                <a:pathLst>
                  <a:path w="160" h="55" extrusionOk="0">
                    <a:moveTo>
                      <a:pt x="151" y="0"/>
                    </a:moveTo>
                    <a:cubicBezTo>
                      <a:pt x="9" y="0"/>
                      <a:pt x="9" y="0"/>
                      <a:pt x="9" y="0"/>
                    </a:cubicBezTo>
                    <a:cubicBezTo>
                      <a:pt x="4" y="0"/>
                      <a:pt x="0" y="4"/>
                      <a:pt x="0" y="9"/>
                    </a:cubicBezTo>
                    <a:cubicBezTo>
                      <a:pt x="0" y="55"/>
                      <a:pt x="0" y="55"/>
                      <a:pt x="0" y="55"/>
                    </a:cubicBezTo>
                    <a:cubicBezTo>
                      <a:pt x="160" y="55"/>
                      <a:pt x="160" y="55"/>
                      <a:pt x="160" y="55"/>
                    </a:cubicBezTo>
                    <a:cubicBezTo>
                      <a:pt x="160" y="9"/>
                      <a:pt x="160" y="9"/>
                      <a:pt x="160" y="9"/>
                    </a:cubicBezTo>
                    <a:cubicBezTo>
                      <a:pt x="160" y="4"/>
                      <a:pt x="156" y="0"/>
                      <a:pt x="151" y="0"/>
                    </a:cubicBezTo>
                    <a:close/>
                    <a:moveTo>
                      <a:pt x="93" y="38"/>
                    </a:moveTo>
                    <a:cubicBezTo>
                      <a:pt x="29" y="38"/>
                      <a:pt x="29" y="38"/>
                      <a:pt x="29" y="38"/>
                    </a:cubicBezTo>
                    <a:cubicBezTo>
                      <a:pt x="29" y="22"/>
                      <a:pt x="29" y="22"/>
                      <a:pt x="29" y="22"/>
                    </a:cubicBezTo>
                    <a:cubicBezTo>
                      <a:pt x="93" y="22"/>
                      <a:pt x="93" y="22"/>
                      <a:pt x="93" y="22"/>
                    </a:cubicBezTo>
                    <a:lnTo>
                      <a:pt x="93" y="38"/>
                    </a:lnTo>
                    <a:close/>
                    <a:moveTo>
                      <a:pt x="117" y="43"/>
                    </a:moveTo>
                    <a:cubicBezTo>
                      <a:pt x="110" y="43"/>
                      <a:pt x="104" y="37"/>
                      <a:pt x="104" y="30"/>
                    </a:cubicBezTo>
                    <a:cubicBezTo>
                      <a:pt x="104" y="22"/>
                      <a:pt x="110" y="16"/>
                      <a:pt x="117" y="16"/>
                    </a:cubicBezTo>
                    <a:cubicBezTo>
                      <a:pt x="125" y="16"/>
                      <a:pt x="131" y="22"/>
                      <a:pt x="131" y="30"/>
                    </a:cubicBezTo>
                    <a:cubicBezTo>
                      <a:pt x="131" y="37"/>
                      <a:pt x="125" y="43"/>
                      <a:pt x="117" y="43"/>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83" name="Shape 7798">
                <a:extLst>
                  <a:ext uri="{FF2B5EF4-FFF2-40B4-BE49-F238E27FC236}">
                    <a16:creationId xmlns:a16="http://schemas.microsoft.com/office/drawing/2014/main" xmlns="" id="{1D73D8E3-ABB3-4DCD-926B-4887638BD266}"/>
                  </a:ext>
                </a:extLst>
              </p:cNvPr>
              <p:cNvSpPr/>
              <p:nvPr/>
            </p:nvSpPr>
            <p:spPr>
              <a:xfrm>
                <a:off x="5592763" y="2417763"/>
                <a:ext cx="30163" cy="20637"/>
              </a:xfrm>
              <a:custGeom>
                <a:avLst/>
                <a:gdLst/>
                <a:ahLst/>
                <a:cxnLst/>
                <a:rect l="0" t="0" r="0" b="0"/>
                <a:pathLst>
                  <a:path w="25" h="18" extrusionOk="0">
                    <a:moveTo>
                      <a:pt x="24" y="14"/>
                    </a:moveTo>
                    <a:cubicBezTo>
                      <a:pt x="25" y="14"/>
                      <a:pt x="25" y="14"/>
                      <a:pt x="25" y="14"/>
                    </a:cubicBezTo>
                    <a:cubicBezTo>
                      <a:pt x="25" y="0"/>
                      <a:pt x="25" y="0"/>
                      <a:pt x="25" y="0"/>
                    </a:cubicBezTo>
                    <a:cubicBezTo>
                      <a:pt x="24" y="0"/>
                      <a:pt x="24" y="0"/>
                      <a:pt x="24" y="0"/>
                    </a:cubicBezTo>
                    <a:cubicBezTo>
                      <a:pt x="16" y="0"/>
                      <a:pt x="8" y="2"/>
                      <a:pt x="0" y="6"/>
                    </a:cubicBezTo>
                    <a:cubicBezTo>
                      <a:pt x="7" y="18"/>
                      <a:pt x="7" y="18"/>
                      <a:pt x="7" y="18"/>
                    </a:cubicBezTo>
                    <a:cubicBezTo>
                      <a:pt x="12" y="15"/>
                      <a:pt x="18" y="14"/>
                      <a:pt x="24" y="14"/>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84" name="Shape 7799">
                <a:extLst>
                  <a:ext uri="{FF2B5EF4-FFF2-40B4-BE49-F238E27FC236}">
                    <a16:creationId xmlns:a16="http://schemas.microsoft.com/office/drawing/2014/main" xmlns="" id="{BDE4BECC-496A-4858-9609-9C4F77D6A085}"/>
                  </a:ext>
                </a:extLst>
              </p:cNvPr>
              <p:cNvSpPr/>
              <p:nvPr/>
            </p:nvSpPr>
            <p:spPr>
              <a:xfrm>
                <a:off x="5646738" y="2417763"/>
                <a:ext cx="26988"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85" name="Shape 7800">
                <a:extLst>
                  <a:ext uri="{FF2B5EF4-FFF2-40B4-BE49-F238E27FC236}">
                    <a16:creationId xmlns:a16="http://schemas.microsoft.com/office/drawing/2014/main" xmlns="" id="{4849F315-7BDE-4A56-95B2-0F2CBEA41221}"/>
                  </a:ext>
                </a:extLst>
              </p:cNvPr>
              <p:cNvSpPr/>
              <p:nvPr/>
            </p:nvSpPr>
            <p:spPr>
              <a:xfrm>
                <a:off x="5697538" y="241776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86" name="Shape 7801">
                <a:extLst>
                  <a:ext uri="{FF2B5EF4-FFF2-40B4-BE49-F238E27FC236}">
                    <a16:creationId xmlns:a16="http://schemas.microsoft.com/office/drawing/2014/main" xmlns="" id="{DCB8C63A-E868-418D-8BF9-996ACCE58E56}"/>
                  </a:ext>
                </a:extLst>
              </p:cNvPr>
              <p:cNvSpPr/>
              <p:nvPr/>
            </p:nvSpPr>
            <p:spPr>
              <a:xfrm>
                <a:off x="5748338" y="241776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87" name="Shape 7802">
                <a:extLst>
                  <a:ext uri="{FF2B5EF4-FFF2-40B4-BE49-F238E27FC236}">
                    <a16:creationId xmlns:a16="http://schemas.microsoft.com/office/drawing/2014/main" xmlns="" id="{7E302B4F-27CD-47E9-B9B4-671A9CDD0763}"/>
                  </a:ext>
                </a:extLst>
              </p:cNvPr>
              <p:cNvSpPr/>
              <p:nvPr/>
            </p:nvSpPr>
            <p:spPr>
              <a:xfrm>
                <a:off x="5799138" y="241776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88" name="Shape 7803">
                <a:extLst>
                  <a:ext uri="{FF2B5EF4-FFF2-40B4-BE49-F238E27FC236}">
                    <a16:creationId xmlns:a16="http://schemas.microsoft.com/office/drawing/2014/main" xmlns="" id="{50A5E583-30F9-47CA-B0B3-1623084D3B40}"/>
                  </a:ext>
                </a:extLst>
              </p:cNvPr>
              <p:cNvSpPr/>
              <p:nvPr/>
            </p:nvSpPr>
            <p:spPr>
              <a:xfrm>
                <a:off x="5857875" y="241776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89" name="Shape 7804">
                <a:extLst>
                  <a:ext uri="{FF2B5EF4-FFF2-40B4-BE49-F238E27FC236}">
                    <a16:creationId xmlns:a16="http://schemas.microsoft.com/office/drawing/2014/main" xmlns="" id="{BAC8F7FC-A380-46B3-859D-3A8458F4251D}"/>
                  </a:ext>
                </a:extLst>
              </p:cNvPr>
              <p:cNvSpPr/>
              <p:nvPr/>
            </p:nvSpPr>
            <p:spPr>
              <a:xfrm>
                <a:off x="5564188" y="2444750"/>
                <a:ext cx="22225" cy="28575"/>
              </a:xfrm>
              <a:custGeom>
                <a:avLst/>
                <a:gdLst/>
                <a:ahLst/>
                <a:cxnLst/>
                <a:rect l="0" t="0" r="0" b="0"/>
                <a:pathLst>
                  <a:path w="19" h="24" extrusionOk="0">
                    <a:moveTo>
                      <a:pt x="19" y="7"/>
                    </a:moveTo>
                    <a:cubicBezTo>
                      <a:pt x="7" y="0"/>
                      <a:pt x="7" y="0"/>
                      <a:pt x="7" y="0"/>
                    </a:cubicBezTo>
                    <a:cubicBezTo>
                      <a:pt x="3" y="7"/>
                      <a:pt x="0" y="15"/>
                      <a:pt x="0" y="23"/>
                    </a:cubicBezTo>
                    <a:cubicBezTo>
                      <a:pt x="14" y="24"/>
                      <a:pt x="14" y="24"/>
                      <a:pt x="14" y="24"/>
                    </a:cubicBezTo>
                    <a:cubicBezTo>
                      <a:pt x="14" y="18"/>
                      <a:pt x="16" y="12"/>
                      <a:pt x="19" y="7"/>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90" name="Shape 7805">
                <a:extLst>
                  <a:ext uri="{FF2B5EF4-FFF2-40B4-BE49-F238E27FC236}">
                    <a16:creationId xmlns:a16="http://schemas.microsoft.com/office/drawing/2014/main" xmlns="" id="{DA9938B4-245E-422B-8E2B-39742E5308D0}"/>
                  </a:ext>
                </a:extLst>
              </p:cNvPr>
              <p:cNvSpPr/>
              <p:nvPr/>
            </p:nvSpPr>
            <p:spPr>
              <a:xfrm>
                <a:off x="5564188" y="2497138"/>
                <a:ext cx="15875" cy="25400"/>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91" name="Shape 7806">
                <a:extLst>
                  <a:ext uri="{FF2B5EF4-FFF2-40B4-BE49-F238E27FC236}">
                    <a16:creationId xmlns:a16="http://schemas.microsoft.com/office/drawing/2014/main" xmlns="" id="{11CE533C-A00D-4A8F-889E-E9E889AC36EE}"/>
                  </a:ext>
                </a:extLst>
              </p:cNvPr>
              <p:cNvSpPr/>
              <p:nvPr/>
            </p:nvSpPr>
            <p:spPr>
              <a:xfrm>
                <a:off x="5538788" y="2551113"/>
                <a:ext cx="66675" cy="55562"/>
              </a:xfrm>
              <a:custGeom>
                <a:avLst/>
                <a:gdLst/>
                <a:ahLst/>
                <a:cxnLst/>
                <a:rect l="0" t="0" r="0" b="0"/>
                <a:pathLst>
                  <a:path w="42" h="35" extrusionOk="0">
                    <a:moveTo>
                      <a:pt x="42" y="0"/>
                    </a:moveTo>
                    <a:lnTo>
                      <a:pt x="0" y="0"/>
                    </a:lnTo>
                    <a:lnTo>
                      <a:pt x="21" y="35"/>
                    </a:lnTo>
                    <a:lnTo>
                      <a:pt x="42" y="0"/>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grpSp>
      </p:grpSp>
    </p:spTree>
    <p:extLst>
      <p:ext uri="{BB962C8B-B14F-4D97-AF65-F5344CB8AC3E}">
        <p14:creationId xmlns:p14="http://schemas.microsoft.com/office/powerpoint/2010/main" val="11528472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C5BA2E58-FEC9-D54D-ACC0-E7CEEF5F42E4}"/>
              </a:ext>
            </a:extLst>
          </p:cNvPr>
          <p:cNvSpPr>
            <a:spLocks noGrp="1"/>
          </p:cNvSpPr>
          <p:nvPr>
            <p:ph type="title"/>
          </p:nvPr>
        </p:nvSpPr>
        <p:spPr>
          <a:xfrm>
            <a:off x="678884" y="603666"/>
            <a:ext cx="10834234" cy="612775"/>
          </a:xfrm>
        </p:spPr>
        <p:txBody>
          <a:bodyPr>
            <a:normAutofit/>
          </a:bodyPr>
          <a:lstStyle/>
          <a:p>
            <a:r>
              <a:rPr lang="en-US" dirty="0">
                <a:effectLst/>
                <a:latin typeface="Times New Roman" panose="02020603050405020304" pitchFamily="18" charset="0"/>
                <a:ea typeface="Calibri" panose="020F0502020204030204" pitchFamily="34" charset="0"/>
              </a:rPr>
              <a:t>AI Tool used by Venture Capital Funds</a:t>
            </a:r>
            <a:endParaRPr lang="en-US" dirty="0"/>
          </a:p>
        </p:txBody>
      </p:sp>
      <p:sp>
        <p:nvSpPr>
          <p:cNvPr id="36" name="Content Placeholder 2">
            <a:extLst>
              <a:ext uri="{FF2B5EF4-FFF2-40B4-BE49-F238E27FC236}">
                <a16:creationId xmlns:a16="http://schemas.microsoft.com/office/drawing/2014/main" xmlns="" id="{0C74259A-52A3-45E8-B90F-094D09788B9F}"/>
              </a:ext>
            </a:extLst>
          </p:cNvPr>
          <p:cNvSpPr txBox="1">
            <a:spLocks/>
          </p:cNvSpPr>
          <p:nvPr/>
        </p:nvSpPr>
        <p:spPr>
          <a:xfrm>
            <a:off x="616815" y="1632362"/>
            <a:ext cx="10834234" cy="876039"/>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Nunito"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Nunito"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Nunito"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400"/>
              </a:spcBef>
              <a:spcAft>
                <a:spcPts val="400"/>
              </a:spcAft>
              <a:buNone/>
            </a:pPr>
            <a:r>
              <a:rPr lang="en-US" sz="2200" dirty="0">
                <a:effectLst/>
                <a:latin typeface="+mn-lt"/>
                <a:ea typeface="Calibri" panose="020F0502020204030204" pitchFamily="34" charset="0"/>
              </a:rPr>
              <a:t>VC funds use AI tools to support investment decision-making, portfolio management, and risk assessment. AI is used to analyze private market data, monitoring performance. anticipating and responding to market-moving events that may impact their investments.</a:t>
            </a:r>
          </a:p>
        </p:txBody>
      </p:sp>
      <p:grpSp>
        <p:nvGrpSpPr>
          <p:cNvPr id="5" name="Group 4">
            <a:extLst>
              <a:ext uri="{FF2B5EF4-FFF2-40B4-BE49-F238E27FC236}">
                <a16:creationId xmlns:a16="http://schemas.microsoft.com/office/drawing/2014/main" xmlns="" id="{2B3C6DC9-480C-448B-9851-6C9830B27694}"/>
              </a:ext>
            </a:extLst>
          </p:cNvPr>
          <p:cNvGrpSpPr/>
          <p:nvPr/>
        </p:nvGrpSpPr>
        <p:grpSpPr>
          <a:xfrm>
            <a:off x="616815" y="2855178"/>
            <a:ext cx="10958370" cy="2251614"/>
            <a:chOff x="669953" y="1659835"/>
            <a:chExt cx="10958370" cy="2251614"/>
          </a:xfrm>
        </p:grpSpPr>
        <p:sp>
          <p:nvSpPr>
            <p:cNvPr id="6" name="Freeform 6">
              <a:extLst>
                <a:ext uri="{FF2B5EF4-FFF2-40B4-BE49-F238E27FC236}">
                  <a16:creationId xmlns:a16="http://schemas.microsoft.com/office/drawing/2014/main" xmlns="" id="{AF25952A-C220-43B6-A6A4-B134DE0580AB}"/>
                </a:ext>
              </a:extLst>
            </p:cNvPr>
            <p:cNvSpPr>
              <a:spLocks/>
            </p:cNvSpPr>
            <p:nvPr/>
          </p:nvSpPr>
          <p:spPr bwMode="auto">
            <a:xfrm>
              <a:off x="776848" y="1680017"/>
              <a:ext cx="373861" cy="274869"/>
            </a:xfrm>
            <a:custGeom>
              <a:avLst/>
              <a:gdLst>
                <a:gd name="T0" fmla="*/ 81 w 162"/>
                <a:gd name="T1" fmla="*/ 0 h 119"/>
                <a:gd name="T2" fmla="*/ 0 w 162"/>
                <a:gd name="T3" fmla="*/ 119 h 119"/>
                <a:gd name="T4" fmla="*/ 162 w 162"/>
                <a:gd name="T5" fmla="*/ 119 h 119"/>
                <a:gd name="T6" fmla="*/ 81 w 162"/>
                <a:gd name="T7" fmla="*/ 0 h 119"/>
              </a:gdLst>
              <a:ahLst/>
              <a:cxnLst>
                <a:cxn ang="0">
                  <a:pos x="T0" y="T1"/>
                </a:cxn>
                <a:cxn ang="0">
                  <a:pos x="T2" y="T3"/>
                </a:cxn>
                <a:cxn ang="0">
                  <a:pos x="T4" y="T5"/>
                </a:cxn>
                <a:cxn ang="0">
                  <a:pos x="T6" y="T7"/>
                </a:cxn>
              </a:cxnLst>
              <a:rect l="0" t="0" r="r" b="b"/>
              <a:pathLst>
                <a:path w="162" h="119">
                  <a:moveTo>
                    <a:pt x="81" y="0"/>
                  </a:moveTo>
                  <a:cubicBezTo>
                    <a:pt x="34" y="18"/>
                    <a:pt x="0" y="65"/>
                    <a:pt x="0" y="119"/>
                  </a:cubicBezTo>
                  <a:cubicBezTo>
                    <a:pt x="162" y="119"/>
                    <a:pt x="162" y="119"/>
                    <a:pt x="162" y="119"/>
                  </a:cubicBezTo>
                  <a:cubicBezTo>
                    <a:pt x="162" y="65"/>
                    <a:pt x="129" y="19"/>
                    <a:pt x="81" y="0"/>
                  </a:cubicBez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ru-RU"/>
            </a:p>
          </p:txBody>
        </p:sp>
        <p:sp>
          <p:nvSpPr>
            <p:cNvPr id="7" name="Rectangle: Rounded Corners 6">
              <a:extLst>
                <a:ext uri="{FF2B5EF4-FFF2-40B4-BE49-F238E27FC236}">
                  <a16:creationId xmlns:a16="http://schemas.microsoft.com/office/drawing/2014/main" xmlns="" id="{E32F158F-4310-4863-ADCF-ED56509EDAC0}"/>
                </a:ext>
              </a:extLst>
            </p:cNvPr>
            <p:cNvSpPr/>
            <p:nvPr/>
          </p:nvSpPr>
          <p:spPr>
            <a:xfrm>
              <a:off x="776848" y="1953670"/>
              <a:ext cx="10851475" cy="567664"/>
            </a:xfrm>
            <a:prstGeom prst="roundRect">
              <a:avLst>
                <a:gd name="adj" fmla="val 9723"/>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404000" rtlCol="0" anchor="ctr"/>
            <a:lstStyle/>
            <a:p>
              <a:r>
                <a:rPr lang="en-US" sz="2200" b="1" dirty="0">
                  <a:solidFill>
                    <a:schemeClr val="tx1"/>
                  </a:solidFill>
                  <a:effectLst/>
                  <a:latin typeface="Times New Roman" panose="02020603050405020304" pitchFamily="18" charset="0"/>
                  <a:ea typeface="Calibri" panose="020F0502020204030204" pitchFamily="34" charset="0"/>
                </a:rPr>
                <a:t>Venture GPT</a:t>
              </a:r>
              <a:endParaRPr lang="en-IN" sz="2200" b="1" dirty="0">
                <a:solidFill>
                  <a:schemeClr val="tx1"/>
                </a:solidFill>
                <a:latin typeface="Calibri" panose="020F0502020204030204" pitchFamily="34" charset="0"/>
              </a:endParaRPr>
            </a:p>
          </p:txBody>
        </p:sp>
        <p:sp>
          <p:nvSpPr>
            <p:cNvPr id="8" name="Content Placeholder 2">
              <a:extLst>
                <a:ext uri="{FF2B5EF4-FFF2-40B4-BE49-F238E27FC236}">
                  <a16:creationId xmlns:a16="http://schemas.microsoft.com/office/drawing/2014/main" xmlns="" id="{92AC9BF1-9307-4616-A8EA-5077CCAF21BC}"/>
                </a:ext>
              </a:extLst>
            </p:cNvPr>
            <p:cNvSpPr txBox="1">
              <a:spLocks/>
            </p:cNvSpPr>
            <p:nvPr/>
          </p:nvSpPr>
          <p:spPr>
            <a:xfrm>
              <a:off x="669953" y="3035410"/>
              <a:ext cx="10834234" cy="876039"/>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Nunito"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Nunito"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Nunito"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400"/>
                </a:spcBef>
                <a:spcAft>
                  <a:spcPts val="400"/>
                </a:spcAft>
                <a:buNone/>
              </a:pPr>
              <a:r>
                <a:rPr lang="en-US" sz="2200" dirty="0">
                  <a:latin typeface="+mn-lt"/>
                </a:rPr>
                <a:t>Venture GPT functions as an essential partner for venture capital initiatives, providing valuable guidance and insights to both investors and startups. Tailored specifically for the venture capital community, this </a:t>
              </a:r>
              <a:r>
                <a:rPr lang="en-US" sz="2200" dirty="0" err="1">
                  <a:latin typeface="+mn-lt"/>
                </a:rPr>
                <a:t>ChatGPT</a:t>
              </a:r>
              <a:r>
                <a:rPr lang="en-US" sz="2200" dirty="0">
                  <a:latin typeface="+mn-lt"/>
                </a:rPr>
                <a:t> variant serves as a customized tool to assist in navigating the intricacies of investments, market analysis, and strategic decision-making. </a:t>
              </a:r>
            </a:p>
            <a:p>
              <a:pPr marL="0" indent="0">
                <a:lnSpc>
                  <a:spcPct val="107000"/>
                </a:lnSpc>
                <a:spcAft>
                  <a:spcPts val="800"/>
                </a:spcAft>
                <a:buNone/>
              </a:pPr>
              <a:r>
                <a:rPr lang="en-US" sz="1800" u="sng" kern="100" dirty="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3"/>
                </a:rPr>
                <a:t>https://chat.openai.com/g/g-C3WWLOnWX-venturegpt</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400"/>
                </a:spcBef>
                <a:spcAft>
                  <a:spcPts val="400"/>
                </a:spcAft>
                <a:buNone/>
              </a:pPr>
              <a:endParaRPr lang="en-US" sz="2200" dirty="0">
                <a:latin typeface="+mn-lt"/>
              </a:endParaRPr>
            </a:p>
          </p:txBody>
        </p:sp>
        <p:sp>
          <p:nvSpPr>
            <p:cNvPr id="9" name="Freeform 7">
              <a:extLst>
                <a:ext uri="{FF2B5EF4-FFF2-40B4-BE49-F238E27FC236}">
                  <a16:creationId xmlns:a16="http://schemas.microsoft.com/office/drawing/2014/main" xmlns="" id="{33B6A117-8473-4C5A-ACD4-3F941496A4FE}"/>
                </a:ext>
              </a:extLst>
            </p:cNvPr>
            <p:cNvSpPr>
              <a:spLocks/>
            </p:cNvSpPr>
            <p:nvPr/>
          </p:nvSpPr>
          <p:spPr bwMode="auto">
            <a:xfrm>
              <a:off x="871995" y="1659835"/>
              <a:ext cx="1061994" cy="1111971"/>
            </a:xfrm>
            <a:custGeom>
              <a:avLst/>
              <a:gdLst>
                <a:gd name="T0" fmla="*/ 332 w 461"/>
                <a:gd name="T1" fmla="*/ 0 h 482"/>
                <a:gd name="T2" fmla="*/ 88 w 461"/>
                <a:gd name="T3" fmla="*/ 0 h 482"/>
                <a:gd name="T4" fmla="*/ 40 w 461"/>
                <a:gd name="T5" fmla="*/ 9 h 482"/>
                <a:gd name="T6" fmla="*/ 0 w 461"/>
                <a:gd name="T7" fmla="*/ 35 h 482"/>
                <a:gd name="T8" fmla="*/ 81 w 461"/>
                <a:gd name="T9" fmla="*/ 35 h 482"/>
                <a:gd name="T10" fmla="*/ 121 w 461"/>
                <a:gd name="T11" fmla="*/ 128 h 482"/>
                <a:gd name="T12" fmla="*/ 121 w 461"/>
                <a:gd name="T13" fmla="*/ 311 h 482"/>
                <a:gd name="T14" fmla="*/ 121 w 461"/>
                <a:gd name="T15" fmla="*/ 312 h 482"/>
                <a:gd name="T16" fmla="*/ 291 w 461"/>
                <a:gd name="T17" fmla="*/ 482 h 482"/>
                <a:gd name="T18" fmla="*/ 461 w 461"/>
                <a:gd name="T19" fmla="*/ 312 h 482"/>
                <a:gd name="T20" fmla="*/ 461 w 461"/>
                <a:gd name="T21" fmla="*/ 312 h 482"/>
                <a:gd name="T22" fmla="*/ 461 w 461"/>
                <a:gd name="T23" fmla="*/ 128 h 482"/>
                <a:gd name="T24" fmla="*/ 332 w 461"/>
                <a:gd name="T25" fmla="*/ 0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 h="482">
                  <a:moveTo>
                    <a:pt x="332" y="0"/>
                  </a:moveTo>
                  <a:cubicBezTo>
                    <a:pt x="88" y="0"/>
                    <a:pt x="88" y="0"/>
                    <a:pt x="88" y="0"/>
                  </a:cubicBezTo>
                  <a:cubicBezTo>
                    <a:pt x="71" y="0"/>
                    <a:pt x="55" y="3"/>
                    <a:pt x="40" y="9"/>
                  </a:cubicBezTo>
                  <a:cubicBezTo>
                    <a:pt x="25" y="15"/>
                    <a:pt x="11" y="24"/>
                    <a:pt x="0" y="35"/>
                  </a:cubicBezTo>
                  <a:cubicBezTo>
                    <a:pt x="22" y="13"/>
                    <a:pt x="58" y="13"/>
                    <a:pt x="81" y="35"/>
                  </a:cubicBezTo>
                  <a:cubicBezTo>
                    <a:pt x="106" y="58"/>
                    <a:pt x="121" y="91"/>
                    <a:pt x="121" y="128"/>
                  </a:cubicBezTo>
                  <a:cubicBezTo>
                    <a:pt x="121" y="311"/>
                    <a:pt x="121" y="311"/>
                    <a:pt x="121" y="311"/>
                  </a:cubicBezTo>
                  <a:cubicBezTo>
                    <a:pt x="121" y="311"/>
                    <a:pt x="121" y="311"/>
                    <a:pt x="121" y="312"/>
                  </a:cubicBezTo>
                  <a:cubicBezTo>
                    <a:pt x="121" y="405"/>
                    <a:pt x="197" y="482"/>
                    <a:pt x="291" y="482"/>
                  </a:cubicBezTo>
                  <a:cubicBezTo>
                    <a:pt x="385" y="482"/>
                    <a:pt x="461" y="405"/>
                    <a:pt x="461" y="312"/>
                  </a:cubicBezTo>
                  <a:cubicBezTo>
                    <a:pt x="461" y="312"/>
                    <a:pt x="461" y="312"/>
                    <a:pt x="461" y="312"/>
                  </a:cubicBezTo>
                  <a:cubicBezTo>
                    <a:pt x="461" y="128"/>
                    <a:pt x="461" y="128"/>
                    <a:pt x="461" y="128"/>
                  </a:cubicBezTo>
                  <a:cubicBezTo>
                    <a:pt x="461" y="57"/>
                    <a:pt x="403" y="0"/>
                    <a:pt x="332"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ru-RU"/>
            </a:p>
          </p:txBody>
        </p:sp>
        <p:sp>
          <p:nvSpPr>
            <p:cNvPr id="10" name="Oval 8">
              <a:extLst>
                <a:ext uri="{FF2B5EF4-FFF2-40B4-BE49-F238E27FC236}">
                  <a16:creationId xmlns:a16="http://schemas.microsoft.com/office/drawing/2014/main" xmlns="" id="{D3FC227A-A824-4374-93E6-403C8ED4CC9C}"/>
                </a:ext>
              </a:extLst>
            </p:cNvPr>
            <p:cNvSpPr>
              <a:spLocks noChangeArrowheads="1"/>
            </p:cNvSpPr>
            <p:nvPr/>
          </p:nvSpPr>
          <p:spPr bwMode="auto">
            <a:xfrm>
              <a:off x="1215101" y="2051956"/>
              <a:ext cx="654496" cy="652574"/>
            </a:xfrm>
            <a:prstGeom prst="ellipse">
              <a:avLst/>
            </a:prstGeom>
            <a:solidFill>
              <a:schemeClr val="bg2"/>
            </a:solidFill>
            <a:ln>
              <a:noFill/>
            </a:ln>
          </p:spPr>
          <p:txBody>
            <a:bodyPr vert="horz" wrap="square" lIns="91440" tIns="45720" rIns="91440" bIns="45720" numCol="1" anchor="t" anchorCtr="0" compatLnSpc="1">
              <a:prstTxWarp prst="textNoShape">
                <a:avLst/>
              </a:prstTxWarp>
            </a:bodyPr>
            <a:lstStyle/>
            <a:p>
              <a:endParaRPr lang="ru-RU"/>
            </a:p>
          </p:txBody>
        </p:sp>
        <p:grpSp>
          <p:nvGrpSpPr>
            <p:cNvPr id="11" name="Shape 7784">
              <a:extLst>
                <a:ext uri="{FF2B5EF4-FFF2-40B4-BE49-F238E27FC236}">
                  <a16:creationId xmlns:a16="http://schemas.microsoft.com/office/drawing/2014/main" xmlns="" id="{23289370-5059-4753-A1B1-E5C088D741F0}"/>
                </a:ext>
              </a:extLst>
            </p:cNvPr>
            <p:cNvGrpSpPr/>
            <p:nvPr/>
          </p:nvGrpSpPr>
          <p:grpSpPr>
            <a:xfrm>
              <a:off x="1389773" y="2214880"/>
              <a:ext cx="330464" cy="352116"/>
              <a:chOff x="5538788" y="2417763"/>
              <a:chExt cx="557213" cy="593725"/>
            </a:xfrm>
            <a:solidFill>
              <a:schemeClr val="tx1"/>
            </a:solidFill>
          </p:grpSpPr>
          <p:sp>
            <p:nvSpPr>
              <p:cNvPr id="12" name="Shape 7785">
                <a:extLst>
                  <a:ext uri="{FF2B5EF4-FFF2-40B4-BE49-F238E27FC236}">
                    <a16:creationId xmlns:a16="http://schemas.microsoft.com/office/drawing/2014/main" xmlns="" id="{B404F290-DE3E-4E0F-868A-0A31F5BDF4F9}"/>
                  </a:ext>
                </a:extLst>
              </p:cNvPr>
              <p:cNvSpPr/>
              <p:nvPr/>
            </p:nvSpPr>
            <p:spPr>
              <a:xfrm>
                <a:off x="5538788" y="2727325"/>
                <a:ext cx="188913" cy="284162"/>
              </a:xfrm>
              <a:custGeom>
                <a:avLst/>
                <a:gdLst/>
                <a:ahLst/>
                <a:cxnLst/>
                <a:rect l="0" t="0" r="0" b="0"/>
                <a:pathLst>
                  <a:path w="160" h="242" extrusionOk="0">
                    <a:moveTo>
                      <a:pt x="0" y="233"/>
                    </a:moveTo>
                    <a:cubicBezTo>
                      <a:pt x="0" y="238"/>
                      <a:pt x="4" y="242"/>
                      <a:pt x="9" y="242"/>
                    </a:cubicBezTo>
                    <a:cubicBezTo>
                      <a:pt x="151" y="242"/>
                      <a:pt x="151" y="242"/>
                      <a:pt x="151" y="242"/>
                    </a:cubicBezTo>
                    <a:cubicBezTo>
                      <a:pt x="156" y="242"/>
                      <a:pt x="160" y="238"/>
                      <a:pt x="160" y="233"/>
                    </a:cubicBezTo>
                    <a:cubicBezTo>
                      <a:pt x="160" y="0"/>
                      <a:pt x="160" y="0"/>
                      <a:pt x="160" y="0"/>
                    </a:cubicBezTo>
                    <a:cubicBezTo>
                      <a:pt x="0" y="0"/>
                      <a:pt x="0" y="0"/>
                      <a:pt x="0" y="0"/>
                    </a:cubicBezTo>
                    <a:lnTo>
                      <a:pt x="0" y="233"/>
                    </a:lnTo>
                    <a:close/>
                    <a:moveTo>
                      <a:pt x="80" y="227"/>
                    </a:moveTo>
                    <a:cubicBezTo>
                      <a:pt x="71" y="227"/>
                      <a:pt x="63" y="220"/>
                      <a:pt x="63" y="210"/>
                    </a:cubicBezTo>
                    <a:cubicBezTo>
                      <a:pt x="63" y="200"/>
                      <a:pt x="71" y="192"/>
                      <a:pt x="80" y="192"/>
                    </a:cubicBezTo>
                    <a:cubicBezTo>
                      <a:pt x="90" y="192"/>
                      <a:pt x="98" y="200"/>
                      <a:pt x="98" y="210"/>
                    </a:cubicBezTo>
                    <a:cubicBezTo>
                      <a:pt x="98" y="220"/>
                      <a:pt x="90" y="227"/>
                      <a:pt x="80" y="227"/>
                    </a:cubicBezTo>
                    <a:close/>
                    <a:moveTo>
                      <a:pt x="73" y="175"/>
                    </a:moveTo>
                    <a:cubicBezTo>
                      <a:pt x="73" y="171"/>
                      <a:pt x="76" y="167"/>
                      <a:pt x="80" y="167"/>
                    </a:cubicBezTo>
                    <a:cubicBezTo>
                      <a:pt x="85" y="167"/>
                      <a:pt x="88" y="171"/>
                      <a:pt x="88" y="175"/>
                    </a:cubicBezTo>
                    <a:cubicBezTo>
                      <a:pt x="88" y="179"/>
                      <a:pt x="85" y="183"/>
                      <a:pt x="80" y="183"/>
                    </a:cubicBezTo>
                    <a:cubicBezTo>
                      <a:pt x="76" y="183"/>
                      <a:pt x="73" y="179"/>
                      <a:pt x="73" y="175"/>
                    </a:cubicBezTo>
                    <a:close/>
                    <a:moveTo>
                      <a:pt x="29" y="12"/>
                    </a:moveTo>
                    <a:cubicBezTo>
                      <a:pt x="131" y="12"/>
                      <a:pt x="131" y="12"/>
                      <a:pt x="131" y="12"/>
                    </a:cubicBezTo>
                    <a:cubicBezTo>
                      <a:pt x="131" y="33"/>
                      <a:pt x="131" y="33"/>
                      <a:pt x="131" y="33"/>
                    </a:cubicBezTo>
                    <a:cubicBezTo>
                      <a:pt x="29" y="33"/>
                      <a:pt x="29" y="33"/>
                      <a:pt x="29" y="33"/>
                    </a:cubicBezTo>
                    <a:lnTo>
                      <a:pt x="29" y="12"/>
                    </a:lnTo>
                    <a:close/>
                    <a:moveTo>
                      <a:pt x="29" y="43"/>
                    </a:moveTo>
                    <a:cubicBezTo>
                      <a:pt x="131" y="43"/>
                      <a:pt x="131" y="43"/>
                      <a:pt x="131" y="43"/>
                    </a:cubicBezTo>
                    <a:cubicBezTo>
                      <a:pt x="131" y="64"/>
                      <a:pt x="131" y="64"/>
                      <a:pt x="131" y="64"/>
                    </a:cubicBezTo>
                    <a:cubicBezTo>
                      <a:pt x="29" y="64"/>
                      <a:pt x="29" y="64"/>
                      <a:pt x="29" y="64"/>
                    </a:cubicBezTo>
                    <a:lnTo>
                      <a:pt x="29" y="43"/>
                    </a:lnTo>
                    <a:close/>
                    <a:moveTo>
                      <a:pt x="29" y="73"/>
                    </a:moveTo>
                    <a:cubicBezTo>
                      <a:pt x="131" y="73"/>
                      <a:pt x="131" y="73"/>
                      <a:pt x="131" y="73"/>
                    </a:cubicBezTo>
                    <a:cubicBezTo>
                      <a:pt x="131" y="94"/>
                      <a:pt x="131" y="94"/>
                      <a:pt x="131" y="94"/>
                    </a:cubicBezTo>
                    <a:cubicBezTo>
                      <a:pt x="29" y="94"/>
                      <a:pt x="29" y="94"/>
                      <a:pt x="29" y="94"/>
                    </a:cubicBezTo>
                    <a:lnTo>
                      <a:pt x="29" y="73"/>
                    </a:lnTo>
                    <a:close/>
                    <a:moveTo>
                      <a:pt x="29" y="104"/>
                    </a:moveTo>
                    <a:cubicBezTo>
                      <a:pt x="131" y="104"/>
                      <a:pt x="131" y="104"/>
                      <a:pt x="131" y="104"/>
                    </a:cubicBezTo>
                    <a:cubicBezTo>
                      <a:pt x="131" y="125"/>
                      <a:pt x="131" y="125"/>
                      <a:pt x="131" y="125"/>
                    </a:cubicBezTo>
                    <a:cubicBezTo>
                      <a:pt x="29" y="125"/>
                      <a:pt x="29" y="125"/>
                      <a:pt x="29" y="125"/>
                    </a:cubicBezTo>
                    <a:lnTo>
                      <a:pt x="29" y="104"/>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13" name="Shape 7786">
                <a:extLst>
                  <a:ext uri="{FF2B5EF4-FFF2-40B4-BE49-F238E27FC236}">
                    <a16:creationId xmlns:a16="http://schemas.microsoft.com/office/drawing/2014/main" xmlns="" id="{8AA88BBE-929F-4297-B58B-058287AACAB7}"/>
                  </a:ext>
                </a:extLst>
              </p:cNvPr>
              <p:cNvSpPr/>
              <p:nvPr/>
            </p:nvSpPr>
            <p:spPr>
              <a:xfrm>
                <a:off x="5538788" y="2651125"/>
                <a:ext cx="188913" cy="63500"/>
              </a:xfrm>
              <a:custGeom>
                <a:avLst/>
                <a:gdLst/>
                <a:ahLst/>
                <a:cxnLst/>
                <a:rect l="0" t="0" r="0" b="0"/>
                <a:pathLst>
                  <a:path w="160" h="55" extrusionOk="0">
                    <a:moveTo>
                      <a:pt x="151" y="0"/>
                    </a:moveTo>
                    <a:cubicBezTo>
                      <a:pt x="9" y="0"/>
                      <a:pt x="9" y="0"/>
                      <a:pt x="9" y="0"/>
                    </a:cubicBezTo>
                    <a:cubicBezTo>
                      <a:pt x="4" y="0"/>
                      <a:pt x="0" y="4"/>
                      <a:pt x="0" y="9"/>
                    </a:cubicBezTo>
                    <a:cubicBezTo>
                      <a:pt x="0" y="55"/>
                      <a:pt x="0" y="55"/>
                      <a:pt x="0" y="55"/>
                    </a:cubicBezTo>
                    <a:cubicBezTo>
                      <a:pt x="160" y="55"/>
                      <a:pt x="160" y="55"/>
                      <a:pt x="160" y="55"/>
                    </a:cubicBezTo>
                    <a:cubicBezTo>
                      <a:pt x="160" y="9"/>
                      <a:pt x="160" y="9"/>
                      <a:pt x="160" y="9"/>
                    </a:cubicBezTo>
                    <a:cubicBezTo>
                      <a:pt x="160" y="4"/>
                      <a:pt x="156" y="0"/>
                      <a:pt x="151" y="0"/>
                    </a:cubicBezTo>
                    <a:close/>
                    <a:moveTo>
                      <a:pt x="43" y="43"/>
                    </a:moveTo>
                    <a:cubicBezTo>
                      <a:pt x="36" y="43"/>
                      <a:pt x="30" y="37"/>
                      <a:pt x="30" y="30"/>
                    </a:cubicBezTo>
                    <a:cubicBezTo>
                      <a:pt x="30" y="22"/>
                      <a:pt x="36" y="16"/>
                      <a:pt x="43" y="16"/>
                    </a:cubicBezTo>
                    <a:cubicBezTo>
                      <a:pt x="51" y="16"/>
                      <a:pt x="57" y="22"/>
                      <a:pt x="57" y="30"/>
                    </a:cubicBezTo>
                    <a:cubicBezTo>
                      <a:pt x="57" y="37"/>
                      <a:pt x="51" y="43"/>
                      <a:pt x="43" y="43"/>
                    </a:cubicBezTo>
                    <a:close/>
                    <a:moveTo>
                      <a:pt x="131" y="38"/>
                    </a:moveTo>
                    <a:cubicBezTo>
                      <a:pt x="68" y="38"/>
                      <a:pt x="68" y="38"/>
                      <a:pt x="68" y="38"/>
                    </a:cubicBezTo>
                    <a:cubicBezTo>
                      <a:pt x="68" y="22"/>
                      <a:pt x="68" y="22"/>
                      <a:pt x="68" y="22"/>
                    </a:cubicBezTo>
                    <a:cubicBezTo>
                      <a:pt x="131" y="22"/>
                      <a:pt x="131" y="22"/>
                      <a:pt x="131" y="22"/>
                    </a:cubicBezTo>
                    <a:lnTo>
                      <a:pt x="131" y="38"/>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14" name="Shape 7787">
                <a:extLst>
                  <a:ext uri="{FF2B5EF4-FFF2-40B4-BE49-F238E27FC236}">
                    <a16:creationId xmlns:a16="http://schemas.microsoft.com/office/drawing/2014/main" xmlns="" id="{48AEC11C-871D-4E9E-87F1-0463A2364B6D}"/>
                  </a:ext>
                </a:extLst>
              </p:cNvPr>
              <p:cNvSpPr/>
              <p:nvPr/>
            </p:nvSpPr>
            <p:spPr>
              <a:xfrm>
                <a:off x="6013450" y="2990850"/>
                <a:ext cx="28575" cy="20637"/>
              </a:xfrm>
              <a:custGeom>
                <a:avLst/>
                <a:gdLst/>
                <a:ahLst/>
                <a:cxnLst/>
                <a:rect l="0" t="0" r="0" b="0"/>
                <a:pathLst>
                  <a:path w="24" h="18" extrusionOk="0">
                    <a:moveTo>
                      <a:pt x="1" y="4"/>
                    </a:moveTo>
                    <a:cubicBezTo>
                      <a:pt x="0" y="4"/>
                      <a:pt x="0" y="4"/>
                      <a:pt x="0" y="4"/>
                    </a:cubicBezTo>
                    <a:cubicBezTo>
                      <a:pt x="0" y="18"/>
                      <a:pt x="0" y="18"/>
                      <a:pt x="0" y="18"/>
                    </a:cubicBezTo>
                    <a:cubicBezTo>
                      <a:pt x="1" y="18"/>
                      <a:pt x="1" y="18"/>
                      <a:pt x="1" y="18"/>
                    </a:cubicBezTo>
                    <a:cubicBezTo>
                      <a:pt x="9" y="18"/>
                      <a:pt x="17" y="16"/>
                      <a:pt x="24" y="12"/>
                    </a:cubicBezTo>
                    <a:cubicBezTo>
                      <a:pt x="17" y="0"/>
                      <a:pt x="17" y="0"/>
                      <a:pt x="17" y="0"/>
                    </a:cubicBezTo>
                    <a:cubicBezTo>
                      <a:pt x="12" y="3"/>
                      <a:pt x="6" y="4"/>
                      <a:pt x="1" y="4"/>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15" name="Shape 7788">
                <a:extLst>
                  <a:ext uri="{FF2B5EF4-FFF2-40B4-BE49-F238E27FC236}">
                    <a16:creationId xmlns:a16="http://schemas.microsoft.com/office/drawing/2014/main" xmlns="" id="{84D51725-7B67-4A61-8423-C9401B5297C1}"/>
                  </a:ext>
                </a:extLst>
              </p:cNvPr>
              <p:cNvSpPr/>
              <p:nvPr/>
            </p:nvSpPr>
            <p:spPr>
              <a:xfrm>
                <a:off x="5964238" y="299561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16" name="Shape 7789">
                <a:extLst>
                  <a:ext uri="{FF2B5EF4-FFF2-40B4-BE49-F238E27FC236}">
                    <a16:creationId xmlns:a16="http://schemas.microsoft.com/office/drawing/2014/main" xmlns="" id="{637C5BB0-C6E7-4A4B-AA92-3F2CD690ADF2}"/>
                  </a:ext>
                </a:extLst>
              </p:cNvPr>
              <p:cNvSpPr/>
              <p:nvPr/>
            </p:nvSpPr>
            <p:spPr>
              <a:xfrm>
                <a:off x="5913438" y="2995613"/>
                <a:ext cx="23813"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17" name="Shape 7790">
                <a:extLst>
                  <a:ext uri="{FF2B5EF4-FFF2-40B4-BE49-F238E27FC236}">
                    <a16:creationId xmlns:a16="http://schemas.microsoft.com/office/drawing/2014/main" xmlns="" id="{9F4323AF-D0BA-4794-B9D0-F6BE8F131A2D}"/>
                  </a:ext>
                </a:extLst>
              </p:cNvPr>
              <p:cNvSpPr/>
              <p:nvPr/>
            </p:nvSpPr>
            <p:spPr>
              <a:xfrm>
                <a:off x="5862638" y="299561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18" name="Shape 7791">
                <a:extLst>
                  <a:ext uri="{FF2B5EF4-FFF2-40B4-BE49-F238E27FC236}">
                    <a16:creationId xmlns:a16="http://schemas.microsoft.com/office/drawing/2014/main" xmlns="" id="{0C320854-6D22-4107-9D4E-D2EE4CCC8100}"/>
                  </a:ext>
                </a:extLst>
              </p:cNvPr>
              <p:cNvSpPr/>
              <p:nvPr/>
            </p:nvSpPr>
            <p:spPr>
              <a:xfrm>
                <a:off x="5807075" y="2995613"/>
                <a:ext cx="23813"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19" name="Shape 7792">
                <a:extLst>
                  <a:ext uri="{FF2B5EF4-FFF2-40B4-BE49-F238E27FC236}">
                    <a16:creationId xmlns:a16="http://schemas.microsoft.com/office/drawing/2014/main" xmlns="" id="{A0B58230-5138-4895-A7C8-C64EE93FF707}"/>
                  </a:ext>
                </a:extLst>
              </p:cNvPr>
              <p:cNvSpPr/>
              <p:nvPr/>
            </p:nvSpPr>
            <p:spPr>
              <a:xfrm>
                <a:off x="5753100" y="299561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20" name="Shape 7793">
                <a:extLst>
                  <a:ext uri="{FF2B5EF4-FFF2-40B4-BE49-F238E27FC236}">
                    <a16:creationId xmlns:a16="http://schemas.microsoft.com/office/drawing/2014/main" xmlns="" id="{D05D7CC5-ABA2-4CAF-B915-F9B3141A5E84}"/>
                  </a:ext>
                </a:extLst>
              </p:cNvPr>
              <p:cNvSpPr/>
              <p:nvPr/>
            </p:nvSpPr>
            <p:spPr>
              <a:xfrm>
                <a:off x="6048375" y="2955925"/>
                <a:ext cx="22225" cy="28575"/>
              </a:xfrm>
              <a:custGeom>
                <a:avLst/>
                <a:gdLst/>
                <a:ahLst/>
                <a:cxnLst/>
                <a:rect l="0" t="0" r="0" b="0"/>
                <a:pathLst>
                  <a:path w="19" h="24" extrusionOk="0">
                    <a:moveTo>
                      <a:pt x="0" y="17"/>
                    </a:moveTo>
                    <a:cubicBezTo>
                      <a:pt x="12" y="24"/>
                      <a:pt x="12" y="24"/>
                      <a:pt x="12" y="24"/>
                    </a:cubicBezTo>
                    <a:cubicBezTo>
                      <a:pt x="17" y="17"/>
                      <a:pt x="19" y="9"/>
                      <a:pt x="19" y="0"/>
                    </a:cubicBezTo>
                    <a:cubicBezTo>
                      <a:pt x="6" y="0"/>
                      <a:pt x="6" y="0"/>
                      <a:pt x="6" y="0"/>
                    </a:cubicBezTo>
                    <a:cubicBezTo>
                      <a:pt x="5" y="6"/>
                      <a:pt x="3" y="12"/>
                      <a:pt x="0" y="17"/>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21" name="Shape 7794">
                <a:extLst>
                  <a:ext uri="{FF2B5EF4-FFF2-40B4-BE49-F238E27FC236}">
                    <a16:creationId xmlns:a16="http://schemas.microsoft.com/office/drawing/2014/main" xmlns="" id="{015EC4C4-798A-45F1-B7D1-B53FE36E7F91}"/>
                  </a:ext>
                </a:extLst>
              </p:cNvPr>
              <p:cNvSpPr/>
              <p:nvPr/>
            </p:nvSpPr>
            <p:spPr>
              <a:xfrm>
                <a:off x="6056313" y="2906713"/>
                <a:ext cx="15875" cy="23812"/>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22" name="Shape 7795">
                <a:extLst>
                  <a:ext uri="{FF2B5EF4-FFF2-40B4-BE49-F238E27FC236}">
                    <a16:creationId xmlns:a16="http://schemas.microsoft.com/office/drawing/2014/main" xmlns="" id="{C7A2073A-29F2-46BE-B140-5645999A975F}"/>
                  </a:ext>
                </a:extLst>
              </p:cNvPr>
              <p:cNvSpPr/>
              <p:nvPr/>
            </p:nvSpPr>
            <p:spPr>
              <a:xfrm>
                <a:off x="6030913" y="2820988"/>
                <a:ext cx="65088" cy="57150"/>
              </a:xfrm>
              <a:custGeom>
                <a:avLst/>
                <a:gdLst/>
                <a:ahLst/>
                <a:cxnLst/>
                <a:rect l="0" t="0" r="0" b="0"/>
                <a:pathLst>
                  <a:path w="41" h="36" extrusionOk="0">
                    <a:moveTo>
                      <a:pt x="0" y="36"/>
                    </a:moveTo>
                    <a:lnTo>
                      <a:pt x="41" y="36"/>
                    </a:lnTo>
                    <a:lnTo>
                      <a:pt x="21" y="0"/>
                    </a:lnTo>
                    <a:lnTo>
                      <a:pt x="0" y="36"/>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23" name="Shape 7796">
                <a:extLst>
                  <a:ext uri="{FF2B5EF4-FFF2-40B4-BE49-F238E27FC236}">
                    <a16:creationId xmlns:a16="http://schemas.microsoft.com/office/drawing/2014/main" xmlns="" id="{2B688F1F-E28A-44EF-8846-4974AF0A5BCE}"/>
                  </a:ext>
                </a:extLst>
              </p:cNvPr>
              <p:cNvSpPr/>
              <p:nvPr/>
            </p:nvSpPr>
            <p:spPr>
              <a:xfrm>
                <a:off x="5908675" y="2495550"/>
                <a:ext cx="187325" cy="282575"/>
              </a:xfrm>
              <a:custGeom>
                <a:avLst/>
                <a:gdLst/>
                <a:ahLst/>
                <a:cxnLst/>
                <a:rect l="0" t="0" r="0" b="0"/>
                <a:pathLst>
                  <a:path w="160" h="242" extrusionOk="0">
                    <a:moveTo>
                      <a:pt x="0" y="233"/>
                    </a:moveTo>
                    <a:cubicBezTo>
                      <a:pt x="0" y="238"/>
                      <a:pt x="4" y="242"/>
                      <a:pt x="9" y="242"/>
                    </a:cubicBezTo>
                    <a:cubicBezTo>
                      <a:pt x="151" y="242"/>
                      <a:pt x="151" y="242"/>
                      <a:pt x="151" y="242"/>
                    </a:cubicBezTo>
                    <a:cubicBezTo>
                      <a:pt x="156" y="242"/>
                      <a:pt x="160" y="238"/>
                      <a:pt x="160" y="233"/>
                    </a:cubicBezTo>
                    <a:cubicBezTo>
                      <a:pt x="160" y="0"/>
                      <a:pt x="160" y="0"/>
                      <a:pt x="160" y="0"/>
                    </a:cubicBezTo>
                    <a:cubicBezTo>
                      <a:pt x="0" y="0"/>
                      <a:pt x="0" y="0"/>
                      <a:pt x="0" y="0"/>
                    </a:cubicBezTo>
                    <a:lnTo>
                      <a:pt x="0" y="233"/>
                    </a:lnTo>
                    <a:close/>
                    <a:moveTo>
                      <a:pt x="80" y="227"/>
                    </a:moveTo>
                    <a:cubicBezTo>
                      <a:pt x="71" y="227"/>
                      <a:pt x="63" y="220"/>
                      <a:pt x="63" y="210"/>
                    </a:cubicBezTo>
                    <a:cubicBezTo>
                      <a:pt x="63" y="200"/>
                      <a:pt x="71" y="192"/>
                      <a:pt x="80" y="192"/>
                    </a:cubicBezTo>
                    <a:cubicBezTo>
                      <a:pt x="90" y="192"/>
                      <a:pt x="98" y="200"/>
                      <a:pt x="98" y="210"/>
                    </a:cubicBezTo>
                    <a:cubicBezTo>
                      <a:pt x="98" y="220"/>
                      <a:pt x="90" y="227"/>
                      <a:pt x="80" y="227"/>
                    </a:cubicBezTo>
                    <a:close/>
                    <a:moveTo>
                      <a:pt x="72" y="175"/>
                    </a:moveTo>
                    <a:cubicBezTo>
                      <a:pt x="72" y="171"/>
                      <a:pt x="76" y="167"/>
                      <a:pt x="80" y="167"/>
                    </a:cubicBezTo>
                    <a:cubicBezTo>
                      <a:pt x="85" y="167"/>
                      <a:pt x="88" y="171"/>
                      <a:pt x="88" y="175"/>
                    </a:cubicBezTo>
                    <a:cubicBezTo>
                      <a:pt x="88" y="179"/>
                      <a:pt x="85" y="183"/>
                      <a:pt x="80" y="183"/>
                    </a:cubicBezTo>
                    <a:cubicBezTo>
                      <a:pt x="76" y="183"/>
                      <a:pt x="72" y="179"/>
                      <a:pt x="72" y="175"/>
                    </a:cubicBezTo>
                    <a:close/>
                    <a:moveTo>
                      <a:pt x="29" y="12"/>
                    </a:moveTo>
                    <a:cubicBezTo>
                      <a:pt x="131" y="12"/>
                      <a:pt x="131" y="12"/>
                      <a:pt x="131" y="12"/>
                    </a:cubicBezTo>
                    <a:cubicBezTo>
                      <a:pt x="131" y="33"/>
                      <a:pt x="131" y="33"/>
                      <a:pt x="131" y="33"/>
                    </a:cubicBezTo>
                    <a:cubicBezTo>
                      <a:pt x="29" y="33"/>
                      <a:pt x="29" y="33"/>
                      <a:pt x="29" y="33"/>
                    </a:cubicBezTo>
                    <a:lnTo>
                      <a:pt x="29" y="12"/>
                    </a:lnTo>
                    <a:close/>
                    <a:moveTo>
                      <a:pt x="29" y="43"/>
                    </a:moveTo>
                    <a:cubicBezTo>
                      <a:pt x="131" y="43"/>
                      <a:pt x="131" y="43"/>
                      <a:pt x="131" y="43"/>
                    </a:cubicBezTo>
                    <a:cubicBezTo>
                      <a:pt x="131" y="64"/>
                      <a:pt x="131" y="64"/>
                      <a:pt x="131" y="64"/>
                    </a:cubicBezTo>
                    <a:cubicBezTo>
                      <a:pt x="29" y="64"/>
                      <a:pt x="29" y="64"/>
                      <a:pt x="29" y="64"/>
                    </a:cubicBezTo>
                    <a:lnTo>
                      <a:pt x="29" y="43"/>
                    </a:lnTo>
                    <a:close/>
                    <a:moveTo>
                      <a:pt x="29" y="73"/>
                    </a:moveTo>
                    <a:cubicBezTo>
                      <a:pt x="131" y="73"/>
                      <a:pt x="131" y="73"/>
                      <a:pt x="131" y="73"/>
                    </a:cubicBezTo>
                    <a:cubicBezTo>
                      <a:pt x="131" y="94"/>
                      <a:pt x="131" y="94"/>
                      <a:pt x="131" y="94"/>
                    </a:cubicBezTo>
                    <a:cubicBezTo>
                      <a:pt x="29" y="94"/>
                      <a:pt x="29" y="94"/>
                      <a:pt x="29" y="94"/>
                    </a:cubicBezTo>
                    <a:lnTo>
                      <a:pt x="29" y="73"/>
                    </a:lnTo>
                    <a:close/>
                    <a:moveTo>
                      <a:pt x="29" y="104"/>
                    </a:moveTo>
                    <a:cubicBezTo>
                      <a:pt x="131" y="104"/>
                      <a:pt x="131" y="104"/>
                      <a:pt x="131" y="104"/>
                    </a:cubicBezTo>
                    <a:cubicBezTo>
                      <a:pt x="131" y="125"/>
                      <a:pt x="131" y="125"/>
                      <a:pt x="131" y="125"/>
                    </a:cubicBezTo>
                    <a:cubicBezTo>
                      <a:pt x="29" y="125"/>
                      <a:pt x="29" y="125"/>
                      <a:pt x="29" y="125"/>
                    </a:cubicBezTo>
                    <a:lnTo>
                      <a:pt x="29" y="104"/>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24" name="Shape 7797">
                <a:extLst>
                  <a:ext uri="{FF2B5EF4-FFF2-40B4-BE49-F238E27FC236}">
                    <a16:creationId xmlns:a16="http://schemas.microsoft.com/office/drawing/2014/main" xmlns="" id="{44EDFF63-B7ED-4D5A-A407-C96543C2A76F}"/>
                  </a:ext>
                </a:extLst>
              </p:cNvPr>
              <p:cNvSpPr/>
              <p:nvPr/>
            </p:nvSpPr>
            <p:spPr>
              <a:xfrm>
                <a:off x="5908675" y="2417763"/>
                <a:ext cx="187325" cy="65087"/>
              </a:xfrm>
              <a:custGeom>
                <a:avLst/>
                <a:gdLst/>
                <a:ahLst/>
                <a:cxnLst/>
                <a:rect l="0" t="0" r="0" b="0"/>
                <a:pathLst>
                  <a:path w="160" h="55" extrusionOk="0">
                    <a:moveTo>
                      <a:pt x="151" y="0"/>
                    </a:moveTo>
                    <a:cubicBezTo>
                      <a:pt x="9" y="0"/>
                      <a:pt x="9" y="0"/>
                      <a:pt x="9" y="0"/>
                    </a:cubicBezTo>
                    <a:cubicBezTo>
                      <a:pt x="4" y="0"/>
                      <a:pt x="0" y="4"/>
                      <a:pt x="0" y="9"/>
                    </a:cubicBezTo>
                    <a:cubicBezTo>
                      <a:pt x="0" y="55"/>
                      <a:pt x="0" y="55"/>
                      <a:pt x="0" y="55"/>
                    </a:cubicBezTo>
                    <a:cubicBezTo>
                      <a:pt x="160" y="55"/>
                      <a:pt x="160" y="55"/>
                      <a:pt x="160" y="55"/>
                    </a:cubicBezTo>
                    <a:cubicBezTo>
                      <a:pt x="160" y="9"/>
                      <a:pt x="160" y="9"/>
                      <a:pt x="160" y="9"/>
                    </a:cubicBezTo>
                    <a:cubicBezTo>
                      <a:pt x="160" y="4"/>
                      <a:pt x="156" y="0"/>
                      <a:pt x="151" y="0"/>
                    </a:cubicBezTo>
                    <a:close/>
                    <a:moveTo>
                      <a:pt x="93" y="38"/>
                    </a:moveTo>
                    <a:cubicBezTo>
                      <a:pt x="29" y="38"/>
                      <a:pt x="29" y="38"/>
                      <a:pt x="29" y="38"/>
                    </a:cubicBezTo>
                    <a:cubicBezTo>
                      <a:pt x="29" y="22"/>
                      <a:pt x="29" y="22"/>
                      <a:pt x="29" y="22"/>
                    </a:cubicBezTo>
                    <a:cubicBezTo>
                      <a:pt x="93" y="22"/>
                      <a:pt x="93" y="22"/>
                      <a:pt x="93" y="22"/>
                    </a:cubicBezTo>
                    <a:lnTo>
                      <a:pt x="93" y="38"/>
                    </a:lnTo>
                    <a:close/>
                    <a:moveTo>
                      <a:pt x="117" y="43"/>
                    </a:moveTo>
                    <a:cubicBezTo>
                      <a:pt x="110" y="43"/>
                      <a:pt x="104" y="37"/>
                      <a:pt x="104" y="30"/>
                    </a:cubicBezTo>
                    <a:cubicBezTo>
                      <a:pt x="104" y="22"/>
                      <a:pt x="110" y="16"/>
                      <a:pt x="117" y="16"/>
                    </a:cubicBezTo>
                    <a:cubicBezTo>
                      <a:pt x="125" y="16"/>
                      <a:pt x="131" y="22"/>
                      <a:pt x="131" y="30"/>
                    </a:cubicBezTo>
                    <a:cubicBezTo>
                      <a:pt x="131" y="37"/>
                      <a:pt x="125" y="43"/>
                      <a:pt x="117" y="43"/>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25" name="Shape 7798">
                <a:extLst>
                  <a:ext uri="{FF2B5EF4-FFF2-40B4-BE49-F238E27FC236}">
                    <a16:creationId xmlns:a16="http://schemas.microsoft.com/office/drawing/2014/main" xmlns="" id="{87857712-77DE-4594-AF10-ABC1436DF29E}"/>
                  </a:ext>
                </a:extLst>
              </p:cNvPr>
              <p:cNvSpPr/>
              <p:nvPr/>
            </p:nvSpPr>
            <p:spPr>
              <a:xfrm>
                <a:off x="5592763" y="2417763"/>
                <a:ext cx="30163" cy="20637"/>
              </a:xfrm>
              <a:custGeom>
                <a:avLst/>
                <a:gdLst/>
                <a:ahLst/>
                <a:cxnLst/>
                <a:rect l="0" t="0" r="0" b="0"/>
                <a:pathLst>
                  <a:path w="25" h="18" extrusionOk="0">
                    <a:moveTo>
                      <a:pt x="24" y="14"/>
                    </a:moveTo>
                    <a:cubicBezTo>
                      <a:pt x="25" y="14"/>
                      <a:pt x="25" y="14"/>
                      <a:pt x="25" y="14"/>
                    </a:cubicBezTo>
                    <a:cubicBezTo>
                      <a:pt x="25" y="0"/>
                      <a:pt x="25" y="0"/>
                      <a:pt x="25" y="0"/>
                    </a:cubicBezTo>
                    <a:cubicBezTo>
                      <a:pt x="24" y="0"/>
                      <a:pt x="24" y="0"/>
                      <a:pt x="24" y="0"/>
                    </a:cubicBezTo>
                    <a:cubicBezTo>
                      <a:pt x="16" y="0"/>
                      <a:pt x="8" y="2"/>
                      <a:pt x="0" y="6"/>
                    </a:cubicBezTo>
                    <a:cubicBezTo>
                      <a:pt x="7" y="18"/>
                      <a:pt x="7" y="18"/>
                      <a:pt x="7" y="18"/>
                    </a:cubicBezTo>
                    <a:cubicBezTo>
                      <a:pt x="12" y="15"/>
                      <a:pt x="18" y="14"/>
                      <a:pt x="24" y="14"/>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26" name="Shape 7799">
                <a:extLst>
                  <a:ext uri="{FF2B5EF4-FFF2-40B4-BE49-F238E27FC236}">
                    <a16:creationId xmlns:a16="http://schemas.microsoft.com/office/drawing/2014/main" xmlns="" id="{C97F4003-2234-498E-A506-F6A40C806A79}"/>
                  </a:ext>
                </a:extLst>
              </p:cNvPr>
              <p:cNvSpPr/>
              <p:nvPr/>
            </p:nvSpPr>
            <p:spPr>
              <a:xfrm>
                <a:off x="5646738" y="2417763"/>
                <a:ext cx="26988"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27" name="Shape 7800">
                <a:extLst>
                  <a:ext uri="{FF2B5EF4-FFF2-40B4-BE49-F238E27FC236}">
                    <a16:creationId xmlns:a16="http://schemas.microsoft.com/office/drawing/2014/main" xmlns="" id="{D7102ABE-93CD-4D9C-A6A6-FBC642D1274A}"/>
                  </a:ext>
                </a:extLst>
              </p:cNvPr>
              <p:cNvSpPr/>
              <p:nvPr/>
            </p:nvSpPr>
            <p:spPr>
              <a:xfrm>
                <a:off x="5697538" y="241776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28" name="Shape 7801">
                <a:extLst>
                  <a:ext uri="{FF2B5EF4-FFF2-40B4-BE49-F238E27FC236}">
                    <a16:creationId xmlns:a16="http://schemas.microsoft.com/office/drawing/2014/main" xmlns="" id="{03805C62-A37D-4DE3-9E69-843FD18D84AE}"/>
                  </a:ext>
                </a:extLst>
              </p:cNvPr>
              <p:cNvSpPr/>
              <p:nvPr/>
            </p:nvSpPr>
            <p:spPr>
              <a:xfrm>
                <a:off x="5748338" y="241776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29" name="Shape 7802">
                <a:extLst>
                  <a:ext uri="{FF2B5EF4-FFF2-40B4-BE49-F238E27FC236}">
                    <a16:creationId xmlns:a16="http://schemas.microsoft.com/office/drawing/2014/main" xmlns="" id="{ACF2CEE8-93F4-4280-8679-2037EA880340}"/>
                  </a:ext>
                </a:extLst>
              </p:cNvPr>
              <p:cNvSpPr/>
              <p:nvPr/>
            </p:nvSpPr>
            <p:spPr>
              <a:xfrm>
                <a:off x="5799138" y="241776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30" name="Shape 7803">
                <a:extLst>
                  <a:ext uri="{FF2B5EF4-FFF2-40B4-BE49-F238E27FC236}">
                    <a16:creationId xmlns:a16="http://schemas.microsoft.com/office/drawing/2014/main" xmlns="" id="{A3661D4F-7FB4-4550-974E-F7486865F0A9}"/>
                  </a:ext>
                </a:extLst>
              </p:cNvPr>
              <p:cNvSpPr/>
              <p:nvPr/>
            </p:nvSpPr>
            <p:spPr>
              <a:xfrm>
                <a:off x="5857875" y="241776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31" name="Shape 7804">
                <a:extLst>
                  <a:ext uri="{FF2B5EF4-FFF2-40B4-BE49-F238E27FC236}">
                    <a16:creationId xmlns:a16="http://schemas.microsoft.com/office/drawing/2014/main" xmlns="" id="{27F25E40-76AE-4E9C-A30D-53E2E601B407}"/>
                  </a:ext>
                </a:extLst>
              </p:cNvPr>
              <p:cNvSpPr/>
              <p:nvPr/>
            </p:nvSpPr>
            <p:spPr>
              <a:xfrm>
                <a:off x="5564188" y="2444750"/>
                <a:ext cx="22225" cy="28575"/>
              </a:xfrm>
              <a:custGeom>
                <a:avLst/>
                <a:gdLst/>
                <a:ahLst/>
                <a:cxnLst/>
                <a:rect l="0" t="0" r="0" b="0"/>
                <a:pathLst>
                  <a:path w="19" h="24" extrusionOk="0">
                    <a:moveTo>
                      <a:pt x="19" y="7"/>
                    </a:moveTo>
                    <a:cubicBezTo>
                      <a:pt x="7" y="0"/>
                      <a:pt x="7" y="0"/>
                      <a:pt x="7" y="0"/>
                    </a:cubicBezTo>
                    <a:cubicBezTo>
                      <a:pt x="3" y="7"/>
                      <a:pt x="0" y="15"/>
                      <a:pt x="0" y="23"/>
                    </a:cubicBezTo>
                    <a:cubicBezTo>
                      <a:pt x="14" y="24"/>
                      <a:pt x="14" y="24"/>
                      <a:pt x="14" y="24"/>
                    </a:cubicBezTo>
                    <a:cubicBezTo>
                      <a:pt x="14" y="18"/>
                      <a:pt x="16" y="12"/>
                      <a:pt x="19" y="7"/>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32" name="Shape 7805">
                <a:extLst>
                  <a:ext uri="{FF2B5EF4-FFF2-40B4-BE49-F238E27FC236}">
                    <a16:creationId xmlns:a16="http://schemas.microsoft.com/office/drawing/2014/main" xmlns="" id="{8D67DD7B-4D89-485E-9645-C26CC00E0C62}"/>
                  </a:ext>
                </a:extLst>
              </p:cNvPr>
              <p:cNvSpPr/>
              <p:nvPr/>
            </p:nvSpPr>
            <p:spPr>
              <a:xfrm>
                <a:off x="5564188" y="2497138"/>
                <a:ext cx="15875" cy="25400"/>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33" name="Shape 7806">
                <a:extLst>
                  <a:ext uri="{FF2B5EF4-FFF2-40B4-BE49-F238E27FC236}">
                    <a16:creationId xmlns:a16="http://schemas.microsoft.com/office/drawing/2014/main" xmlns="" id="{C2B5913F-03A3-426D-B43A-C4B2059F1950}"/>
                  </a:ext>
                </a:extLst>
              </p:cNvPr>
              <p:cNvSpPr/>
              <p:nvPr/>
            </p:nvSpPr>
            <p:spPr>
              <a:xfrm>
                <a:off x="5538788" y="2551113"/>
                <a:ext cx="66675" cy="55562"/>
              </a:xfrm>
              <a:custGeom>
                <a:avLst/>
                <a:gdLst/>
                <a:ahLst/>
                <a:cxnLst/>
                <a:rect l="0" t="0" r="0" b="0"/>
                <a:pathLst>
                  <a:path w="42" h="35" extrusionOk="0">
                    <a:moveTo>
                      <a:pt x="42" y="0"/>
                    </a:moveTo>
                    <a:lnTo>
                      <a:pt x="0" y="0"/>
                    </a:lnTo>
                    <a:lnTo>
                      <a:pt x="21" y="35"/>
                    </a:lnTo>
                    <a:lnTo>
                      <a:pt x="42" y="0"/>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grpSp>
      </p:grpSp>
    </p:spTree>
    <p:extLst>
      <p:ext uri="{BB962C8B-B14F-4D97-AF65-F5344CB8AC3E}">
        <p14:creationId xmlns:p14="http://schemas.microsoft.com/office/powerpoint/2010/main" val="20291502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xmlns="" id="{2B3C6DC9-480C-448B-9851-6C9830B27694}"/>
              </a:ext>
            </a:extLst>
          </p:cNvPr>
          <p:cNvGrpSpPr/>
          <p:nvPr/>
        </p:nvGrpSpPr>
        <p:grpSpPr>
          <a:xfrm>
            <a:off x="616815" y="484840"/>
            <a:ext cx="10958370" cy="2251614"/>
            <a:chOff x="669953" y="1659835"/>
            <a:chExt cx="10958370" cy="2251614"/>
          </a:xfrm>
        </p:grpSpPr>
        <p:sp>
          <p:nvSpPr>
            <p:cNvPr id="6" name="Freeform 6">
              <a:extLst>
                <a:ext uri="{FF2B5EF4-FFF2-40B4-BE49-F238E27FC236}">
                  <a16:creationId xmlns:a16="http://schemas.microsoft.com/office/drawing/2014/main" xmlns="" id="{AF25952A-C220-43B6-A6A4-B134DE0580AB}"/>
                </a:ext>
              </a:extLst>
            </p:cNvPr>
            <p:cNvSpPr>
              <a:spLocks/>
            </p:cNvSpPr>
            <p:nvPr/>
          </p:nvSpPr>
          <p:spPr bwMode="auto">
            <a:xfrm>
              <a:off x="776848" y="1680017"/>
              <a:ext cx="373861" cy="274869"/>
            </a:xfrm>
            <a:custGeom>
              <a:avLst/>
              <a:gdLst>
                <a:gd name="T0" fmla="*/ 81 w 162"/>
                <a:gd name="T1" fmla="*/ 0 h 119"/>
                <a:gd name="T2" fmla="*/ 0 w 162"/>
                <a:gd name="T3" fmla="*/ 119 h 119"/>
                <a:gd name="T4" fmla="*/ 162 w 162"/>
                <a:gd name="T5" fmla="*/ 119 h 119"/>
                <a:gd name="T6" fmla="*/ 81 w 162"/>
                <a:gd name="T7" fmla="*/ 0 h 119"/>
              </a:gdLst>
              <a:ahLst/>
              <a:cxnLst>
                <a:cxn ang="0">
                  <a:pos x="T0" y="T1"/>
                </a:cxn>
                <a:cxn ang="0">
                  <a:pos x="T2" y="T3"/>
                </a:cxn>
                <a:cxn ang="0">
                  <a:pos x="T4" y="T5"/>
                </a:cxn>
                <a:cxn ang="0">
                  <a:pos x="T6" y="T7"/>
                </a:cxn>
              </a:cxnLst>
              <a:rect l="0" t="0" r="r" b="b"/>
              <a:pathLst>
                <a:path w="162" h="119">
                  <a:moveTo>
                    <a:pt x="81" y="0"/>
                  </a:moveTo>
                  <a:cubicBezTo>
                    <a:pt x="34" y="18"/>
                    <a:pt x="0" y="65"/>
                    <a:pt x="0" y="119"/>
                  </a:cubicBezTo>
                  <a:cubicBezTo>
                    <a:pt x="162" y="119"/>
                    <a:pt x="162" y="119"/>
                    <a:pt x="162" y="119"/>
                  </a:cubicBezTo>
                  <a:cubicBezTo>
                    <a:pt x="162" y="65"/>
                    <a:pt x="129" y="19"/>
                    <a:pt x="81" y="0"/>
                  </a:cubicBez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ru-RU"/>
            </a:p>
          </p:txBody>
        </p:sp>
        <p:sp>
          <p:nvSpPr>
            <p:cNvPr id="7" name="Rectangle: Rounded Corners 6">
              <a:extLst>
                <a:ext uri="{FF2B5EF4-FFF2-40B4-BE49-F238E27FC236}">
                  <a16:creationId xmlns:a16="http://schemas.microsoft.com/office/drawing/2014/main" xmlns="" id="{E32F158F-4310-4863-ADCF-ED56509EDAC0}"/>
                </a:ext>
              </a:extLst>
            </p:cNvPr>
            <p:cNvSpPr/>
            <p:nvPr/>
          </p:nvSpPr>
          <p:spPr>
            <a:xfrm>
              <a:off x="776848" y="1953670"/>
              <a:ext cx="10851475" cy="567664"/>
            </a:xfrm>
            <a:prstGeom prst="roundRect">
              <a:avLst>
                <a:gd name="adj" fmla="val 9723"/>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404000" rtlCol="0" anchor="ctr"/>
            <a:lstStyle/>
            <a:p>
              <a:r>
                <a:rPr lang="en-US" sz="2200" b="1" dirty="0">
                  <a:solidFill>
                    <a:schemeClr val="tx1"/>
                  </a:solidFill>
                  <a:effectLst/>
                  <a:latin typeface="Times New Roman" panose="02020603050405020304" pitchFamily="18" charset="0"/>
                  <a:ea typeface="Calibri" panose="020F0502020204030204" pitchFamily="34" charset="0"/>
                </a:rPr>
                <a:t>Personal Starwatcher</a:t>
              </a:r>
              <a:endParaRPr lang="en-IN" sz="2200" b="1" dirty="0">
                <a:solidFill>
                  <a:schemeClr val="tx1"/>
                </a:solidFill>
                <a:latin typeface="Calibri" panose="020F0502020204030204" pitchFamily="34" charset="0"/>
              </a:endParaRPr>
            </a:p>
          </p:txBody>
        </p:sp>
        <p:sp>
          <p:nvSpPr>
            <p:cNvPr id="8" name="Content Placeholder 2">
              <a:extLst>
                <a:ext uri="{FF2B5EF4-FFF2-40B4-BE49-F238E27FC236}">
                  <a16:creationId xmlns:a16="http://schemas.microsoft.com/office/drawing/2014/main" xmlns="" id="{92AC9BF1-9307-4616-A8EA-5077CCAF21BC}"/>
                </a:ext>
              </a:extLst>
            </p:cNvPr>
            <p:cNvSpPr txBox="1">
              <a:spLocks/>
            </p:cNvSpPr>
            <p:nvPr/>
          </p:nvSpPr>
          <p:spPr>
            <a:xfrm>
              <a:off x="669953" y="3035410"/>
              <a:ext cx="10834234" cy="876039"/>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Nunito"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Nunito"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Nunito"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400"/>
                </a:spcBef>
                <a:spcAft>
                  <a:spcPts val="400"/>
                </a:spcAft>
                <a:buNone/>
              </a:pPr>
              <a:r>
                <a:rPr lang="en-US" sz="2200" dirty="0">
                  <a:latin typeface="+mn-lt"/>
                </a:rPr>
                <a:t>This tool acts as a VC startup analyst for in-depth startup evaluations. It swiftly extracts comprehensive insights into a startup's financials, market potential, and risks. The tool's predictive analytics further aids in forecasting future performance, enabling more informed investment decisions and portfolio optimization.</a:t>
              </a:r>
            </a:p>
            <a:p>
              <a:pPr marL="0" indent="0">
                <a:lnSpc>
                  <a:spcPct val="107000"/>
                </a:lnSpc>
                <a:spcAft>
                  <a:spcPts val="800"/>
                </a:spcAft>
                <a:buNone/>
              </a:pPr>
              <a:r>
                <a:rPr lang="en-US" sz="1800" u="sng" kern="100" dirty="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3"/>
                </a:rPr>
                <a:t>https://chat.openai.com/g/g-6CDu3LvuO-personal-starwatcher</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400"/>
                </a:spcBef>
                <a:spcAft>
                  <a:spcPts val="400"/>
                </a:spcAft>
                <a:buNone/>
              </a:pPr>
              <a:endParaRPr lang="en-US" sz="2200" dirty="0">
                <a:latin typeface="+mn-lt"/>
              </a:endParaRPr>
            </a:p>
          </p:txBody>
        </p:sp>
        <p:sp>
          <p:nvSpPr>
            <p:cNvPr id="9" name="Freeform 7">
              <a:extLst>
                <a:ext uri="{FF2B5EF4-FFF2-40B4-BE49-F238E27FC236}">
                  <a16:creationId xmlns:a16="http://schemas.microsoft.com/office/drawing/2014/main" xmlns="" id="{33B6A117-8473-4C5A-ACD4-3F941496A4FE}"/>
                </a:ext>
              </a:extLst>
            </p:cNvPr>
            <p:cNvSpPr>
              <a:spLocks/>
            </p:cNvSpPr>
            <p:nvPr/>
          </p:nvSpPr>
          <p:spPr bwMode="auto">
            <a:xfrm>
              <a:off x="871995" y="1659835"/>
              <a:ext cx="1061994" cy="1111971"/>
            </a:xfrm>
            <a:custGeom>
              <a:avLst/>
              <a:gdLst>
                <a:gd name="T0" fmla="*/ 332 w 461"/>
                <a:gd name="T1" fmla="*/ 0 h 482"/>
                <a:gd name="T2" fmla="*/ 88 w 461"/>
                <a:gd name="T3" fmla="*/ 0 h 482"/>
                <a:gd name="T4" fmla="*/ 40 w 461"/>
                <a:gd name="T5" fmla="*/ 9 h 482"/>
                <a:gd name="T6" fmla="*/ 0 w 461"/>
                <a:gd name="T7" fmla="*/ 35 h 482"/>
                <a:gd name="T8" fmla="*/ 81 w 461"/>
                <a:gd name="T9" fmla="*/ 35 h 482"/>
                <a:gd name="T10" fmla="*/ 121 w 461"/>
                <a:gd name="T11" fmla="*/ 128 h 482"/>
                <a:gd name="T12" fmla="*/ 121 w 461"/>
                <a:gd name="T13" fmla="*/ 311 h 482"/>
                <a:gd name="T14" fmla="*/ 121 w 461"/>
                <a:gd name="T15" fmla="*/ 312 h 482"/>
                <a:gd name="T16" fmla="*/ 291 w 461"/>
                <a:gd name="T17" fmla="*/ 482 h 482"/>
                <a:gd name="T18" fmla="*/ 461 w 461"/>
                <a:gd name="T19" fmla="*/ 312 h 482"/>
                <a:gd name="T20" fmla="*/ 461 w 461"/>
                <a:gd name="T21" fmla="*/ 312 h 482"/>
                <a:gd name="T22" fmla="*/ 461 w 461"/>
                <a:gd name="T23" fmla="*/ 128 h 482"/>
                <a:gd name="T24" fmla="*/ 332 w 461"/>
                <a:gd name="T25" fmla="*/ 0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 h="482">
                  <a:moveTo>
                    <a:pt x="332" y="0"/>
                  </a:moveTo>
                  <a:cubicBezTo>
                    <a:pt x="88" y="0"/>
                    <a:pt x="88" y="0"/>
                    <a:pt x="88" y="0"/>
                  </a:cubicBezTo>
                  <a:cubicBezTo>
                    <a:pt x="71" y="0"/>
                    <a:pt x="55" y="3"/>
                    <a:pt x="40" y="9"/>
                  </a:cubicBezTo>
                  <a:cubicBezTo>
                    <a:pt x="25" y="15"/>
                    <a:pt x="11" y="24"/>
                    <a:pt x="0" y="35"/>
                  </a:cubicBezTo>
                  <a:cubicBezTo>
                    <a:pt x="22" y="13"/>
                    <a:pt x="58" y="13"/>
                    <a:pt x="81" y="35"/>
                  </a:cubicBezTo>
                  <a:cubicBezTo>
                    <a:pt x="106" y="58"/>
                    <a:pt x="121" y="91"/>
                    <a:pt x="121" y="128"/>
                  </a:cubicBezTo>
                  <a:cubicBezTo>
                    <a:pt x="121" y="311"/>
                    <a:pt x="121" y="311"/>
                    <a:pt x="121" y="311"/>
                  </a:cubicBezTo>
                  <a:cubicBezTo>
                    <a:pt x="121" y="311"/>
                    <a:pt x="121" y="311"/>
                    <a:pt x="121" y="312"/>
                  </a:cubicBezTo>
                  <a:cubicBezTo>
                    <a:pt x="121" y="405"/>
                    <a:pt x="197" y="482"/>
                    <a:pt x="291" y="482"/>
                  </a:cubicBezTo>
                  <a:cubicBezTo>
                    <a:pt x="385" y="482"/>
                    <a:pt x="461" y="405"/>
                    <a:pt x="461" y="312"/>
                  </a:cubicBezTo>
                  <a:cubicBezTo>
                    <a:pt x="461" y="312"/>
                    <a:pt x="461" y="312"/>
                    <a:pt x="461" y="312"/>
                  </a:cubicBezTo>
                  <a:cubicBezTo>
                    <a:pt x="461" y="128"/>
                    <a:pt x="461" y="128"/>
                    <a:pt x="461" y="128"/>
                  </a:cubicBezTo>
                  <a:cubicBezTo>
                    <a:pt x="461" y="57"/>
                    <a:pt x="403" y="0"/>
                    <a:pt x="332"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ru-RU"/>
            </a:p>
          </p:txBody>
        </p:sp>
        <p:sp>
          <p:nvSpPr>
            <p:cNvPr id="10" name="Oval 8">
              <a:extLst>
                <a:ext uri="{FF2B5EF4-FFF2-40B4-BE49-F238E27FC236}">
                  <a16:creationId xmlns:a16="http://schemas.microsoft.com/office/drawing/2014/main" xmlns="" id="{D3FC227A-A824-4374-93E6-403C8ED4CC9C}"/>
                </a:ext>
              </a:extLst>
            </p:cNvPr>
            <p:cNvSpPr>
              <a:spLocks noChangeArrowheads="1"/>
            </p:cNvSpPr>
            <p:nvPr/>
          </p:nvSpPr>
          <p:spPr bwMode="auto">
            <a:xfrm>
              <a:off x="1215101" y="2051956"/>
              <a:ext cx="654496" cy="652574"/>
            </a:xfrm>
            <a:prstGeom prst="ellipse">
              <a:avLst/>
            </a:prstGeom>
            <a:solidFill>
              <a:schemeClr val="bg2"/>
            </a:solidFill>
            <a:ln>
              <a:noFill/>
            </a:ln>
          </p:spPr>
          <p:txBody>
            <a:bodyPr vert="horz" wrap="square" lIns="91440" tIns="45720" rIns="91440" bIns="45720" numCol="1" anchor="t" anchorCtr="0" compatLnSpc="1">
              <a:prstTxWarp prst="textNoShape">
                <a:avLst/>
              </a:prstTxWarp>
            </a:bodyPr>
            <a:lstStyle/>
            <a:p>
              <a:endParaRPr lang="ru-RU"/>
            </a:p>
          </p:txBody>
        </p:sp>
        <p:grpSp>
          <p:nvGrpSpPr>
            <p:cNvPr id="11" name="Shape 7784">
              <a:extLst>
                <a:ext uri="{FF2B5EF4-FFF2-40B4-BE49-F238E27FC236}">
                  <a16:creationId xmlns:a16="http://schemas.microsoft.com/office/drawing/2014/main" xmlns="" id="{23289370-5059-4753-A1B1-E5C088D741F0}"/>
                </a:ext>
              </a:extLst>
            </p:cNvPr>
            <p:cNvGrpSpPr/>
            <p:nvPr/>
          </p:nvGrpSpPr>
          <p:grpSpPr>
            <a:xfrm>
              <a:off x="1389773" y="2214880"/>
              <a:ext cx="330464" cy="352116"/>
              <a:chOff x="5538788" y="2417763"/>
              <a:chExt cx="557213" cy="593725"/>
            </a:xfrm>
            <a:solidFill>
              <a:schemeClr val="tx1"/>
            </a:solidFill>
          </p:grpSpPr>
          <p:sp>
            <p:nvSpPr>
              <p:cNvPr id="12" name="Shape 7785">
                <a:extLst>
                  <a:ext uri="{FF2B5EF4-FFF2-40B4-BE49-F238E27FC236}">
                    <a16:creationId xmlns:a16="http://schemas.microsoft.com/office/drawing/2014/main" xmlns="" id="{B404F290-DE3E-4E0F-868A-0A31F5BDF4F9}"/>
                  </a:ext>
                </a:extLst>
              </p:cNvPr>
              <p:cNvSpPr/>
              <p:nvPr/>
            </p:nvSpPr>
            <p:spPr>
              <a:xfrm>
                <a:off x="5538788" y="2727325"/>
                <a:ext cx="188913" cy="284162"/>
              </a:xfrm>
              <a:custGeom>
                <a:avLst/>
                <a:gdLst/>
                <a:ahLst/>
                <a:cxnLst/>
                <a:rect l="0" t="0" r="0" b="0"/>
                <a:pathLst>
                  <a:path w="160" h="242" extrusionOk="0">
                    <a:moveTo>
                      <a:pt x="0" y="233"/>
                    </a:moveTo>
                    <a:cubicBezTo>
                      <a:pt x="0" y="238"/>
                      <a:pt x="4" y="242"/>
                      <a:pt x="9" y="242"/>
                    </a:cubicBezTo>
                    <a:cubicBezTo>
                      <a:pt x="151" y="242"/>
                      <a:pt x="151" y="242"/>
                      <a:pt x="151" y="242"/>
                    </a:cubicBezTo>
                    <a:cubicBezTo>
                      <a:pt x="156" y="242"/>
                      <a:pt x="160" y="238"/>
                      <a:pt x="160" y="233"/>
                    </a:cubicBezTo>
                    <a:cubicBezTo>
                      <a:pt x="160" y="0"/>
                      <a:pt x="160" y="0"/>
                      <a:pt x="160" y="0"/>
                    </a:cubicBezTo>
                    <a:cubicBezTo>
                      <a:pt x="0" y="0"/>
                      <a:pt x="0" y="0"/>
                      <a:pt x="0" y="0"/>
                    </a:cubicBezTo>
                    <a:lnTo>
                      <a:pt x="0" y="233"/>
                    </a:lnTo>
                    <a:close/>
                    <a:moveTo>
                      <a:pt x="80" y="227"/>
                    </a:moveTo>
                    <a:cubicBezTo>
                      <a:pt x="71" y="227"/>
                      <a:pt x="63" y="220"/>
                      <a:pt x="63" y="210"/>
                    </a:cubicBezTo>
                    <a:cubicBezTo>
                      <a:pt x="63" y="200"/>
                      <a:pt x="71" y="192"/>
                      <a:pt x="80" y="192"/>
                    </a:cubicBezTo>
                    <a:cubicBezTo>
                      <a:pt x="90" y="192"/>
                      <a:pt x="98" y="200"/>
                      <a:pt x="98" y="210"/>
                    </a:cubicBezTo>
                    <a:cubicBezTo>
                      <a:pt x="98" y="220"/>
                      <a:pt x="90" y="227"/>
                      <a:pt x="80" y="227"/>
                    </a:cubicBezTo>
                    <a:close/>
                    <a:moveTo>
                      <a:pt x="73" y="175"/>
                    </a:moveTo>
                    <a:cubicBezTo>
                      <a:pt x="73" y="171"/>
                      <a:pt x="76" y="167"/>
                      <a:pt x="80" y="167"/>
                    </a:cubicBezTo>
                    <a:cubicBezTo>
                      <a:pt x="85" y="167"/>
                      <a:pt x="88" y="171"/>
                      <a:pt x="88" y="175"/>
                    </a:cubicBezTo>
                    <a:cubicBezTo>
                      <a:pt x="88" y="179"/>
                      <a:pt x="85" y="183"/>
                      <a:pt x="80" y="183"/>
                    </a:cubicBezTo>
                    <a:cubicBezTo>
                      <a:pt x="76" y="183"/>
                      <a:pt x="73" y="179"/>
                      <a:pt x="73" y="175"/>
                    </a:cubicBezTo>
                    <a:close/>
                    <a:moveTo>
                      <a:pt x="29" y="12"/>
                    </a:moveTo>
                    <a:cubicBezTo>
                      <a:pt x="131" y="12"/>
                      <a:pt x="131" y="12"/>
                      <a:pt x="131" y="12"/>
                    </a:cubicBezTo>
                    <a:cubicBezTo>
                      <a:pt x="131" y="33"/>
                      <a:pt x="131" y="33"/>
                      <a:pt x="131" y="33"/>
                    </a:cubicBezTo>
                    <a:cubicBezTo>
                      <a:pt x="29" y="33"/>
                      <a:pt x="29" y="33"/>
                      <a:pt x="29" y="33"/>
                    </a:cubicBezTo>
                    <a:lnTo>
                      <a:pt x="29" y="12"/>
                    </a:lnTo>
                    <a:close/>
                    <a:moveTo>
                      <a:pt x="29" y="43"/>
                    </a:moveTo>
                    <a:cubicBezTo>
                      <a:pt x="131" y="43"/>
                      <a:pt x="131" y="43"/>
                      <a:pt x="131" y="43"/>
                    </a:cubicBezTo>
                    <a:cubicBezTo>
                      <a:pt x="131" y="64"/>
                      <a:pt x="131" y="64"/>
                      <a:pt x="131" y="64"/>
                    </a:cubicBezTo>
                    <a:cubicBezTo>
                      <a:pt x="29" y="64"/>
                      <a:pt x="29" y="64"/>
                      <a:pt x="29" y="64"/>
                    </a:cubicBezTo>
                    <a:lnTo>
                      <a:pt x="29" y="43"/>
                    </a:lnTo>
                    <a:close/>
                    <a:moveTo>
                      <a:pt x="29" y="73"/>
                    </a:moveTo>
                    <a:cubicBezTo>
                      <a:pt x="131" y="73"/>
                      <a:pt x="131" y="73"/>
                      <a:pt x="131" y="73"/>
                    </a:cubicBezTo>
                    <a:cubicBezTo>
                      <a:pt x="131" y="94"/>
                      <a:pt x="131" y="94"/>
                      <a:pt x="131" y="94"/>
                    </a:cubicBezTo>
                    <a:cubicBezTo>
                      <a:pt x="29" y="94"/>
                      <a:pt x="29" y="94"/>
                      <a:pt x="29" y="94"/>
                    </a:cubicBezTo>
                    <a:lnTo>
                      <a:pt x="29" y="73"/>
                    </a:lnTo>
                    <a:close/>
                    <a:moveTo>
                      <a:pt x="29" y="104"/>
                    </a:moveTo>
                    <a:cubicBezTo>
                      <a:pt x="131" y="104"/>
                      <a:pt x="131" y="104"/>
                      <a:pt x="131" y="104"/>
                    </a:cubicBezTo>
                    <a:cubicBezTo>
                      <a:pt x="131" y="125"/>
                      <a:pt x="131" y="125"/>
                      <a:pt x="131" y="125"/>
                    </a:cubicBezTo>
                    <a:cubicBezTo>
                      <a:pt x="29" y="125"/>
                      <a:pt x="29" y="125"/>
                      <a:pt x="29" y="125"/>
                    </a:cubicBezTo>
                    <a:lnTo>
                      <a:pt x="29" y="104"/>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13" name="Shape 7786">
                <a:extLst>
                  <a:ext uri="{FF2B5EF4-FFF2-40B4-BE49-F238E27FC236}">
                    <a16:creationId xmlns:a16="http://schemas.microsoft.com/office/drawing/2014/main" xmlns="" id="{8AA88BBE-929F-4297-B58B-058287AACAB7}"/>
                  </a:ext>
                </a:extLst>
              </p:cNvPr>
              <p:cNvSpPr/>
              <p:nvPr/>
            </p:nvSpPr>
            <p:spPr>
              <a:xfrm>
                <a:off x="5538788" y="2651125"/>
                <a:ext cx="188913" cy="63500"/>
              </a:xfrm>
              <a:custGeom>
                <a:avLst/>
                <a:gdLst/>
                <a:ahLst/>
                <a:cxnLst/>
                <a:rect l="0" t="0" r="0" b="0"/>
                <a:pathLst>
                  <a:path w="160" h="55" extrusionOk="0">
                    <a:moveTo>
                      <a:pt x="151" y="0"/>
                    </a:moveTo>
                    <a:cubicBezTo>
                      <a:pt x="9" y="0"/>
                      <a:pt x="9" y="0"/>
                      <a:pt x="9" y="0"/>
                    </a:cubicBezTo>
                    <a:cubicBezTo>
                      <a:pt x="4" y="0"/>
                      <a:pt x="0" y="4"/>
                      <a:pt x="0" y="9"/>
                    </a:cubicBezTo>
                    <a:cubicBezTo>
                      <a:pt x="0" y="55"/>
                      <a:pt x="0" y="55"/>
                      <a:pt x="0" y="55"/>
                    </a:cubicBezTo>
                    <a:cubicBezTo>
                      <a:pt x="160" y="55"/>
                      <a:pt x="160" y="55"/>
                      <a:pt x="160" y="55"/>
                    </a:cubicBezTo>
                    <a:cubicBezTo>
                      <a:pt x="160" y="9"/>
                      <a:pt x="160" y="9"/>
                      <a:pt x="160" y="9"/>
                    </a:cubicBezTo>
                    <a:cubicBezTo>
                      <a:pt x="160" y="4"/>
                      <a:pt x="156" y="0"/>
                      <a:pt x="151" y="0"/>
                    </a:cubicBezTo>
                    <a:close/>
                    <a:moveTo>
                      <a:pt x="43" y="43"/>
                    </a:moveTo>
                    <a:cubicBezTo>
                      <a:pt x="36" y="43"/>
                      <a:pt x="30" y="37"/>
                      <a:pt x="30" y="30"/>
                    </a:cubicBezTo>
                    <a:cubicBezTo>
                      <a:pt x="30" y="22"/>
                      <a:pt x="36" y="16"/>
                      <a:pt x="43" y="16"/>
                    </a:cubicBezTo>
                    <a:cubicBezTo>
                      <a:pt x="51" y="16"/>
                      <a:pt x="57" y="22"/>
                      <a:pt x="57" y="30"/>
                    </a:cubicBezTo>
                    <a:cubicBezTo>
                      <a:pt x="57" y="37"/>
                      <a:pt x="51" y="43"/>
                      <a:pt x="43" y="43"/>
                    </a:cubicBezTo>
                    <a:close/>
                    <a:moveTo>
                      <a:pt x="131" y="38"/>
                    </a:moveTo>
                    <a:cubicBezTo>
                      <a:pt x="68" y="38"/>
                      <a:pt x="68" y="38"/>
                      <a:pt x="68" y="38"/>
                    </a:cubicBezTo>
                    <a:cubicBezTo>
                      <a:pt x="68" y="22"/>
                      <a:pt x="68" y="22"/>
                      <a:pt x="68" y="22"/>
                    </a:cubicBezTo>
                    <a:cubicBezTo>
                      <a:pt x="131" y="22"/>
                      <a:pt x="131" y="22"/>
                      <a:pt x="131" y="22"/>
                    </a:cubicBezTo>
                    <a:lnTo>
                      <a:pt x="131" y="38"/>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14" name="Shape 7787">
                <a:extLst>
                  <a:ext uri="{FF2B5EF4-FFF2-40B4-BE49-F238E27FC236}">
                    <a16:creationId xmlns:a16="http://schemas.microsoft.com/office/drawing/2014/main" xmlns="" id="{48AEC11C-871D-4E9E-87F1-0463A2364B6D}"/>
                  </a:ext>
                </a:extLst>
              </p:cNvPr>
              <p:cNvSpPr/>
              <p:nvPr/>
            </p:nvSpPr>
            <p:spPr>
              <a:xfrm>
                <a:off x="6013450" y="2990850"/>
                <a:ext cx="28575" cy="20637"/>
              </a:xfrm>
              <a:custGeom>
                <a:avLst/>
                <a:gdLst/>
                <a:ahLst/>
                <a:cxnLst/>
                <a:rect l="0" t="0" r="0" b="0"/>
                <a:pathLst>
                  <a:path w="24" h="18" extrusionOk="0">
                    <a:moveTo>
                      <a:pt x="1" y="4"/>
                    </a:moveTo>
                    <a:cubicBezTo>
                      <a:pt x="0" y="4"/>
                      <a:pt x="0" y="4"/>
                      <a:pt x="0" y="4"/>
                    </a:cubicBezTo>
                    <a:cubicBezTo>
                      <a:pt x="0" y="18"/>
                      <a:pt x="0" y="18"/>
                      <a:pt x="0" y="18"/>
                    </a:cubicBezTo>
                    <a:cubicBezTo>
                      <a:pt x="1" y="18"/>
                      <a:pt x="1" y="18"/>
                      <a:pt x="1" y="18"/>
                    </a:cubicBezTo>
                    <a:cubicBezTo>
                      <a:pt x="9" y="18"/>
                      <a:pt x="17" y="16"/>
                      <a:pt x="24" y="12"/>
                    </a:cubicBezTo>
                    <a:cubicBezTo>
                      <a:pt x="17" y="0"/>
                      <a:pt x="17" y="0"/>
                      <a:pt x="17" y="0"/>
                    </a:cubicBezTo>
                    <a:cubicBezTo>
                      <a:pt x="12" y="3"/>
                      <a:pt x="6" y="4"/>
                      <a:pt x="1" y="4"/>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15" name="Shape 7788">
                <a:extLst>
                  <a:ext uri="{FF2B5EF4-FFF2-40B4-BE49-F238E27FC236}">
                    <a16:creationId xmlns:a16="http://schemas.microsoft.com/office/drawing/2014/main" xmlns="" id="{84D51725-7B67-4A61-8423-C9401B5297C1}"/>
                  </a:ext>
                </a:extLst>
              </p:cNvPr>
              <p:cNvSpPr/>
              <p:nvPr/>
            </p:nvSpPr>
            <p:spPr>
              <a:xfrm>
                <a:off x="5964238" y="299561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16" name="Shape 7789">
                <a:extLst>
                  <a:ext uri="{FF2B5EF4-FFF2-40B4-BE49-F238E27FC236}">
                    <a16:creationId xmlns:a16="http://schemas.microsoft.com/office/drawing/2014/main" xmlns="" id="{637C5BB0-C6E7-4A4B-AA92-3F2CD690ADF2}"/>
                  </a:ext>
                </a:extLst>
              </p:cNvPr>
              <p:cNvSpPr/>
              <p:nvPr/>
            </p:nvSpPr>
            <p:spPr>
              <a:xfrm>
                <a:off x="5913438" y="2995613"/>
                <a:ext cx="23813"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17" name="Shape 7790">
                <a:extLst>
                  <a:ext uri="{FF2B5EF4-FFF2-40B4-BE49-F238E27FC236}">
                    <a16:creationId xmlns:a16="http://schemas.microsoft.com/office/drawing/2014/main" xmlns="" id="{9F4323AF-D0BA-4794-B9D0-F6BE8F131A2D}"/>
                  </a:ext>
                </a:extLst>
              </p:cNvPr>
              <p:cNvSpPr/>
              <p:nvPr/>
            </p:nvSpPr>
            <p:spPr>
              <a:xfrm>
                <a:off x="5862638" y="299561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18" name="Shape 7791">
                <a:extLst>
                  <a:ext uri="{FF2B5EF4-FFF2-40B4-BE49-F238E27FC236}">
                    <a16:creationId xmlns:a16="http://schemas.microsoft.com/office/drawing/2014/main" xmlns="" id="{0C320854-6D22-4107-9D4E-D2EE4CCC8100}"/>
                  </a:ext>
                </a:extLst>
              </p:cNvPr>
              <p:cNvSpPr/>
              <p:nvPr/>
            </p:nvSpPr>
            <p:spPr>
              <a:xfrm>
                <a:off x="5807075" y="2995613"/>
                <a:ext cx="23813"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19" name="Shape 7792">
                <a:extLst>
                  <a:ext uri="{FF2B5EF4-FFF2-40B4-BE49-F238E27FC236}">
                    <a16:creationId xmlns:a16="http://schemas.microsoft.com/office/drawing/2014/main" xmlns="" id="{A0B58230-5138-4895-A7C8-C64EE93FF707}"/>
                  </a:ext>
                </a:extLst>
              </p:cNvPr>
              <p:cNvSpPr/>
              <p:nvPr/>
            </p:nvSpPr>
            <p:spPr>
              <a:xfrm>
                <a:off x="5753100" y="299561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20" name="Shape 7793">
                <a:extLst>
                  <a:ext uri="{FF2B5EF4-FFF2-40B4-BE49-F238E27FC236}">
                    <a16:creationId xmlns:a16="http://schemas.microsoft.com/office/drawing/2014/main" xmlns="" id="{D05D7CC5-ABA2-4CAF-B915-F9B3141A5E84}"/>
                  </a:ext>
                </a:extLst>
              </p:cNvPr>
              <p:cNvSpPr/>
              <p:nvPr/>
            </p:nvSpPr>
            <p:spPr>
              <a:xfrm>
                <a:off x="6048375" y="2955925"/>
                <a:ext cx="22225" cy="28575"/>
              </a:xfrm>
              <a:custGeom>
                <a:avLst/>
                <a:gdLst/>
                <a:ahLst/>
                <a:cxnLst/>
                <a:rect l="0" t="0" r="0" b="0"/>
                <a:pathLst>
                  <a:path w="19" h="24" extrusionOk="0">
                    <a:moveTo>
                      <a:pt x="0" y="17"/>
                    </a:moveTo>
                    <a:cubicBezTo>
                      <a:pt x="12" y="24"/>
                      <a:pt x="12" y="24"/>
                      <a:pt x="12" y="24"/>
                    </a:cubicBezTo>
                    <a:cubicBezTo>
                      <a:pt x="17" y="17"/>
                      <a:pt x="19" y="9"/>
                      <a:pt x="19" y="0"/>
                    </a:cubicBezTo>
                    <a:cubicBezTo>
                      <a:pt x="6" y="0"/>
                      <a:pt x="6" y="0"/>
                      <a:pt x="6" y="0"/>
                    </a:cubicBezTo>
                    <a:cubicBezTo>
                      <a:pt x="5" y="6"/>
                      <a:pt x="3" y="12"/>
                      <a:pt x="0" y="17"/>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21" name="Shape 7794">
                <a:extLst>
                  <a:ext uri="{FF2B5EF4-FFF2-40B4-BE49-F238E27FC236}">
                    <a16:creationId xmlns:a16="http://schemas.microsoft.com/office/drawing/2014/main" xmlns="" id="{015EC4C4-798A-45F1-B7D1-B53FE36E7F91}"/>
                  </a:ext>
                </a:extLst>
              </p:cNvPr>
              <p:cNvSpPr/>
              <p:nvPr/>
            </p:nvSpPr>
            <p:spPr>
              <a:xfrm>
                <a:off x="6056313" y="2906713"/>
                <a:ext cx="15875" cy="23812"/>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22" name="Shape 7795">
                <a:extLst>
                  <a:ext uri="{FF2B5EF4-FFF2-40B4-BE49-F238E27FC236}">
                    <a16:creationId xmlns:a16="http://schemas.microsoft.com/office/drawing/2014/main" xmlns="" id="{C7A2073A-29F2-46BE-B140-5645999A975F}"/>
                  </a:ext>
                </a:extLst>
              </p:cNvPr>
              <p:cNvSpPr/>
              <p:nvPr/>
            </p:nvSpPr>
            <p:spPr>
              <a:xfrm>
                <a:off x="6030913" y="2820988"/>
                <a:ext cx="65088" cy="57150"/>
              </a:xfrm>
              <a:custGeom>
                <a:avLst/>
                <a:gdLst/>
                <a:ahLst/>
                <a:cxnLst/>
                <a:rect l="0" t="0" r="0" b="0"/>
                <a:pathLst>
                  <a:path w="41" h="36" extrusionOk="0">
                    <a:moveTo>
                      <a:pt x="0" y="36"/>
                    </a:moveTo>
                    <a:lnTo>
                      <a:pt x="41" y="36"/>
                    </a:lnTo>
                    <a:lnTo>
                      <a:pt x="21" y="0"/>
                    </a:lnTo>
                    <a:lnTo>
                      <a:pt x="0" y="36"/>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23" name="Shape 7796">
                <a:extLst>
                  <a:ext uri="{FF2B5EF4-FFF2-40B4-BE49-F238E27FC236}">
                    <a16:creationId xmlns:a16="http://schemas.microsoft.com/office/drawing/2014/main" xmlns="" id="{2B688F1F-E28A-44EF-8846-4974AF0A5BCE}"/>
                  </a:ext>
                </a:extLst>
              </p:cNvPr>
              <p:cNvSpPr/>
              <p:nvPr/>
            </p:nvSpPr>
            <p:spPr>
              <a:xfrm>
                <a:off x="5908675" y="2495550"/>
                <a:ext cx="187325" cy="282575"/>
              </a:xfrm>
              <a:custGeom>
                <a:avLst/>
                <a:gdLst/>
                <a:ahLst/>
                <a:cxnLst/>
                <a:rect l="0" t="0" r="0" b="0"/>
                <a:pathLst>
                  <a:path w="160" h="242" extrusionOk="0">
                    <a:moveTo>
                      <a:pt x="0" y="233"/>
                    </a:moveTo>
                    <a:cubicBezTo>
                      <a:pt x="0" y="238"/>
                      <a:pt x="4" y="242"/>
                      <a:pt x="9" y="242"/>
                    </a:cubicBezTo>
                    <a:cubicBezTo>
                      <a:pt x="151" y="242"/>
                      <a:pt x="151" y="242"/>
                      <a:pt x="151" y="242"/>
                    </a:cubicBezTo>
                    <a:cubicBezTo>
                      <a:pt x="156" y="242"/>
                      <a:pt x="160" y="238"/>
                      <a:pt x="160" y="233"/>
                    </a:cubicBezTo>
                    <a:cubicBezTo>
                      <a:pt x="160" y="0"/>
                      <a:pt x="160" y="0"/>
                      <a:pt x="160" y="0"/>
                    </a:cubicBezTo>
                    <a:cubicBezTo>
                      <a:pt x="0" y="0"/>
                      <a:pt x="0" y="0"/>
                      <a:pt x="0" y="0"/>
                    </a:cubicBezTo>
                    <a:lnTo>
                      <a:pt x="0" y="233"/>
                    </a:lnTo>
                    <a:close/>
                    <a:moveTo>
                      <a:pt x="80" y="227"/>
                    </a:moveTo>
                    <a:cubicBezTo>
                      <a:pt x="71" y="227"/>
                      <a:pt x="63" y="220"/>
                      <a:pt x="63" y="210"/>
                    </a:cubicBezTo>
                    <a:cubicBezTo>
                      <a:pt x="63" y="200"/>
                      <a:pt x="71" y="192"/>
                      <a:pt x="80" y="192"/>
                    </a:cubicBezTo>
                    <a:cubicBezTo>
                      <a:pt x="90" y="192"/>
                      <a:pt x="98" y="200"/>
                      <a:pt x="98" y="210"/>
                    </a:cubicBezTo>
                    <a:cubicBezTo>
                      <a:pt x="98" y="220"/>
                      <a:pt x="90" y="227"/>
                      <a:pt x="80" y="227"/>
                    </a:cubicBezTo>
                    <a:close/>
                    <a:moveTo>
                      <a:pt x="72" y="175"/>
                    </a:moveTo>
                    <a:cubicBezTo>
                      <a:pt x="72" y="171"/>
                      <a:pt x="76" y="167"/>
                      <a:pt x="80" y="167"/>
                    </a:cubicBezTo>
                    <a:cubicBezTo>
                      <a:pt x="85" y="167"/>
                      <a:pt x="88" y="171"/>
                      <a:pt x="88" y="175"/>
                    </a:cubicBezTo>
                    <a:cubicBezTo>
                      <a:pt x="88" y="179"/>
                      <a:pt x="85" y="183"/>
                      <a:pt x="80" y="183"/>
                    </a:cubicBezTo>
                    <a:cubicBezTo>
                      <a:pt x="76" y="183"/>
                      <a:pt x="72" y="179"/>
                      <a:pt x="72" y="175"/>
                    </a:cubicBezTo>
                    <a:close/>
                    <a:moveTo>
                      <a:pt x="29" y="12"/>
                    </a:moveTo>
                    <a:cubicBezTo>
                      <a:pt x="131" y="12"/>
                      <a:pt x="131" y="12"/>
                      <a:pt x="131" y="12"/>
                    </a:cubicBezTo>
                    <a:cubicBezTo>
                      <a:pt x="131" y="33"/>
                      <a:pt x="131" y="33"/>
                      <a:pt x="131" y="33"/>
                    </a:cubicBezTo>
                    <a:cubicBezTo>
                      <a:pt x="29" y="33"/>
                      <a:pt x="29" y="33"/>
                      <a:pt x="29" y="33"/>
                    </a:cubicBezTo>
                    <a:lnTo>
                      <a:pt x="29" y="12"/>
                    </a:lnTo>
                    <a:close/>
                    <a:moveTo>
                      <a:pt x="29" y="43"/>
                    </a:moveTo>
                    <a:cubicBezTo>
                      <a:pt x="131" y="43"/>
                      <a:pt x="131" y="43"/>
                      <a:pt x="131" y="43"/>
                    </a:cubicBezTo>
                    <a:cubicBezTo>
                      <a:pt x="131" y="64"/>
                      <a:pt x="131" y="64"/>
                      <a:pt x="131" y="64"/>
                    </a:cubicBezTo>
                    <a:cubicBezTo>
                      <a:pt x="29" y="64"/>
                      <a:pt x="29" y="64"/>
                      <a:pt x="29" y="64"/>
                    </a:cubicBezTo>
                    <a:lnTo>
                      <a:pt x="29" y="43"/>
                    </a:lnTo>
                    <a:close/>
                    <a:moveTo>
                      <a:pt x="29" y="73"/>
                    </a:moveTo>
                    <a:cubicBezTo>
                      <a:pt x="131" y="73"/>
                      <a:pt x="131" y="73"/>
                      <a:pt x="131" y="73"/>
                    </a:cubicBezTo>
                    <a:cubicBezTo>
                      <a:pt x="131" y="94"/>
                      <a:pt x="131" y="94"/>
                      <a:pt x="131" y="94"/>
                    </a:cubicBezTo>
                    <a:cubicBezTo>
                      <a:pt x="29" y="94"/>
                      <a:pt x="29" y="94"/>
                      <a:pt x="29" y="94"/>
                    </a:cubicBezTo>
                    <a:lnTo>
                      <a:pt x="29" y="73"/>
                    </a:lnTo>
                    <a:close/>
                    <a:moveTo>
                      <a:pt x="29" y="104"/>
                    </a:moveTo>
                    <a:cubicBezTo>
                      <a:pt x="131" y="104"/>
                      <a:pt x="131" y="104"/>
                      <a:pt x="131" y="104"/>
                    </a:cubicBezTo>
                    <a:cubicBezTo>
                      <a:pt x="131" y="125"/>
                      <a:pt x="131" y="125"/>
                      <a:pt x="131" y="125"/>
                    </a:cubicBezTo>
                    <a:cubicBezTo>
                      <a:pt x="29" y="125"/>
                      <a:pt x="29" y="125"/>
                      <a:pt x="29" y="125"/>
                    </a:cubicBezTo>
                    <a:lnTo>
                      <a:pt x="29" y="104"/>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24" name="Shape 7797">
                <a:extLst>
                  <a:ext uri="{FF2B5EF4-FFF2-40B4-BE49-F238E27FC236}">
                    <a16:creationId xmlns:a16="http://schemas.microsoft.com/office/drawing/2014/main" xmlns="" id="{44EDFF63-B7ED-4D5A-A407-C96543C2A76F}"/>
                  </a:ext>
                </a:extLst>
              </p:cNvPr>
              <p:cNvSpPr/>
              <p:nvPr/>
            </p:nvSpPr>
            <p:spPr>
              <a:xfrm>
                <a:off x="5908675" y="2417763"/>
                <a:ext cx="187325" cy="65087"/>
              </a:xfrm>
              <a:custGeom>
                <a:avLst/>
                <a:gdLst/>
                <a:ahLst/>
                <a:cxnLst/>
                <a:rect l="0" t="0" r="0" b="0"/>
                <a:pathLst>
                  <a:path w="160" h="55" extrusionOk="0">
                    <a:moveTo>
                      <a:pt x="151" y="0"/>
                    </a:moveTo>
                    <a:cubicBezTo>
                      <a:pt x="9" y="0"/>
                      <a:pt x="9" y="0"/>
                      <a:pt x="9" y="0"/>
                    </a:cubicBezTo>
                    <a:cubicBezTo>
                      <a:pt x="4" y="0"/>
                      <a:pt x="0" y="4"/>
                      <a:pt x="0" y="9"/>
                    </a:cubicBezTo>
                    <a:cubicBezTo>
                      <a:pt x="0" y="55"/>
                      <a:pt x="0" y="55"/>
                      <a:pt x="0" y="55"/>
                    </a:cubicBezTo>
                    <a:cubicBezTo>
                      <a:pt x="160" y="55"/>
                      <a:pt x="160" y="55"/>
                      <a:pt x="160" y="55"/>
                    </a:cubicBezTo>
                    <a:cubicBezTo>
                      <a:pt x="160" y="9"/>
                      <a:pt x="160" y="9"/>
                      <a:pt x="160" y="9"/>
                    </a:cubicBezTo>
                    <a:cubicBezTo>
                      <a:pt x="160" y="4"/>
                      <a:pt x="156" y="0"/>
                      <a:pt x="151" y="0"/>
                    </a:cubicBezTo>
                    <a:close/>
                    <a:moveTo>
                      <a:pt x="93" y="38"/>
                    </a:moveTo>
                    <a:cubicBezTo>
                      <a:pt x="29" y="38"/>
                      <a:pt x="29" y="38"/>
                      <a:pt x="29" y="38"/>
                    </a:cubicBezTo>
                    <a:cubicBezTo>
                      <a:pt x="29" y="22"/>
                      <a:pt x="29" y="22"/>
                      <a:pt x="29" y="22"/>
                    </a:cubicBezTo>
                    <a:cubicBezTo>
                      <a:pt x="93" y="22"/>
                      <a:pt x="93" y="22"/>
                      <a:pt x="93" y="22"/>
                    </a:cubicBezTo>
                    <a:lnTo>
                      <a:pt x="93" y="38"/>
                    </a:lnTo>
                    <a:close/>
                    <a:moveTo>
                      <a:pt x="117" y="43"/>
                    </a:moveTo>
                    <a:cubicBezTo>
                      <a:pt x="110" y="43"/>
                      <a:pt x="104" y="37"/>
                      <a:pt x="104" y="30"/>
                    </a:cubicBezTo>
                    <a:cubicBezTo>
                      <a:pt x="104" y="22"/>
                      <a:pt x="110" y="16"/>
                      <a:pt x="117" y="16"/>
                    </a:cubicBezTo>
                    <a:cubicBezTo>
                      <a:pt x="125" y="16"/>
                      <a:pt x="131" y="22"/>
                      <a:pt x="131" y="30"/>
                    </a:cubicBezTo>
                    <a:cubicBezTo>
                      <a:pt x="131" y="37"/>
                      <a:pt x="125" y="43"/>
                      <a:pt x="117" y="43"/>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25" name="Shape 7798">
                <a:extLst>
                  <a:ext uri="{FF2B5EF4-FFF2-40B4-BE49-F238E27FC236}">
                    <a16:creationId xmlns:a16="http://schemas.microsoft.com/office/drawing/2014/main" xmlns="" id="{87857712-77DE-4594-AF10-ABC1436DF29E}"/>
                  </a:ext>
                </a:extLst>
              </p:cNvPr>
              <p:cNvSpPr/>
              <p:nvPr/>
            </p:nvSpPr>
            <p:spPr>
              <a:xfrm>
                <a:off x="5592763" y="2417763"/>
                <a:ext cx="30163" cy="20637"/>
              </a:xfrm>
              <a:custGeom>
                <a:avLst/>
                <a:gdLst/>
                <a:ahLst/>
                <a:cxnLst/>
                <a:rect l="0" t="0" r="0" b="0"/>
                <a:pathLst>
                  <a:path w="25" h="18" extrusionOk="0">
                    <a:moveTo>
                      <a:pt x="24" y="14"/>
                    </a:moveTo>
                    <a:cubicBezTo>
                      <a:pt x="25" y="14"/>
                      <a:pt x="25" y="14"/>
                      <a:pt x="25" y="14"/>
                    </a:cubicBezTo>
                    <a:cubicBezTo>
                      <a:pt x="25" y="0"/>
                      <a:pt x="25" y="0"/>
                      <a:pt x="25" y="0"/>
                    </a:cubicBezTo>
                    <a:cubicBezTo>
                      <a:pt x="24" y="0"/>
                      <a:pt x="24" y="0"/>
                      <a:pt x="24" y="0"/>
                    </a:cubicBezTo>
                    <a:cubicBezTo>
                      <a:pt x="16" y="0"/>
                      <a:pt x="8" y="2"/>
                      <a:pt x="0" y="6"/>
                    </a:cubicBezTo>
                    <a:cubicBezTo>
                      <a:pt x="7" y="18"/>
                      <a:pt x="7" y="18"/>
                      <a:pt x="7" y="18"/>
                    </a:cubicBezTo>
                    <a:cubicBezTo>
                      <a:pt x="12" y="15"/>
                      <a:pt x="18" y="14"/>
                      <a:pt x="24" y="14"/>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26" name="Shape 7799">
                <a:extLst>
                  <a:ext uri="{FF2B5EF4-FFF2-40B4-BE49-F238E27FC236}">
                    <a16:creationId xmlns:a16="http://schemas.microsoft.com/office/drawing/2014/main" xmlns="" id="{C97F4003-2234-498E-A506-F6A40C806A79}"/>
                  </a:ext>
                </a:extLst>
              </p:cNvPr>
              <p:cNvSpPr/>
              <p:nvPr/>
            </p:nvSpPr>
            <p:spPr>
              <a:xfrm>
                <a:off x="5646738" y="2417763"/>
                <a:ext cx="26988"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27" name="Shape 7800">
                <a:extLst>
                  <a:ext uri="{FF2B5EF4-FFF2-40B4-BE49-F238E27FC236}">
                    <a16:creationId xmlns:a16="http://schemas.microsoft.com/office/drawing/2014/main" xmlns="" id="{D7102ABE-93CD-4D9C-A6A6-FBC642D1274A}"/>
                  </a:ext>
                </a:extLst>
              </p:cNvPr>
              <p:cNvSpPr/>
              <p:nvPr/>
            </p:nvSpPr>
            <p:spPr>
              <a:xfrm>
                <a:off x="5697538" y="241776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28" name="Shape 7801">
                <a:extLst>
                  <a:ext uri="{FF2B5EF4-FFF2-40B4-BE49-F238E27FC236}">
                    <a16:creationId xmlns:a16="http://schemas.microsoft.com/office/drawing/2014/main" xmlns="" id="{03805C62-A37D-4DE3-9E69-843FD18D84AE}"/>
                  </a:ext>
                </a:extLst>
              </p:cNvPr>
              <p:cNvSpPr/>
              <p:nvPr/>
            </p:nvSpPr>
            <p:spPr>
              <a:xfrm>
                <a:off x="5748338" y="241776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29" name="Shape 7802">
                <a:extLst>
                  <a:ext uri="{FF2B5EF4-FFF2-40B4-BE49-F238E27FC236}">
                    <a16:creationId xmlns:a16="http://schemas.microsoft.com/office/drawing/2014/main" xmlns="" id="{ACF2CEE8-93F4-4280-8679-2037EA880340}"/>
                  </a:ext>
                </a:extLst>
              </p:cNvPr>
              <p:cNvSpPr/>
              <p:nvPr/>
            </p:nvSpPr>
            <p:spPr>
              <a:xfrm>
                <a:off x="5799138" y="241776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30" name="Shape 7803">
                <a:extLst>
                  <a:ext uri="{FF2B5EF4-FFF2-40B4-BE49-F238E27FC236}">
                    <a16:creationId xmlns:a16="http://schemas.microsoft.com/office/drawing/2014/main" xmlns="" id="{A3661D4F-7FB4-4550-974E-F7486865F0A9}"/>
                  </a:ext>
                </a:extLst>
              </p:cNvPr>
              <p:cNvSpPr/>
              <p:nvPr/>
            </p:nvSpPr>
            <p:spPr>
              <a:xfrm>
                <a:off x="5857875" y="241776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31" name="Shape 7804">
                <a:extLst>
                  <a:ext uri="{FF2B5EF4-FFF2-40B4-BE49-F238E27FC236}">
                    <a16:creationId xmlns:a16="http://schemas.microsoft.com/office/drawing/2014/main" xmlns="" id="{27F25E40-76AE-4E9C-A30D-53E2E601B407}"/>
                  </a:ext>
                </a:extLst>
              </p:cNvPr>
              <p:cNvSpPr/>
              <p:nvPr/>
            </p:nvSpPr>
            <p:spPr>
              <a:xfrm>
                <a:off x="5564188" y="2444750"/>
                <a:ext cx="22225" cy="28575"/>
              </a:xfrm>
              <a:custGeom>
                <a:avLst/>
                <a:gdLst/>
                <a:ahLst/>
                <a:cxnLst/>
                <a:rect l="0" t="0" r="0" b="0"/>
                <a:pathLst>
                  <a:path w="19" h="24" extrusionOk="0">
                    <a:moveTo>
                      <a:pt x="19" y="7"/>
                    </a:moveTo>
                    <a:cubicBezTo>
                      <a:pt x="7" y="0"/>
                      <a:pt x="7" y="0"/>
                      <a:pt x="7" y="0"/>
                    </a:cubicBezTo>
                    <a:cubicBezTo>
                      <a:pt x="3" y="7"/>
                      <a:pt x="0" y="15"/>
                      <a:pt x="0" y="23"/>
                    </a:cubicBezTo>
                    <a:cubicBezTo>
                      <a:pt x="14" y="24"/>
                      <a:pt x="14" y="24"/>
                      <a:pt x="14" y="24"/>
                    </a:cubicBezTo>
                    <a:cubicBezTo>
                      <a:pt x="14" y="18"/>
                      <a:pt x="16" y="12"/>
                      <a:pt x="19" y="7"/>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32" name="Shape 7805">
                <a:extLst>
                  <a:ext uri="{FF2B5EF4-FFF2-40B4-BE49-F238E27FC236}">
                    <a16:creationId xmlns:a16="http://schemas.microsoft.com/office/drawing/2014/main" xmlns="" id="{8D67DD7B-4D89-485E-9645-C26CC00E0C62}"/>
                  </a:ext>
                </a:extLst>
              </p:cNvPr>
              <p:cNvSpPr/>
              <p:nvPr/>
            </p:nvSpPr>
            <p:spPr>
              <a:xfrm>
                <a:off x="5564188" y="2497138"/>
                <a:ext cx="15875" cy="25400"/>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33" name="Shape 7806">
                <a:extLst>
                  <a:ext uri="{FF2B5EF4-FFF2-40B4-BE49-F238E27FC236}">
                    <a16:creationId xmlns:a16="http://schemas.microsoft.com/office/drawing/2014/main" xmlns="" id="{C2B5913F-03A3-426D-B43A-C4B2059F1950}"/>
                  </a:ext>
                </a:extLst>
              </p:cNvPr>
              <p:cNvSpPr/>
              <p:nvPr/>
            </p:nvSpPr>
            <p:spPr>
              <a:xfrm>
                <a:off x="5538788" y="2551113"/>
                <a:ext cx="66675" cy="55562"/>
              </a:xfrm>
              <a:custGeom>
                <a:avLst/>
                <a:gdLst/>
                <a:ahLst/>
                <a:cxnLst/>
                <a:rect l="0" t="0" r="0" b="0"/>
                <a:pathLst>
                  <a:path w="42" h="35" extrusionOk="0">
                    <a:moveTo>
                      <a:pt x="42" y="0"/>
                    </a:moveTo>
                    <a:lnTo>
                      <a:pt x="0" y="0"/>
                    </a:lnTo>
                    <a:lnTo>
                      <a:pt x="21" y="35"/>
                    </a:lnTo>
                    <a:lnTo>
                      <a:pt x="42" y="0"/>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grpSp>
      </p:grpSp>
    </p:spTree>
    <p:extLst>
      <p:ext uri="{BB962C8B-B14F-4D97-AF65-F5344CB8AC3E}">
        <p14:creationId xmlns:p14="http://schemas.microsoft.com/office/powerpoint/2010/main" val="33566304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C5BA2E58-FEC9-D54D-ACC0-E7CEEF5F42E4}"/>
              </a:ext>
            </a:extLst>
          </p:cNvPr>
          <p:cNvSpPr>
            <a:spLocks noGrp="1"/>
          </p:cNvSpPr>
          <p:nvPr>
            <p:ph type="title"/>
          </p:nvPr>
        </p:nvSpPr>
        <p:spPr>
          <a:xfrm>
            <a:off x="678884" y="603666"/>
            <a:ext cx="10834234" cy="612775"/>
          </a:xfrm>
        </p:spPr>
        <p:txBody>
          <a:bodyPr>
            <a:normAutofit/>
          </a:bodyPr>
          <a:lstStyle/>
          <a:p>
            <a:r>
              <a:rPr lang="en-US" dirty="0">
                <a:effectLst/>
                <a:latin typeface="Times New Roman" panose="02020603050405020304" pitchFamily="18" charset="0"/>
                <a:ea typeface="Calibri" panose="020F0502020204030204" pitchFamily="34" charset="0"/>
              </a:rPr>
              <a:t>Other AI tools and plugins used in finance</a:t>
            </a:r>
            <a:endParaRPr lang="en-US" dirty="0"/>
          </a:p>
        </p:txBody>
      </p:sp>
      <p:grpSp>
        <p:nvGrpSpPr>
          <p:cNvPr id="36" name="Group 35">
            <a:extLst>
              <a:ext uri="{FF2B5EF4-FFF2-40B4-BE49-F238E27FC236}">
                <a16:creationId xmlns:a16="http://schemas.microsoft.com/office/drawing/2014/main" xmlns="" id="{EA16FA40-1F59-4B3A-9C7D-8AB6749922B0}"/>
              </a:ext>
            </a:extLst>
          </p:cNvPr>
          <p:cNvGrpSpPr/>
          <p:nvPr/>
        </p:nvGrpSpPr>
        <p:grpSpPr>
          <a:xfrm>
            <a:off x="616815" y="1216441"/>
            <a:ext cx="10958370" cy="2251614"/>
            <a:chOff x="669953" y="1659835"/>
            <a:chExt cx="10958370" cy="2251614"/>
          </a:xfrm>
        </p:grpSpPr>
        <p:sp>
          <p:nvSpPr>
            <p:cNvPr id="37" name="Freeform 6">
              <a:extLst>
                <a:ext uri="{FF2B5EF4-FFF2-40B4-BE49-F238E27FC236}">
                  <a16:creationId xmlns:a16="http://schemas.microsoft.com/office/drawing/2014/main" xmlns="" id="{C4173BDC-4027-4520-854F-744EBF7FF3B8}"/>
                </a:ext>
              </a:extLst>
            </p:cNvPr>
            <p:cNvSpPr>
              <a:spLocks/>
            </p:cNvSpPr>
            <p:nvPr/>
          </p:nvSpPr>
          <p:spPr bwMode="auto">
            <a:xfrm>
              <a:off x="776848" y="1680017"/>
              <a:ext cx="373861" cy="274869"/>
            </a:xfrm>
            <a:custGeom>
              <a:avLst/>
              <a:gdLst>
                <a:gd name="T0" fmla="*/ 81 w 162"/>
                <a:gd name="T1" fmla="*/ 0 h 119"/>
                <a:gd name="T2" fmla="*/ 0 w 162"/>
                <a:gd name="T3" fmla="*/ 119 h 119"/>
                <a:gd name="T4" fmla="*/ 162 w 162"/>
                <a:gd name="T5" fmla="*/ 119 h 119"/>
                <a:gd name="T6" fmla="*/ 81 w 162"/>
                <a:gd name="T7" fmla="*/ 0 h 119"/>
              </a:gdLst>
              <a:ahLst/>
              <a:cxnLst>
                <a:cxn ang="0">
                  <a:pos x="T0" y="T1"/>
                </a:cxn>
                <a:cxn ang="0">
                  <a:pos x="T2" y="T3"/>
                </a:cxn>
                <a:cxn ang="0">
                  <a:pos x="T4" y="T5"/>
                </a:cxn>
                <a:cxn ang="0">
                  <a:pos x="T6" y="T7"/>
                </a:cxn>
              </a:cxnLst>
              <a:rect l="0" t="0" r="r" b="b"/>
              <a:pathLst>
                <a:path w="162" h="119">
                  <a:moveTo>
                    <a:pt x="81" y="0"/>
                  </a:moveTo>
                  <a:cubicBezTo>
                    <a:pt x="34" y="18"/>
                    <a:pt x="0" y="65"/>
                    <a:pt x="0" y="119"/>
                  </a:cubicBezTo>
                  <a:cubicBezTo>
                    <a:pt x="162" y="119"/>
                    <a:pt x="162" y="119"/>
                    <a:pt x="162" y="119"/>
                  </a:cubicBezTo>
                  <a:cubicBezTo>
                    <a:pt x="162" y="65"/>
                    <a:pt x="129" y="19"/>
                    <a:pt x="81" y="0"/>
                  </a:cubicBez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ru-RU"/>
            </a:p>
          </p:txBody>
        </p:sp>
        <p:sp>
          <p:nvSpPr>
            <p:cNvPr id="38" name="Rectangle: Rounded Corners 37">
              <a:extLst>
                <a:ext uri="{FF2B5EF4-FFF2-40B4-BE49-F238E27FC236}">
                  <a16:creationId xmlns:a16="http://schemas.microsoft.com/office/drawing/2014/main" xmlns="" id="{F8874CF9-717E-43DE-A3CC-916F2E46A253}"/>
                </a:ext>
              </a:extLst>
            </p:cNvPr>
            <p:cNvSpPr/>
            <p:nvPr/>
          </p:nvSpPr>
          <p:spPr>
            <a:xfrm>
              <a:off x="776848" y="1953670"/>
              <a:ext cx="10851475" cy="567664"/>
            </a:xfrm>
            <a:prstGeom prst="roundRect">
              <a:avLst>
                <a:gd name="adj" fmla="val 9723"/>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404000" rtlCol="0" anchor="ctr"/>
            <a:lstStyle/>
            <a:p>
              <a:r>
                <a:rPr lang="en-US" sz="2200" b="1" dirty="0" err="1">
                  <a:solidFill>
                    <a:schemeClr val="tx1"/>
                  </a:solidFill>
                  <a:effectLst/>
                  <a:latin typeface="Times New Roman" panose="02020603050405020304" pitchFamily="18" charset="0"/>
                  <a:ea typeface="Calibri" panose="020F0502020204030204" pitchFamily="34" charset="0"/>
                </a:rPr>
                <a:t>Boolio</a:t>
              </a:r>
              <a:r>
                <a:rPr lang="en-US" sz="2200" b="1" dirty="0">
                  <a:solidFill>
                    <a:schemeClr val="tx1"/>
                  </a:solidFill>
                  <a:effectLst/>
                  <a:latin typeface="Times New Roman" panose="02020603050405020304" pitchFamily="18" charset="0"/>
                  <a:ea typeface="Calibri" panose="020F0502020204030204" pitchFamily="34" charset="0"/>
                </a:rPr>
                <a:t> Invest</a:t>
              </a:r>
              <a:endParaRPr lang="en-IN" sz="2200" b="1" dirty="0">
                <a:solidFill>
                  <a:schemeClr val="tx1"/>
                </a:solidFill>
                <a:latin typeface="Calibri" panose="020F0502020204030204" pitchFamily="34" charset="0"/>
              </a:endParaRPr>
            </a:p>
          </p:txBody>
        </p:sp>
        <p:sp>
          <p:nvSpPr>
            <p:cNvPr id="39" name="Content Placeholder 2">
              <a:extLst>
                <a:ext uri="{FF2B5EF4-FFF2-40B4-BE49-F238E27FC236}">
                  <a16:creationId xmlns:a16="http://schemas.microsoft.com/office/drawing/2014/main" xmlns="" id="{EED62D1B-EAA0-406D-9BCA-3485BBA38197}"/>
                </a:ext>
              </a:extLst>
            </p:cNvPr>
            <p:cNvSpPr txBox="1">
              <a:spLocks/>
            </p:cNvSpPr>
            <p:nvPr/>
          </p:nvSpPr>
          <p:spPr>
            <a:xfrm>
              <a:off x="669953" y="3035410"/>
              <a:ext cx="10834234" cy="876039"/>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Nunito"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Nunito"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Nunito"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400"/>
                </a:spcBef>
                <a:spcAft>
                  <a:spcPts val="400"/>
                </a:spcAft>
                <a:buNone/>
              </a:pPr>
              <a:r>
                <a:rPr lang="en-US" sz="2200" dirty="0" err="1">
                  <a:latin typeface="+mn-lt"/>
                </a:rPr>
                <a:t>Boolio</a:t>
              </a:r>
              <a:r>
                <a:rPr lang="en-US" sz="2200" dirty="0">
                  <a:latin typeface="+mn-lt"/>
                </a:rPr>
                <a:t> Invest emerges as a potent tool enabling users to explore the realm of stocks and equities. It furnishes extensive financial data for global businesses, facilitating high-level quantitative analyses. It is used to screen or </a:t>
              </a:r>
              <a:r>
                <a:rPr lang="en-US" sz="2200" dirty="0" err="1">
                  <a:latin typeface="+mn-lt"/>
                </a:rPr>
                <a:t>backtest</a:t>
              </a:r>
              <a:r>
                <a:rPr lang="en-US" sz="2200" dirty="0">
                  <a:latin typeface="+mn-lt"/>
                </a:rPr>
                <a:t> diverse investment styles.</a:t>
              </a:r>
            </a:p>
            <a:p>
              <a:pPr>
                <a:lnSpc>
                  <a:spcPct val="107000"/>
                </a:lnSpc>
                <a:spcAft>
                  <a:spcPts val="800"/>
                </a:spcAft>
              </a:pPr>
              <a:r>
                <a:rPr lang="en-US" sz="1800" u="sng" kern="100" dirty="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3"/>
                </a:rPr>
                <a:t>https://chat.openai.com/share/8d1fbad7-56b5-4e7a-97ac-2f1844a3124d</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400"/>
                </a:spcBef>
                <a:spcAft>
                  <a:spcPts val="400"/>
                </a:spcAft>
                <a:buNone/>
              </a:pPr>
              <a:endParaRPr lang="en-US" sz="2200" dirty="0">
                <a:latin typeface="+mn-lt"/>
              </a:endParaRPr>
            </a:p>
          </p:txBody>
        </p:sp>
        <p:sp>
          <p:nvSpPr>
            <p:cNvPr id="40" name="Freeform 7">
              <a:extLst>
                <a:ext uri="{FF2B5EF4-FFF2-40B4-BE49-F238E27FC236}">
                  <a16:creationId xmlns:a16="http://schemas.microsoft.com/office/drawing/2014/main" xmlns="" id="{CCFAD5FB-90AE-49A6-A7B6-5DD84D5DAB57}"/>
                </a:ext>
              </a:extLst>
            </p:cNvPr>
            <p:cNvSpPr>
              <a:spLocks/>
            </p:cNvSpPr>
            <p:nvPr/>
          </p:nvSpPr>
          <p:spPr bwMode="auto">
            <a:xfrm>
              <a:off x="871995" y="1659835"/>
              <a:ext cx="1061994" cy="1111971"/>
            </a:xfrm>
            <a:custGeom>
              <a:avLst/>
              <a:gdLst>
                <a:gd name="T0" fmla="*/ 332 w 461"/>
                <a:gd name="T1" fmla="*/ 0 h 482"/>
                <a:gd name="T2" fmla="*/ 88 w 461"/>
                <a:gd name="T3" fmla="*/ 0 h 482"/>
                <a:gd name="T4" fmla="*/ 40 w 461"/>
                <a:gd name="T5" fmla="*/ 9 h 482"/>
                <a:gd name="T6" fmla="*/ 0 w 461"/>
                <a:gd name="T7" fmla="*/ 35 h 482"/>
                <a:gd name="T8" fmla="*/ 81 w 461"/>
                <a:gd name="T9" fmla="*/ 35 h 482"/>
                <a:gd name="T10" fmla="*/ 121 w 461"/>
                <a:gd name="T11" fmla="*/ 128 h 482"/>
                <a:gd name="T12" fmla="*/ 121 w 461"/>
                <a:gd name="T13" fmla="*/ 311 h 482"/>
                <a:gd name="T14" fmla="*/ 121 w 461"/>
                <a:gd name="T15" fmla="*/ 312 h 482"/>
                <a:gd name="T16" fmla="*/ 291 w 461"/>
                <a:gd name="T17" fmla="*/ 482 h 482"/>
                <a:gd name="T18" fmla="*/ 461 w 461"/>
                <a:gd name="T19" fmla="*/ 312 h 482"/>
                <a:gd name="T20" fmla="*/ 461 w 461"/>
                <a:gd name="T21" fmla="*/ 312 h 482"/>
                <a:gd name="T22" fmla="*/ 461 w 461"/>
                <a:gd name="T23" fmla="*/ 128 h 482"/>
                <a:gd name="T24" fmla="*/ 332 w 461"/>
                <a:gd name="T25" fmla="*/ 0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 h="482">
                  <a:moveTo>
                    <a:pt x="332" y="0"/>
                  </a:moveTo>
                  <a:cubicBezTo>
                    <a:pt x="88" y="0"/>
                    <a:pt x="88" y="0"/>
                    <a:pt x="88" y="0"/>
                  </a:cubicBezTo>
                  <a:cubicBezTo>
                    <a:pt x="71" y="0"/>
                    <a:pt x="55" y="3"/>
                    <a:pt x="40" y="9"/>
                  </a:cubicBezTo>
                  <a:cubicBezTo>
                    <a:pt x="25" y="15"/>
                    <a:pt x="11" y="24"/>
                    <a:pt x="0" y="35"/>
                  </a:cubicBezTo>
                  <a:cubicBezTo>
                    <a:pt x="22" y="13"/>
                    <a:pt x="58" y="13"/>
                    <a:pt x="81" y="35"/>
                  </a:cubicBezTo>
                  <a:cubicBezTo>
                    <a:pt x="106" y="58"/>
                    <a:pt x="121" y="91"/>
                    <a:pt x="121" y="128"/>
                  </a:cubicBezTo>
                  <a:cubicBezTo>
                    <a:pt x="121" y="311"/>
                    <a:pt x="121" y="311"/>
                    <a:pt x="121" y="311"/>
                  </a:cubicBezTo>
                  <a:cubicBezTo>
                    <a:pt x="121" y="311"/>
                    <a:pt x="121" y="311"/>
                    <a:pt x="121" y="312"/>
                  </a:cubicBezTo>
                  <a:cubicBezTo>
                    <a:pt x="121" y="405"/>
                    <a:pt x="197" y="482"/>
                    <a:pt x="291" y="482"/>
                  </a:cubicBezTo>
                  <a:cubicBezTo>
                    <a:pt x="385" y="482"/>
                    <a:pt x="461" y="405"/>
                    <a:pt x="461" y="312"/>
                  </a:cubicBezTo>
                  <a:cubicBezTo>
                    <a:pt x="461" y="312"/>
                    <a:pt x="461" y="312"/>
                    <a:pt x="461" y="312"/>
                  </a:cubicBezTo>
                  <a:cubicBezTo>
                    <a:pt x="461" y="128"/>
                    <a:pt x="461" y="128"/>
                    <a:pt x="461" y="128"/>
                  </a:cubicBezTo>
                  <a:cubicBezTo>
                    <a:pt x="461" y="57"/>
                    <a:pt x="403" y="0"/>
                    <a:pt x="332"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ru-RU"/>
            </a:p>
          </p:txBody>
        </p:sp>
        <p:sp>
          <p:nvSpPr>
            <p:cNvPr id="41" name="Oval 8">
              <a:extLst>
                <a:ext uri="{FF2B5EF4-FFF2-40B4-BE49-F238E27FC236}">
                  <a16:creationId xmlns:a16="http://schemas.microsoft.com/office/drawing/2014/main" xmlns="" id="{93C0523A-56B3-4553-A05C-9084F0D71BFD}"/>
                </a:ext>
              </a:extLst>
            </p:cNvPr>
            <p:cNvSpPr>
              <a:spLocks noChangeArrowheads="1"/>
            </p:cNvSpPr>
            <p:nvPr/>
          </p:nvSpPr>
          <p:spPr bwMode="auto">
            <a:xfrm>
              <a:off x="1215101" y="2051956"/>
              <a:ext cx="654496" cy="652574"/>
            </a:xfrm>
            <a:prstGeom prst="ellipse">
              <a:avLst/>
            </a:prstGeom>
            <a:solidFill>
              <a:schemeClr val="bg2"/>
            </a:solidFill>
            <a:ln>
              <a:noFill/>
            </a:ln>
          </p:spPr>
          <p:txBody>
            <a:bodyPr vert="horz" wrap="square" lIns="91440" tIns="45720" rIns="91440" bIns="45720" numCol="1" anchor="t" anchorCtr="0" compatLnSpc="1">
              <a:prstTxWarp prst="textNoShape">
                <a:avLst/>
              </a:prstTxWarp>
            </a:bodyPr>
            <a:lstStyle/>
            <a:p>
              <a:endParaRPr lang="ru-RU"/>
            </a:p>
          </p:txBody>
        </p:sp>
        <p:grpSp>
          <p:nvGrpSpPr>
            <p:cNvPr id="42" name="Shape 7784">
              <a:extLst>
                <a:ext uri="{FF2B5EF4-FFF2-40B4-BE49-F238E27FC236}">
                  <a16:creationId xmlns:a16="http://schemas.microsoft.com/office/drawing/2014/main" xmlns="" id="{A29940F2-AB6D-4383-8C22-C62546C174D7}"/>
                </a:ext>
              </a:extLst>
            </p:cNvPr>
            <p:cNvGrpSpPr/>
            <p:nvPr/>
          </p:nvGrpSpPr>
          <p:grpSpPr>
            <a:xfrm>
              <a:off x="1389773" y="2214880"/>
              <a:ext cx="330464" cy="352116"/>
              <a:chOff x="5538788" y="2417763"/>
              <a:chExt cx="557213" cy="593725"/>
            </a:xfrm>
            <a:solidFill>
              <a:schemeClr val="tx1"/>
            </a:solidFill>
          </p:grpSpPr>
          <p:sp>
            <p:nvSpPr>
              <p:cNvPr id="43" name="Shape 7785">
                <a:extLst>
                  <a:ext uri="{FF2B5EF4-FFF2-40B4-BE49-F238E27FC236}">
                    <a16:creationId xmlns:a16="http://schemas.microsoft.com/office/drawing/2014/main" xmlns="" id="{6F83E444-C226-4033-99E1-972C1DD0FC02}"/>
                  </a:ext>
                </a:extLst>
              </p:cNvPr>
              <p:cNvSpPr/>
              <p:nvPr/>
            </p:nvSpPr>
            <p:spPr>
              <a:xfrm>
                <a:off x="5538788" y="2727325"/>
                <a:ext cx="188913" cy="284162"/>
              </a:xfrm>
              <a:custGeom>
                <a:avLst/>
                <a:gdLst/>
                <a:ahLst/>
                <a:cxnLst/>
                <a:rect l="0" t="0" r="0" b="0"/>
                <a:pathLst>
                  <a:path w="160" h="242" extrusionOk="0">
                    <a:moveTo>
                      <a:pt x="0" y="233"/>
                    </a:moveTo>
                    <a:cubicBezTo>
                      <a:pt x="0" y="238"/>
                      <a:pt x="4" y="242"/>
                      <a:pt x="9" y="242"/>
                    </a:cubicBezTo>
                    <a:cubicBezTo>
                      <a:pt x="151" y="242"/>
                      <a:pt x="151" y="242"/>
                      <a:pt x="151" y="242"/>
                    </a:cubicBezTo>
                    <a:cubicBezTo>
                      <a:pt x="156" y="242"/>
                      <a:pt x="160" y="238"/>
                      <a:pt x="160" y="233"/>
                    </a:cubicBezTo>
                    <a:cubicBezTo>
                      <a:pt x="160" y="0"/>
                      <a:pt x="160" y="0"/>
                      <a:pt x="160" y="0"/>
                    </a:cubicBezTo>
                    <a:cubicBezTo>
                      <a:pt x="0" y="0"/>
                      <a:pt x="0" y="0"/>
                      <a:pt x="0" y="0"/>
                    </a:cubicBezTo>
                    <a:lnTo>
                      <a:pt x="0" y="233"/>
                    </a:lnTo>
                    <a:close/>
                    <a:moveTo>
                      <a:pt x="80" y="227"/>
                    </a:moveTo>
                    <a:cubicBezTo>
                      <a:pt x="71" y="227"/>
                      <a:pt x="63" y="220"/>
                      <a:pt x="63" y="210"/>
                    </a:cubicBezTo>
                    <a:cubicBezTo>
                      <a:pt x="63" y="200"/>
                      <a:pt x="71" y="192"/>
                      <a:pt x="80" y="192"/>
                    </a:cubicBezTo>
                    <a:cubicBezTo>
                      <a:pt x="90" y="192"/>
                      <a:pt x="98" y="200"/>
                      <a:pt x="98" y="210"/>
                    </a:cubicBezTo>
                    <a:cubicBezTo>
                      <a:pt x="98" y="220"/>
                      <a:pt x="90" y="227"/>
                      <a:pt x="80" y="227"/>
                    </a:cubicBezTo>
                    <a:close/>
                    <a:moveTo>
                      <a:pt x="73" y="175"/>
                    </a:moveTo>
                    <a:cubicBezTo>
                      <a:pt x="73" y="171"/>
                      <a:pt x="76" y="167"/>
                      <a:pt x="80" y="167"/>
                    </a:cubicBezTo>
                    <a:cubicBezTo>
                      <a:pt x="85" y="167"/>
                      <a:pt x="88" y="171"/>
                      <a:pt x="88" y="175"/>
                    </a:cubicBezTo>
                    <a:cubicBezTo>
                      <a:pt x="88" y="179"/>
                      <a:pt x="85" y="183"/>
                      <a:pt x="80" y="183"/>
                    </a:cubicBezTo>
                    <a:cubicBezTo>
                      <a:pt x="76" y="183"/>
                      <a:pt x="73" y="179"/>
                      <a:pt x="73" y="175"/>
                    </a:cubicBezTo>
                    <a:close/>
                    <a:moveTo>
                      <a:pt x="29" y="12"/>
                    </a:moveTo>
                    <a:cubicBezTo>
                      <a:pt x="131" y="12"/>
                      <a:pt x="131" y="12"/>
                      <a:pt x="131" y="12"/>
                    </a:cubicBezTo>
                    <a:cubicBezTo>
                      <a:pt x="131" y="33"/>
                      <a:pt x="131" y="33"/>
                      <a:pt x="131" y="33"/>
                    </a:cubicBezTo>
                    <a:cubicBezTo>
                      <a:pt x="29" y="33"/>
                      <a:pt x="29" y="33"/>
                      <a:pt x="29" y="33"/>
                    </a:cubicBezTo>
                    <a:lnTo>
                      <a:pt x="29" y="12"/>
                    </a:lnTo>
                    <a:close/>
                    <a:moveTo>
                      <a:pt x="29" y="43"/>
                    </a:moveTo>
                    <a:cubicBezTo>
                      <a:pt x="131" y="43"/>
                      <a:pt x="131" y="43"/>
                      <a:pt x="131" y="43"/>
                    </a:cubicBezTo>
                    <a:cubicBezTo>
                      <a:pt x="131" y="64"/>
                      <a:pt x="131" y="64"/>
                      <a:pt x="131" y="64"/>
                    </a:cubicBezTo>
                    <a:cubicBezTo>
                      <a:pt x="29" y="64"/>
                      <a:pt x="29" y="64"/>
                      <a:pt x="29" y="64"/>
                    </a:cubicBezTo>
                    <a:lnTo>
                      <a:pt x="29" y="43"/>
                    </a:lnTo>
                    <a:close/>
                    <a:moveTo>
                      <a:pt x="29" y="73"/>
                    </a:moveTo>
                    <a:cubicBezTo>
                      <a:pt x="131" y="73"/>
                      <a:pt x="131" y="73"/>
                      <a:pt x="131" y="73"/>
                    </a:cubicBezTo>
                    <a:cubicBezTo>
                      <a:pt x="131" y="94"/>
                      <a:pt x="131" y="94"/>
                      <a:pt x="131" y="94"/>
                    </a:cubicBezTo>
                    <a:cubicBezTo>
                      <a:pt x="29" y="94"/>
                      <a:pt x="29" y="94"/>
                      <a:pt x="29" y="94"/>
                    </a:cubicBezTo>
                    <a:lnTo>
                      <a:pt x="29" y="73"/>
                    </a:lnTo>
                    <a:close/>
                    <a:moveTo>
                      <a:pt x="29" y="104"/>
                    </a:moveTo>
                    <a:cubicBezTo>
                      <a:pt x="131" y="104"/>
                      <a:pt x="131" y="104"/>
                      <a:pt x="131" y="104"/>
                    </a:cubicBezTo>
                    <a:cubicBezTo>
                      <a:pt x="131" y="125"/>
                      <a:pt x="131" y="125"/>
                      <a:pt x="131" y="125"/>
                    </a:cubicBezTo>
                    <a:cubicBezTo>
                      <a:pt x="29" y="125"/>
                      <a:pt x="29" y="125"/>
                      <a:pt x="29" y="125"/>
                    </a:cubicBezTo>
                    <a:lnTo>
                      <a:pt x="29" y="104"/>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44" name="Shape 7786">
                <a:extLst>
                  <a:ext uri="{FF2B5EF4-FFF2-40B4-BE49-F238E27FC236}">
                    <a16:creationId xmlns:a16="http://schemas.microsoft.com/office/drawing/2014/main" xmlns="" id="{93A10B83-E792-4770-A4DC-452F5B520727}"/>
                  </a:ext>
                </a:extLst>
              </p:cNvPr>
              <p:cNvSpPr/>
              <p:nvPr/>
            </p:nvSpPr>
            <p:spPr>
              <a:xfrm>
                <a:off x="5538788" y="2651125"/>
                <a:ext cx="188913" cy="63500"/>
              </a:xfrm>
              <a:custGeom>
                <a:avLst/>
                <a:gdLst/>
                <a:ahLst/>
                <a:cxnLst/>
                <a:rect l="0" t="0" r="0" b="0"/>
                <a:pathLst>
                  <a:path w="160" h="55" extrusionOk="0">
                    <a:moveTo>
                      <a:pt x="151" y="0"/>
                    </a:moveTo>
                    <a:cubicBezTo>
                      <a:pt x="9" y="0"/>
                      <a:pt x="9" y="0"/>
                      <a:pt x="9" y="0"/>
                    </a:cubicBezTo>
                    <a:cubicBezTo>
                      <a:pt x="4" y="0"/>
                      <a:pt x="0" y="4"/>
                      <a:pt x="0" y="9"/>
                    </a:cubicBezTo>
                    <a:cubicBezTo>
                      <a:pt x="0" y="55"/>
                      <a:pt x="0" y="55"/>
                      <a:pt x="0" y="55"/>
                    </a:cubicBezTo>
                    <a:cubicBezTo>
                      <a:pt x="160" y="55"/>
                      <a:pt x="160" y="55"/>
                      <a:pt x="160" y="55"/>
                    </a:cubicBezTo>
                    <a:cubicBezTo>
                      <a:pt x="160" y="9"/>
                      <a:pt x="160" y="9"/>
                      <a:pt x="160" y="9"/>
                    </a:cubicBezTo>
                    <a:cubicBezTo>
                      <a:pt x="160" y="4"/>
                      <a:pt x="156" y="0"/>
                      <a:pt x="151" y="0"/>
                    </a:cubicBezTo>
                    <a:close/>
                    <a:moveTo>
                      <a:pt x="43" y="43"/>
                    </a:moveTo>
                    <a:cubicBezTo>
                      <a:pt x="36" y="43"/>
                      <a:pt x="30" y="37"/>
                      <a:pt x="30" y="30"/>
                    </a:cubicBezTo>
                    <a:cubicBezTo>
                      <a:pt x="30" y="22"/>
                      <a:pt x="36" y="16"/>
                      <a:pt x="43" y="16"/>
                    </a:cubicBezTo>
                    <a:cubicBezTo>
                      <a:pt x="51" y="16"/>
                      <a:pt x="57" y="22"/>
                      <a:pt x="57" y="30"/>
                    </a:cubicBezTo>
                    <a:cubicBezTo>
                      <a:pt x="57" y="37"/>
                      <a:pt x="51" y="43"/>
                      <a:pt x="43" y="43"/>
                    </a:cubicBezTo>
                    <a:close/>
                    <a:moveTo>
                      <a:pt x="131" y="38"/>
                    </a:moveTo>
                    <a:cubicBezTo>
                      <a:pt x="68" y="38"/>
                      <a:pt x="68" y="38"/>
                      <a:pt x="68" y="38"/>
                    </a:cubicBezTo>
                    <a:cubicBezTo>
                      <a:pt x="68" y="22"/>
                      <a:pt x="68" y="22"/>
                      <a:pt x="68" y="22"/>
                    </a:cubicBezTo>
                    <a:cubicBezTo>
                      <a:pt x="131" y="22"/>
                      <a:pt x="131" y="22"/>
                      <a:pt x="131" y="22"/>
                    </a:cubicBezTo>
                    <a:lnTo>
                      <a:pt x="131" y="38"/>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45" name="Shape 7787">
                <a:extLst>
                  <a:ext uri="{FF2B5EF4-FFF2-40B4-BE49-F238E27FC236}">
                    <a16:creationId xmlns:a16="http://schemas.microsoft.com/office/drawing/2014/main" xmlns="" id="{56DF18E4-5FA2-4026-94E5-8DB63526998D}"/>
                  </a:ext>
                </a:extLst>
              </p:cNvPr>
              <p:cNvSpPr/>
              <p:nvPr/>
            </p:nvSpPr>
            <p:spPr>
              <a:xfrm>
                <a:off x="6013450" y="2990850"/>
                <a:ext cx="28575" cy="20637"/>
              </a:xfrm>
              <a:custGeom>
                <a:avLst/>
                <a:gdLst/>
                <a:ahLst/>
                <a:cxnLst/>
                <a:rect l="0" t="0" r="0" b="0"/>
                <a:pathLst>
                  <a:path w="24" h="18" extrusionOk="0">
                    <a:moveTo>
                      <a:pt x="1" y="4"/>
                    </a:moveTo>
                    <a:cubicBezTo>
                      <a:pt x="0" y="4"/>
                      <a:pt x="0" y="4"/>
                      <a:pt x="0" y="4"/>
                    </a:cubicBezTo>
                    <a:cubicBezTo>
                      <a:pt x="0" y="18"/>
                      <a:pt x="0" y="18"/>
                      <a:pt x="0" y="18"/>
                    </a:cubicBezTo>
                    <a:cubicBezTo>
                      <a:pt x="1" y="18"/>
                      <a:pt x="1" y="18"/>
                      <a:pt x="1" y="18"/>
                    </a:cubicBezTo>
                    <a:cubicBezTo>
                      <a:pt x="9" y="18"/>
                      <a:pt x="17" y="16"/>
                      <a:pt x="24" y="12"/>
                    </a:cubicBezTo>
                    <a:cubicBezTo>
                      <a:pt x="17" y="0"/>
                      <a:pt x="17" y="0"/>
                      <a:pt x="17" y="0"/>
                    </a:cubicBezTo>
                    <a:cubicBezTo>
                      <a:pt x="12" y="3"/>
                      <a:pt x="6" y="4"/>
                      <a:pt x="1" y="4"/>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46" name="Shape 7788">
                <a:extLst>
                  <a:ext uri="{FF2B5EF4-FFF2-40B4-BE49-F238E27FC236}">
                    <a16:creationId xmlns:a16="http://schemas.microsoft.com/office/drawing/2014/main" xmlns="" id="{F18DE7D5-2CC3-4EDB-93AB-EC404C97F2A0}"/>
                  </a:ext>
                </a:extLst>
              </p:cNvPr>
              <p:cNvSpPr/>
              <p:nvPr/>
            </p:nvSpPr>
            <p:spPr>
              <a:xfrm>
                <a:off x="5964238" y="299561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47" name="Shape 7789">
                <a:extLst>
                  <a:ext uri="{FF2B5EF4-FFF2-40B4-BE49-F238E27FC236}">
                    <a16:creationId xmlns:a16="http://schemas.microsoft.com/office/drawing/2014/main" xmlns="" id="{C8436D8F-BF5C-4FD2-9F8C-0714FA587B9E}"/>
                  </a:ext>
                </a:extLst>
              </p:cNvPr>
              <p:cNvSpPr/>
              <p:nvPr/>
            </p:nvSpPr>
            <p:spPr>
              <a:xfrm>
                <a:off x="5913438" y="2995613"/>
                <a:ext cx="23813"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48" name="Shape 7790">
                <a:extLst>
                  <a:ext uri="{FF2B5EF4-FFF2-40B4-BE49-F238E27FC236}">
                    <a16:creationId xmlns:a16="http://schemas.microsoft.com/office/drawing/2014/main" xmlns="" id="{4D228924-370C-4427-9AD5-910FD43F362D}"/>
                  </a:ext>
                </a:extLst>
              </p:cNvPr>
              <p:cNvSpPr/>
              <p:nvPr/>
            </p:nvSpPr>
            <p:spPr>
              <a:xfrm>
                <a:off x="5862638" y="299561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49" name="Shape 7791">
                <a:extLst>
                  <a:ext uri="{FF2B5EF4-FFF2-40B4-BE49-F238E27FC236}">
                    <a16:creationId xmlns:a16="http://schemas.microsoft.com/office/drawing/2014/main" xmlns="" id="{C537C80C-74C6-4262-8002-86B5DCFFCE4C}"/>
                  </a:ext>
                </a:extLst>
              </p:cNvPr>
              <p:cNvSpPr/>
              <p:nvPr/>
            </p:nvSpPr>
            <p:spPr>
              <a:xfrm>
                <a:off x="5807075" y="2995613"/>
                <a:ext cx="23813"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50" name="Shape 7792">
                <a:extLst>
                  <a:ext uri="{FF2B5EF4-FFF2-40B4-BE49-F238E27FC236}">
                    <a16:creationId xmlns:a16="http://schemas.microsoft.com/office/drawing/2014/main" xmlns="" id="{6DE2F59B-EC3D-4ECE-958E-CD07D83D9C59}"/>
                  </a:ext>
                </a:extLst>
              </p:cNvPr>
              <p:cNvSpPr/>
              <p:nvPr/>
            </p:nvSpPr>
            <p:spPr>
              <a:xfrm>
                <a:off x="5753100" y="299561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51" name="Shape 7793">
                <a:extLst>
                  <a:ext uri="{FF2B5EF4-FFF2-40B4-BE49-F238E27FC236}">
                    <a16:creationId xmlns:a16="http://schemas.microsoft.com/office/drawing/2014/main" xmlns="" id="{9D036060-E2C6-47BB-9D9A-F0431E4E7079}"/>
                  </a:ext>
                </a:extLst>
              </p:cNvPr>
              <p:cNvSpPr/>
              <p:nvPr/>
            </p:nvSpPr>
            <p:spPr>
              <a:xfrm>
                <a:off x="6048375" y="2955925"/>
                <a:ext cx="22225" cy="28575"/>
              </a:xfrm>
              <a:custGeom>
                <a:avLst/>
                <a:gdLst/>
                <a:ahLst/>
                <a:cxnLst/>
                <a:rect l="0" t="0" r="0" b="0"/>
                <a:pathLst>
                  <a:path w="19" h="24" extrusionOk="0">
                    <a:moveTo>
                      <a:pt x="0" y="17"/>
                    </a:moveTo>
                    <a:cubicBezTo>
                      <a:pt x="12" y="24"/>
                      <a:pt x="12" y="24"/>
                      <a:pt x="12" y="24"/>
                    </a:cubicBezTo>
                    <a:cubicBezTo>
                      <a:pt x="17" y="17"/>
                      <a:pt x="19" y="9"/>
                      <a:pt x="19" y="0"/>
                    </a:cubicBezTo>
                    <a:cubicBezTo>
                      <a:pt x="6" y="0"/>
                      <a:pt x="6" y="0"/>
                      <a:pt x="6" y="0"/>
                    </a:cubicBezTo>
                    <a:cubicBezTo>
                      <a:pt x="5" y="6"/>
                      <a:pt x="3" y="12"/>
                      <a:pt x="0" y="17"/>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52" name="Shape 7794">
                <a:extLst>
                  <a:ext uri="{FF2B5EF4-FFF2-40B4-BE49-F238E27FC236}">
                    <a16:creationId xmlns:a16="http://schemas.microsoft.com/office/drawing/2014/main" xmlns="" id="{BB943592-1A4D-42A7-8F52-65EE495E117C}"/>
                  </a:ext>
                </a:extLst>
              </p:cNvPr>
              <p:cNvSpPr/>
              <p:nvPr/>
            </p:nvSpPr>
            <p:spPr>
              <a:xfrm>
                <a:off x="6056313" y="2906713"/>
                <a:ext cx="15875" cy="23812"/>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53" name="Shape 7795">
                <a:extLst>
                  <a:ext uri="{FF2B5EF4-FFF2-40B4-BE49-F238E27FC236}">
                    <a16:creationId xmlns:a16="http://schemas.microsoft.com/office/drawing/2014/main" xmlns="" id="{5037C5E4-5602-44BB-8C61-1D8962506E7C}"/>
                  </a:ext>
                </a:extLst>
              </p:cNvPr>
              <p:cNvSpPr/>
              <p:nvPr/>
            </p:nvSpPr>
            <p:spPr>
              <a:xfrm>
                <a:off x="6030913" y="2820988"/>
                <a:ext cx="65088" cy="57150"/>
              </a:xfrm>
              <a:custGeom>
                <a:avLst/>
                <a:gdLst/>
                <a:ahLst/>
                <a:cxnLst/>
                <a:rect l="0" t="0" r="0" b="0"/>
                <a:pathLst>
                  <a:path w="41" h="36" extrusionOk="0">
                    <a:moveTo>
                      <a:pt x="0" y="36"/>
                    </a:moveTo>
                    <a:lnTo>
                      <a:pt x="41" y="36"/>
                    </a:lnTo>
                    <a:lnTo>
                      <a:pt x="21" y="0"/>
                    </a:lnTo>
                    <a:lnTo>
                      <a:pt x="0" y="36"/>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54" name="Shape 7796">
                <a:extLst>
                  <a:ext uri="{FF2B5EF4-FFF2-40B4-BE49-F238E27FC236}">
                    <a16:creationId xmlns:a16="http://schemas.microsoft.com/office/drawing/2014/main" xmlns="" id="{9C101E85-F220-4201-9EE1-47432FD74621}"/>
                  </a:ext>
                </a:extLst>
              </p:cNvPr>
              <p:cNvSpPr/>
              <p:nvPr/>
            </p:nvSpPr>
            <p:spPr>
              <a:xfrm>
                <a:off x="5908675" y="2495550"/>
                <a:ext cx="187325" cy="282575"/>
              </a:xfrm>
              <a:custGeom>
                <a:avLst/>
                <a:gdLst/>
                <a:ahLst/>
                <a:cxnLst/>
                <a:rect l="0" t="0" r="0" b="0"/>
                <a:pathLst>
                  <a:path w="160" h="242" extrusionOk="0">
                    <a:moveTo>
                      <a:pt x="0" y="233"/>
                    </a:moveTo>
                    <a:cubicBezTo>
                      <a:pt x="0" y="238"/>
                      <a:pt x="4" y="242"/>
                      <a:pt x="9" y="242"/>
                    </a:cubicBezTo>
                    <a:cubicBezTo>
                      <a:pt x="151" y="242"/>
                      <a:pt x="151" y="242"/>
                      <a:pt x="151" y="242"/>
                    </a:cubicBezTo>
                    <a:cubicBezTo>
                      <a:pt x="156" y="242"/>
                      <a:pt x="160" y="238"/>
                      <a:pt x="160" y="233"/>
                    </a:cubicBezTo>
                    <a:cubicBezTo>
                      <a:pt x="160" y="0"/>
                      <a:pt x="160" y="0"/>
                      <a:pt x="160" y="0"/>
                    </a:cubicBezTo>
                    <a:cubicBezTo>
                      <a:pt x="0" y="0"/>
                      <a:pt x="0" y="0"/>
                      <a:pt x="0" y="0"/>
                    </a:cubicBezTo>
                    <a:lnTo>
                      <a:pt x="0" y="233"/>
                    </a:lnTo>
                    <a:close/>
                    <a:moveTo>
                      <a:pt x="80" y="227"/>
                    </a:moveTo>
                    <a:cubicBezTo>
                      <a:pt x="71" y="227"/>
                      <a:pt x="63" y="220"/>
                      <a:pt x="63" y="210"/>
                    </a:cubicBezTo>
                    <a:cubicBezTo>
                      <a:pt x="63" y="200"/>
                      <a:pt x="71" y="192"/>
                      <a:pt x="80" y="192"/>
                    </a:cubicBezTo>
                    <a:cubicBezTo>
                      <a:pt x="90" y="192"/>
                      <a:pt x="98" y="200"/>
                      <a:pt x="98" y="210"/>
                    </a:cubicBezTo>
                    <a:cubicBezTo>
                      <a:pt x="98" y="220"/>
                      <a:pt x="90" y="227"/>
                      <a:pt x="80" y="227"/>
                    </a:cubicBezTo>
                    <a:close/>
                    <a:moveTo>
                      <a:pt x="72" y="175"/>
                    </a:moveTo>
                    <a:cubicBezTo>
                      <a:pt x="72" y="171"/>
                      <a:pt x="76" y="167"/>
                      <a:pt x="80" y="167"/>
                    </a:cubicBezTo>
                    <a:cubicBezTo>
                      <a:pt x="85" y="167"/>
                      <a:pt x="88" y="171"/>
                      <a:pt x="88" y="175"/>
                    </a:cubicBezTo>
                    <a:cubicBezTo>
                      <a:pt x="88" y="179"/>
                      <a:pt x="85" y="183"/>
                      <a:pt x="80" y="183"/>
                    </a:cubicBezTo>
                    <a:cubicBezTo>
                      <a:pt x="76" y="183"/>
                      <a:pt x="72" y="179"/>
                      <a:pt x="72" y="175"/>
                    </a:cubicBezTo>
                    <a:close/>
                    <a:moveTo>
                      <a:pt x="29" y="12"/>
                    </a:moveTo>
                    <a:cubicBezTo>
                      <a:pt x="131" y="12"/>
                      <a:pt x="131" y="12"/>
                      <a:pt x="131" y="12"/>
                    </a:cubicBezTo>
                    <a:cubicBezTo>
                      <a:pt x="131" y="33"/>
                      <a:pt x="131" y="33"/>
                      <a:pt x="131" y="33"/>
                    </a:cubicBezTo>
                    <a:cubicBezTo>
                      <a:pt x="29" y="33"/>
                      <a:pt x="29" y="33"/>
                      <a:pt x="29" y="33"/>
                    </a:cubicBezTo>
                    <a:lnTo>
                      <a:pt x="29" y="12"/>
                    </a:lnTo>
                    <a:close/>
                    <a:moveTo>
                      <a:pt x="29" y="43"/>
                    </a:moveTo>
                    <a:cubicBezTo>
                      <a:pt x="131" y="43"/>
                      <a:pt x="131" y="43"/>
                      <a:pt x="131" y="43"/>
                    </a:cubicBezTo>
                    <a:cubicBezTo>
                      <a:pt x="131" y="64"/>
                      <a:pt x="131" y="64"/>
                      <a:pt x="131" y="64"/>
                    </a:cubicBezTo>
                    <a:cubicBezTo>
                      <a:pt x="29" y="64"/>
                      <a:pt x="29" y="64"/>
                      <a:pt x="29" y="64"/>
                    </a:cubicBezTo>
                    <a:lnTo>
                      <a:pt x="29" y="43"/>
                    </a:lnTo>
                    <a:close/>
                    <a:moveTo>
                      <a:pt x="29" y="73"/>
                    </a:moveTo>
                    <a:cubicBezTo>
                      <a:pt x="131" y="73"/>
                      <a:pt x="131" y="73"/>
                      <a:pt x="131" y="73"/>
                    </a:cubicBezTo>
                    <a:cubicBezTo>
                      <a:pt x="131" y="94"/>
                      <a:pt x="131" y="94"/>
                      <a:pt x="131" y="94"/>
                    </a:cubicBezTo>
                    <a:cubicBezTo>
                      <a:pt x="29" y="94"/>
                      <a:pt x="29" y="94"/>
                      <a:pt x="29" y="94"/>
                    </a:cubicBezTo>
                    <a:lnTo>
                      <a:pt x="29" y="73"/>
                    </a:lnTo>
                    <a:close/>
                    <a:moveTo>
                      <a:pt x="29" y="104"/>
                    </a:moveTo>
                    <a:cubicBezTo>
                      <a:pt x="131" y="104"/>
                      <a:pt x="131" y="104"/>
                      <a:pt x="131" y="104"/>
                    </a:cubicBezTo>
                    <a:cubicBezTo>
                      <a:pt x="131" y="125"/>
                      <a:pt x="131" y="125"/>
                      <a:pt x="131" y="125"/>
                    </a:cubicBezTo>
                    <a:cubicBezTo>
                      <a:pt x="29" y="125"/>
                      <a:pt x="29" y="125"/>
                      <a:pt x="29" y="125"/>
                    </a:cubicBezTo>
                    <a:lnTo>
                      <a:pt x="29" y="104"/>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55" name="Shape 7797">
                <a:extLst>
                  <a:ext uri="{FF2B5EF4-FFF2-40B4-BE49-F238E27FC236}">
                    <a16:creationId xmlns:a16="http://schemas.microsoft.com/office/drawing/2014/main" xmlns="" id="{9CBD7147-1F3B-4FE1-9528-DEC0B3EEE202}"/>
                  </a:ext>
                </a:extLst>
              </p:cNvPr>
              <p:cNvSpPr/>
              <p:nvPr/>
            </p:nvSpPr>
            <p:spPr>
              <a:xfrm>
                <a:off x="5908675" y="2417763"/>
                <a:ext cx="187325" cy="65087"/>
              </a:xfrm>
              <a:custGeom>
                <a:avLst/>
                <a:gdLst/>
                <a:ahLst/>
                <a:cxnLst/>
                <a:rect l="0" t="0" r="0" b="0"/>
                <a:pathLst>
                  <a:path w="160" h="55" extrusionOk="0">
                    <a:moveTo>
                      <a:pt x="151" y="0"/>
                    </a:moveTo>
                    <a:cubicBezTo>
                      <a:pt x="9" y="0"/>
                      <a:pt x="9" y="0"/>
                      <a:pt x="9" y="0"/>
                    </a:cubicBezTo>
                    <a:cubicBezTo>
                      <a:pt x="4" y="0"/>
                      <a:pt x="0" y="4"/>
                      <a:pt x="0" y="9"/>
                    </a:cubicBezTo>
                    <a:cubicBezTo>
                      <a:pt x="0" y="55"/>
                      <a:pt x="0" y="55"/>
                      <a:pt x="0" y="55"/>
                    </a:cubicBezTo>
                    <a:cubicBezTo>
                      <a:pt x="160" y="55"/>
                      <a:pt x="160" y="55"/>
                      <a:pt x="160" y="55"/>
                    </a:cubicBezTo>
                    <a:cubicBezTo>
                      <a:pt x="160" y="9"/>
                      <a:pt x="160" y="9"/>
                      <a:pt x="160" y="9"/>
                    </a:cubicBezTo>
                    <a:cubicBezTo>
                      <a:pt x="160" y="4"/>
                      <a:pt x="156" y="0"/>
                      <a:pt x="151" y="0"/>
                    </a:cubicBezTo>
                    <a:close/>
                    <a:moveTo>
                      <a:pt x="93" y="38"/>
                    </a:moveTo>
                    <a:cubicBezTo>
                      <a:pt x="29" y="38"/>
                      <a:pt x="29" y="38"/>
                      <a:pt x="29" y="38"/>
                    </a:cubicBezTo>
                    <a:cubicBezTo>
                      <a:pt x="29" y="22"/>
                      <a:pt x="29" y="22"/>
                      <a:pt x="29" y="22"/>
                    </a:cubicBezTo>
                    <a:cubicBezTo>
                      <a:pt x="93" y="22"/>
                      <a:pt x="93" y="22"/>
                      <a:pt x="93" y="22"/>
                    </a:cubicBezTo>
                    <a:lnTo>
                      <a:pt x="93" y="38"/>
                    </a:lnTo>
                    <a:close/>
                    <a:moveTo>
                      <a:pt x="117" y="43"/>
                    </a:moveTo>
                    <a:cubicBezTo>
                      <a:pt x="110" y="43"/>
                      <a:pt x="104" y="37"/>
                      <a:pt x="104" y="30"/>
                    </a:cubicBezTo>
                    <a:cubicBezTo>
                      <a:pt x="104" y="22"/>
                      <a:pt x="110" y="16"/>
                      <a:pt x="117" y="16"/>
                    </a:cubicBezTo>
                    <a:cubicBezTo>
                      <a:pt x="125" y="16"/>
                      <a:pt x="131" y="22"/>
                      <a:pt x="131" y="30"/>
                    </a:cubicBezTo>
                    <a:cubicBezTo>
                      <a:pt x="131" y="37"/>
                      <a:pt x="125" y="43"/>
                      <a:pt x="117" y="43"/>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56" name="Shape 7798">
                <a:extLst>
                  <a:ext uri="{FF2B5EF4-FFF2-40B4-BE49-F238E27FC236}">
                    <a16:creationId xmlns:a16="http://schemas.microsoft.com/office/drawing/2014/main" xmlns="" id="{A5023EF3-A3C4-4CF8-93F1-261C445A20BD}"/>
                  </a:ext>
                </a:extLst>
              </p:cNvPr>
              <p:cNvSpPr/>
              <p:nvPr/>
            </p:nvSpPr>
            <p:spPr>
              <a:xfrm>
                <a:off x="5592763" y="2417763"/>
                <a:ext cx="30163" cy="20637"/>
              </a:xfrm>
              <a:custGeom>
                <a:avLst/>
                <a:gdLst/>
                <a:ahLst/>
                <a:cxnLst/>
                <a:rect l="0" t="0" r="0" b="0"/>
                <a:pathLst>
                  <a:path w="25" h="18" extrusionOk="0">
                    <a:moveTo>
                      <a:pt x="24" y="14"/>
                    </a:moveTo>
                    <a:cubicBezTo>
                      <a:pt x="25" y="14"/>
                      <a:pt x="25" y="14"/>
                      <a:pt x="25" y="14"/>
                    </a:cubicBezTo>
                    <a:cubicBezTo>
                      <a:pt x="25" y="0"/>
                      <a:pt x="25" y="0"/>
                      <a:pt x="25" y="0"/>
                    </a:cubicBezTo>
                    <a:cubicBezTo>
                      <a:pt x="24" y="0"/>
                      <a:pt x="24" y="0"/>
                      <a:pt x="24" y="0"/>
                    </a:cubicBezTo>
                    <a:cubicBezTo>
                      <a:pt x="16" y="0"/>
                      <a:pt x="8" y="2"/>
                      <a:pt x="0" y="6"/>
                    </a:cubicBezTo>
                    <a:cubicBezTo>
                      <a:pt x="7" y="18"/>
                      <a:pt x="7" y="18"/>
                      <a:pt x="7" y="18"/>
                    </a:cubicBezTo>
                    <a:cubicBezTo>
                      <a:pt x="12" y="15"/>
                      <a:pt x="18" y="14"/>
                      <a:pt x="24" y="14"/>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57" name="Shape 7799">
                <a:extLst>
                  <a:ext uri="{FF2B5EF4-FFF2-40B4-BE49-F238E27FC236}">
                    <a16:creationId xmlns:a16="http://schemas.microsoft.com/office/drawing/2014/main" xmlns="" id="{CD79432F-8C0B-46EC-8F37-ECD53CAF45E9}"/>
                  </a:ext>
                </a:extLst>
              </p:cNvPr>
              <p:cNvSpPr/>
              <p:nvPr/>
            </p:nvSpPr>
            <p:spPr>
              <a:xfrm>
                <a:off x="5646738" y="2417763"/>
                <a:ext cx="26988"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58" name="Shape 7800">
                <a:extLst>
                  <a:ext uri="{FF2B5EF4-FFF2-40B4-BE49-F238E27FC236}">
                    <a16:creationId xmlns:a16="http://schemas.microsoft.com/office/drawing/2014/main" xmlns="" id="{CB3B8BEC-A7E1-4428-93D1-1A7CAD4785DB}"/>
                  </a:ext>
                </a:extLst>
              </p:cNvPr>
              <p:cNvSpPr/>
              <p:nvPr/>
            </p:nvSpPr>
            <p:spPr>
              <a:xfrm>
                <a:off x="5697538" y="241776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59" name="Shape 7801">
                <a:extLst>
                  <a:ext uri="{FF2B5EF4-FFF2-40B4-BE49-F238E27FC236}">
                    <a16:creationId xmlns:a16="http://schemas.microsoft.com/office/drawing/2014/main" xmlns="" id="{6A2D8DC4-84C1-4B01-AA4A-67B1D2D1F6A7}"/>
                  </a:ext>
                </a:extLst>
              </p:cNvPr>
              <p:cNvSpPr/>
              <p:nvPr/>
            </p:nvSpPr>
            <p:spPr>
              <a:xfrm>
                <a:off x="5748338" y="241776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60" name="Shape 7802">
                <a:extLst>
                  <a:ext uri="{FF2B5EF4-FFF2-40B4-BE49-F238E27FC236}">
                    <a16:creationId xmlns:a16="http://schemas.microsoft.com/office/drawing/2014/main" xmlns="" id="{0C6B0C08-8DA6-40EF-99BB-938501F706B6}"/>
                  </a:ext>
                </a:extLst>
              </p:cNvPr>
              <p:cNvSpPr/>
              <p:nvPr/>
            </p:nvSpPr>
            <p:spPr>
              <a:xfrm>
                <a:off x="5799138" y="241776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61" name="Shape 7803">
                <a:extLst>
                  <a:ext uri="{FF2B5EF4-FFF2-40B4-BE49-F238E27FC236}">
                    <a16:creationId xmlns:a16="http://schemas.microsoft.com/office/drawing/2014/main" xmlns="" id="{049AC7D6-AE6E-4821-9AB2-493F9AF459CD}"/>
                  </a:ext>
                </a:extLst>
              </p:cNvPr>
              <p:cNvSpPr/>
              <p:nvPr/>
            </p:nvSpPr>
            <p:spPr>
              <a:xfrm>
                <a:off x="5857875" y="241776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62" name="Shape 7804">
                <a:extLst>
                  <a:ext uri="{FF2B5EF4-FFF2-40B4-BE49-F238E27FC236}">
                    <a16:creationId xmlns:a16="http://schemas.microsoft.com/office/drawing/2014/main" xmlns="" id="{9B014732-6910-4E7E-BA56-8F62495FD7EB}"/>
                  </a:ext>
                </a:extLst>
              </p:cNvPr>
              <p:cNvSpPr/>
              <p:nvPr/>
            </p:nvSpPr>
            <p:spPr>
              <a:xfrm>
                <a:off x="5564188" y="2444750"/>
                <a:ext cx="22225" cy="28575"/>
              </a:xfrm>
              <a:custGeom>
                <a:avLst/>
                <a:gdLst/>
                <a:ahLst/>
                <a:cxnLst/>
                <a:rect l="0" t="0" r="0" b="0"/>
                <a:pathLst>
                  <a:path w="19" h="24" extrusionOk="0">
                    <a:moveTo>
                      <a:pt x="19" y="7"/>
                    </a:moveTo>
                    <a:cubicBezTo>
                      <a:pt x="7" y="0"/>
                      <a:pt x="7" y="0"/>
                      <a:pt x="7" y="0"/>
                    </a:cubicBezTo>
                    <a:cubicBezTo>
                      <a:pt x="3" y="7"/>
                      <a:pt x="0" y="15"/>
                      <a:pt x="0" y="23"/>
                    </a:cubicBezTo>
                    <a:cubicBezTo>
                      <a:pt x="14" y="24"/>
                      <a:pt x="14" y="24"/>
                      <a:pt x="14" y="24"/>
                    </a:cubicBezTo>
                    <a:cubicBezTo>
                      <a:pt x="14" y="18"/>
                      <a:pt x="16" y="12"/>
                      <a:pt x="19" y="7"/>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63" name="Shape 7805">
                <a:extLst>
                  <a:ext uri="{FF2B5EF4-FFF2-40B4-BE49-F238E27FC236}">
                    <a16:creationId xmlns:a16="http://schemas.microsoft.com/office/drawing/2014/main" xmlns="" id="{F04453D6-ACAB-45E7-B161-AE9FF0C56A44}"/>
                  </a:ext>
                </a:extLst>
              </p:cNvPr>
              <p:cNvSpPr/>
              <p:nvPr/>
            </p:nvSpPr>
            <p:spPr>
              <a:xfrm>
                <a:off x="5564188" y="2497138"/>
                <a:ext cx="15875" cy="25400"/>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64" name="Shape 7806">
                <a:extLst>
                  <a:ext uri="{FF2B5EF4-FFF2-40B4-BE49-F238E27FC236}">
                    <a16:creationId xmlns:a16="http://schemas.microsoft.com/office/drawing/2014/main" xmlns="" id="{C0DACC00-F0E6-4356-89E1-23234C8333CF}"/>
                  </a:ext>
                </a:extLst>
              </p:cNvPr>
              <p:cNvSpPr/>
              <p:nvPr/>
            </p:nvSpPr>
            <p:spPr>
              <a:xfrm>
                <a:off x="5538788" y="2551113"/>
                <a:ext cx="66675" cy="55562"/>
              </a:xfrm>
              <a:custGeom>
                <a:avLst/>
                <a:gdLst/>
                <a:ahLst/>
                <a:cxnLst/>
                <a:rect l="0" t="0" r="0" b="0"/>
                <a:pathLst>
                  <a:path w="42" h="35" extrusionOk="0">
                    <a:moveTo>
                      <a:pt x="42" y="0"/>
                    </a:moveTo>
                    <a:lnTo>
                      <a:pt x="0" y="0"/>
                    </a:lnTo>
                    <a:lnTo>
                      <a:pt x="21" y="35"/>
                    </a:lnTo>
                    <a:lnTo>
                      <a:pt x="42" y="0"/>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grpSp>
      </p:grpSp>
    </p:spTree>
    <p:extLst>
      <p:ext uri="{BB962C8B-B14F-4D97-AF65-F5344CB8AC3E}">
        <p14:creationId xmlns:p14="http://schemas.microsoft.com/office/powerpoint/2010/main" val="21172258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Group 35">
            <a:extLst>
              <a:ext uri="{FF2B5EF4-FFF2-40B4-BE49-F238E27FC236}">
                <a16:creationId xmlns:a16="http://schemas.microsoft.com/office/drawing/2014/main" xmlns="" id="{EA16FA40-1F59-4B3A-9C7D-8AB6749922B0}"/>
              </a:ext>
            </a:extLst>
          </p:cNvPr>
          <p:cNvGrpSpPr/>
          <p:nvPr/>
        </p:nvGrpSpPr>
        <p:grpSpPr>
          <a:xfrm>
            <a:off x="616815" y="408573"/>
            <a:ext cx="10958370" cy="2251614"/>
            <a:chOff x="669953" y="1659835"/>
            <a:chExt cx="10958370" cy="2251614"/>
          </a:xfrm>
        </p:grpSpPr>
        <p:sp>
          <p:nvSpPr>
            <p:cNvPr id="37" name="Freeform 6">
              <a:extLst>
                <a:ext uri="{FF2B5EF4-FFF2-40B4-BE49-F238E27FC236}">
                  <a16:creationId xmlns:a16="http://schemas.microsoft.com/office/drawing/2014/main" xmlns="" id="{C4173BDC-4027-4520-854F-744EBF7FF3B8}"/>
                </a:ext>
              </a:extLst>
            </p:cNvPr>
            <p:cNvSpPr>
              <a:spLocks/>
            </p:cNvSpPr>
            <p:nvPr/>
          </p:nvSpPr>
          <p:spPr bwMode="auto">
            <a:xfrm>
              <a:off x="776848" y="1680017"/>
              <a:ext cx="373861" cy="274869"/>
            </a:xfrm>
            <a:custGeom>
              <a:avLst/>
              <a:gdLst>
                <a:gd name="T0" fmla="*/ 81 w 162"/>
                <a:gd name="T1" fmla="*/ 0 h 119"/>
                <a:gd name="T2" fmla="*/ 0 w 162"/>
                <a:gd name="T3" fmla="*/ 119 h 119"/>
                <a:gd name="T4" fmla="*/ 162 w 162"/>
                <a:gd name="T5" fmla="*/ 119 h 119"/>
                <a:gd name="T6" fmla="*/ 81 w 162"/>
                <a:gd name="T7" fmla="*/ 0 h 119"/>
              </a:gdLst>
              <a:ahLst/>
              <a:cxnLst>
                <a:cxn ang="0">
                  <a:pos x="T0" y="T1"/>
                </a:cxn>
                <a:cxn ang="0">
                  <a:pos x="T2" y="T3"/>
                </a:cxn>
                <a:cxn ang="0">
                  <a:pos x="T4" y="T5"/>
                </a:cxn>
                <a:cxn ang="0">
                  <a:pos x="T6" y="T7"/>
                </a:cxn>
              </a:cxnLst>
              <a:rect l="0" t="0" r="r" b="b"/>
              <a:pathLst>
                <a:path w="162" h="119">
                  <a:moveTo>
                    <a:pt x="81" y="0"/>
                  </a:moveTo>
                  <a:cubicBezTo>
                    <a:pt x="34" y="18"/>
                    <a:pt x="0" y="65"/>
                    <a:pt x="0" y="119"/>
                  </a:cubicBezTo>
                  <a:cubicBezTo>
                    <a:pt x="162" y="119"/>
                    <a:pt x="162" y="119"/>
                    <a:pt x="162" y="119"/>
                  </a:cubicBezTo>
                  <a:cubicBezTo>
                    <a:pt x="162" y="65"/>
                    <a:pt x="129" y="19"/>
                    <a:pt x="81" y="0"/>
                  </a:cubicBez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ru-RU"/>
            </a:p>
          </p:txBody>
        </p:sp>
        <p:sp>
          <p:nvSpPr>
            <p:cNvPr id="38" name="Rectangle: Rounded Corners 37">
              <a:extLst>
                <a:ext uri="{FF2B5EF4-FFF2-40B4-BE49-F238E27FC236}">
                  <a16:creationId xmlns:a16="http://schemas.microsoft.com/office/drawing/2014/main" xmlns="" id="{F8874CF9-717E-43DE-A3CC-916F2E46A253}"/>
                </a:ext>
              </a:extLst>
            </p:cNvPr>
            <p:cNvSpPr/>
            <p:nvPr/>
          </p:nvSpPr>
          <p:spPr>
            <a:xfrm>
              <a:off x="776848" y="1953670"/>
              <a:ext cx="10851475" cy="567664"/>
            </a:xfrm>
            <a:prstGeom prst="roundRect">
              <a:avLst>
                <a:gd name="adj" fmla="val 9723"/>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404000" rtlCol="0" anchor="ctr"/>
            <a:lstStyle/>
            <a:p>
              <a:r>
                <a:rPr lang="en-US" sz="2200" b="1" dirty="0" err="1">
                  <a:solidFill>
                    <a:schemeClr val="tx1"/>
                  </a:solidFill>
                  <a:effectLst/>
                  <a:latin typeface="Times New Roman" panose="02020603050405020304" pitchFamily="18" charset="0"/>
                  <a:ea typeface="Calibri" panose="020F0502020204030204" pitchFamily="34" charset="0"/>
                </a:rPr>
                <a:t>PortfolioPilot</a:t>
              </a:r>
              <a:endParaRPr lang="en-IN" sz="2200" b="1" dirty="0">
                <a:solidFill>
                  <a:schemeClr val="tx1"/>
                </a:solidFill>
                <a:latin typeface="Calibri" panose="020F0502020204030204" pitchFamily="34" charset="0"/>
              </a:endParaRPr>
            </a:p>
          </p:txBody>
        </p:sp>
        <p:sp>
          <p:nvSpPr>
            <p:cNvPr id="39" name="Content Placeholder 2">
              <a:extLst>
                <a:ext uri="{FF2B5EF4-FFF2-40B4-BE49-F238E27FC236}">
                  <a16:creationId xmlns:a16="http://schemas.microsoft.com/office/drawing/2014/main" xmlns="" id="{EED62D1B-EAA0-406D-9BCA-3485BBA38197}"/>
                </a:ext>
              </a:extLst>
            </p:cNvPr>
            <p:cNvSpPr txBox="1">
              <a:spLocks/>
            </p:cNvSpPr>
            <p:nvPr/>
          </p:nvSpPr>
          <p:spPr>
            <a:xfrm>
              <a:off x="669953" y="3035410"/>
              <a:ext cx="10834234" cy="876039"/>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Nunito"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Nunito"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Nunito"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400"/>
                </a:spcBef>
                <a:spcAft>
                  <a:spcPts val="400"/>
                </a:spcAft>
                <a:buNone/>
              </a:pPr>
              <a:r>
                <a:rPr lang="en-US" sz="2200" dirty="0" err="1">
                  <a:latin typeface="+mn-lt"/>
                </a:rPr>
                <a:t>PortfolioPilot</a:t>
              </a:r>
              <a:r>
                <a:rPr lang="en-US" sz="2200" dirty="0">
                  <a:latin typeface="+mn-lt"/>
                </a:rPr>
                <a:t> is a potent tool for navigating the complexities of investing. It offers real-time information on stocks, ETFs, cryptocurrencies, and more, evaluates your portfolio, provides personalized recommendations, and insights into macroeconomic trends. It is valuable for a beginner as well as an intermediate in the stock market.</a:t>
              </a:r>
            </a:p>
            <a:p>
              <a:pPr marL="0" indent="0">
                <a:lnSpc>
                  <a:spcPct val="107000"/>
                </a:lnSpc>
                <a:spcAft>
                  <a:spcPts val="800"/>
                </a:spcAft>
                <a:buNone/>
              </a:pPr>
              <a:r>
                <a:rPr lang="en-US" sz="1800" u="sng" kern="100" dirty="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3"/>
                </a:rPr>
                <a:t>https://chat.openai.com/share/6f0203ee-ac52-44d1-b580-135eba83bb72</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400"/>
                </a:spcBef>
                <a:spcAft>
                  <a:spcPts val="400"/>
                </a:spcAft>
                <a:buNone/>
              </a:pPr>
              <a:endParaRPr lang="en-US" sz="2200" dirty="0">
                <a:latin typeface="+mn-lt"/>
              </a:endParaRPr>
            </a:p>
          </p:txBody>
        </p:sp>
        <p:sp>
          <p:nvSpPr>
            <p:cNvPr id="40" name="Freeform 7">
              <a:extLst>
                <a:ext uri="{FF2B5EF4-FFF2-40B4-BE49-F238E27FC236}">
                  <a16:creationId xmlns:a16="http://schemas.microsoft.com/office/drawing/2014/main" xmlns="" id="{CCFAD5FB-90AE-49A6-A7B6-5DD84D5DAB57}"/>
                </a:ext>
              </a:extLst>
            </p:cNvPr>
            <p:cNvSpPr>
              <a:spLocks/>
            </p:cNvSpPr>
            <p:nvPr/>
          </p:nvSpPr>
          <p:spPr bwMode="auto">
            <a:xfrm>
              <a:off x="871995" y="1659835"/>
              <a:ext cx="1061994" cy="1111971"/>
            </a:xfrm>
            <a:custGeom>
              <a:avLst/>
              <a:gdLst>
                <a:gd name="T0" fmla="*/ 332 w 461"/>
                <a:gd name="T1" fmla="*/ 0 h 482"/>
                <a:gd name="T2" fmla="*/ 88 w 461"/>
                <a:gd name="T3" fmla="*/ 0 h 482"/>
                <a:gd name="T4" fmla="*/ 40 w 461"/>
                <a:gd name="T5" fmla="*/ 9 h 482"/>
                <a:gd name="T6" fmla="*/ 0 w 461"/>
                <a:gd name="T7" fmla="*/ 35 h 482"/>
                <a:gd name="T8" fmla="*/ 81 w 461"/>
                <a:gd name="T9" fmla="*/ 35 h 482"/>
                <a:gd name="T10" fmla="*/ 121 w 461"/>
                <a:gd name="T11" fmla="*/ 128 h 482"/>
                <a:gd name="T12" fmla="*/ 121 w 461"/>
                <a:gd name="T13" fmla="*/ 311 h 482"/>
                <a:gd name="T14" fmla="*/ 121 w 461"/>
                <a:gd name="T15" fmla="*/ 312 h 482"/>
                <a:gd name="T16" fmla="*/ 291 w 461"/>
                <a:gd name="T17" fmla="*/ 482 h 482"/>
                <a:gd name="T18" fmla="*/ 461 w 461"/>
                <a:gd name="T19" fmla="*/ 312 h 482"/>
                <a:gd name="T20" fmla="*/ 461 w 461"/>
                <a:gd name="T21" fmla="*/ 312 h 482"/>
                <a:gd name="T22" fmla="*/ 461 w 461"/>
                <a:gd name="T23" fmla="*/ 128 h 482"/>
                <a:gd name="T24" fmla="*/ 332 w 461"/>
                <a:gd name="T25" fmla="*/ 0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 h="482">
                  <a:moveTo>
                    <a:pt x="332" y="0"/>
                  </a:moveTo>
                  <a:cubicBezTo>
                    <a:pt x="88" y="0"/>
                    <a:pt x="88" y="0"/>
                    <a:pt x="88" y="0"/>
                  </a:cubicBezTo>
                  <a:cubicBezTo>
                    <a:pt x="71" y="0"/>
                    <a:pt x="55" y="3"/>
                    <a:pt x="40" y="9"/>
                  </a:cubicBezTo>
                  <a:cubicBezTo>
                    <a:pt x="25" y="15"/>
                    <a:pt x="11" y="24"/>
                    <a:pt x="0" y="35"/>
                  </a:cubicBezTo>
                  <a:cubicBezTo>
                    <a:pt x="22" y="13"/>
                    <a:pt x="58" y="13"/>
                    <a:pt x="81" y="35"/>
                  </a:cubicBezTo>
                  <a:cubicBezTo>
                    <a:pt x="106" y="58"/>
                    <a:pt x="121" y="91"/>
                    <a:pt x="121" y="128"/>
                  </a:cubicBezTo>
                  <a:cubicBezTo>
                    <a:pt x="121" y="311"/>
                    <a:pt x="121" y="311"/>
                    <a:pt x="121" y="311"/>
                  </a:cubicBezTo>
                  <a:cubicBezTo>
                    <a:pt x="121" y="311"/>
                    <a:pt x="121" y="311"/>
                    <a:pt x="121" y="312"/>
                  </a:cubicBezTo>
                  <a:cubicBezTo>
                    <a:pt x="121" y="405"/>
                    <a:pt x="197" y="482"/>
                    <a:pt x="291" y="482"/>
                  </a:cubicBezTo>
                  <a:cubicBezTo>
                    <a:pt x="385" y="482"/>
                    <a:pt x="461" y="405"/>
                    <a:pt x="461" y="312"/>
                  </a:cubicBezTo>
                  <a:cubicBezTo>
                    <a:pt x="461" y="312"/>
                    <a:pt x="461" y="312"/>
                    <a:pt x="461" y="312"/>
                  </a:cubicBezTo>
                  <a:cubicBezTo>
                    <a:pt x="461" y="128"/>
                    <a:pt x="461" y="128"/>
                    <a:pt x="461" y="128"/>
                  </a:cubicBezTo>
                  <a:cubicBezTo>
                    <a:pt x="461" y="57"/>
                    <a:pt x="403" y="0"/>
                    <a:pt x="332"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ru-RU"/>
            </a:p>
          </p:txBody>
        </p:sp>
        <p:sp>
          <p:nvSpPr>
            <p:cNvPr id="41" name="Oval 8">
              <a:extLst>
                <a:ext uri="{FF2B5EF4-FFF2-40B4-BE49-F238E27FC236}">
                  <a16:creationId xmlns:a16="http://schemas.microsoft.com/office/drawing/2014/main" xmlns="" id="{93C0523A-56B3-4553-A05C-9084F0D71BFD}"/>
                </a:ext>
              </a:extLst>
            </p:cNvPr>
            <p:cNvSpPr>
              <a:spLocks noChangeArrowheads="1"/>
            </p:cNvSpPr>
            <p:nvPr/>
          </p:nvSpPr>
          <p:spPr bwMode="auto">
            <a:xfrm>
              <a:off x="1215101" y="2051956"/>
              <a:ext cx="654496" cy="652574"/>
            </a:xfrm>
            <a:prstGeom prst="ellipse">
              <a:avLst/>
            </a:prstGeom>
            <a:solidFill>
              <a:schemeClr val="bg2"/>
            </a:solidFill>
            <a:ln>
              <a:noFill/>
            </a:ln>
          </p:spPr>
          <p:txBody>
            <a:bodyPr vert="horz" wrap="square" lIns="91440" tIns="45720" rIns="91440" bIns="45720" numCol="1" anchor="t" anchorCtr="0" compatLnSpc="1">
              <a:prstTxWarp prst="textNoShape">
                <a:avLst/>
              </a:prstTxWarp>
            </a:bodyPr>
            <a:lstStyle/>
            <a:p>
              <a:endParaRPr lang="ru-RU"/>
            </a:p>
          </p:txBody>
        </p:sp>
        <p:grpSp>
          <p:nvGrpSpPr>
            <p:cNvPr id="42" name="Shape 7784">
              <a:extLst>
                <a:ext uri="{FF2B5EF4-FFF2-40B4-BE49-F238E27FC236}">
                  <a16:creationId xmlns:a16="http://schemas.microsoft.com/office/drawing/2014/main" xmlns="" id="{A29940F2-AB6D-4383-8C22-C62546C174D7}"/>
                </a:ext>
              </a:extLst>
            </p:cNvPr>
            <p:cNvGrpSpPr/>
            <p:nvPr/>
          </p:nvGrpSpPr>
          <p:grpSpPr>
            <a:xfrm>
              <a:off x="1389773" y="2214880"/>
              <a:ext cx="330464" cy="352116"/>
              <a:chOff x="5538788" y="2417763"/>
              <a:chExt cx="557213" cy="593725"/>
            </a:xfrm>
            <a:solidFill>
              <a:schemeClr val="tx1"/>
            </a:solidFill>
          </p:grpSpPr>
          <p:sp>
            <p:nvSpPr>
              <p:cNvPr id="43" name="Shape 7785">
                <a:extLst>
                  <a:ext uri="{FF2B5EF4-FFF2-40B4-BE49-F238E27FC236}">
                    <a16:creationId xmlns:a16="http://schemas.microsoft.com/office/drawing/2014/main" xmlns="" id="{6F83E444-C226-4033-99E1-972C1DD0FC02}"/>
                  </a:ext>
                </a:extLst>
              </p:cNvPr>
              <p:cNvSpPr/>
              <p:nvPr/>
            </p:nvSpPr>
            <p:spPr>
              <a:xfrm>
                <a:off x="5538788" y="2727325"/>
                <a:ext cx="188913" cy="284162"/>
              </a:xfrm>
              <a:custGeom>
                <a:avLst/>
                <a:gdLst/>
                <a:ahLst/>
                <a:cxnLst/>
                <a:rect l="0" t="0" r="0" b="0"/>
                <a:pathLst>
                  <a:path w="160" h="242" extrusionOk="0">
                    <a:moveTo>
                      <a:pt x="0" y="233"/>
                    </a:moveTo>
                    <a:cubicBezTo>
                      <a:pt x="0" y="238"/>
                      <a:pt x="4" y="242"/>
                      <a:pt x="9" y="242"/>
                    </a:cubicBezTo>
                    <a:cubicBezTo>
                      <a:pt x="151" y="242"/>
                      <a:pt x="151" y="242"/>
                      <a:pt x="151" y="242"/>
                    </a:cubicBezTo>
                    <a:cubicBezTo>
                      <a:pt x="156" y="242"/>
                      <a:pt x="160" y="238"/>
                      <a:pt x="160" y="233"/>
                    </a:cubicBezTo>
                    <a:cubicBezTo>
                      <a:pt x="160" y="0"/>
                      <a:pt x="160" y="0"/>
                      <a:pt x="160" y="0"/>
                    </a:cubicBezTo>
                    <a:cubicBezTo>
                      <a:pt x="0" y="0"/>
                      <a:pt x="0" y="0"/>
                      <a:pt x="0" y="0"/>
                    </a:cubicBezTo>
                    <a:lnTo>
                      <a:pt x="0" y="233"/>
                    </a:lnTo>
                    <a:close/>
                    <a:moveTo>
                      <a:pt x="80" y="227"/>
                    </a:moveTo>
                    <a:cubicBezTo>
                      <a:pt x="71" y="227"/>
                      <a:pt x="63" y="220"/>
                      <a:pt x="63" y="210"/>
                    </a:cubicBezTo>
                    <a:cubicBezTo>
                      <a:pt x="63" y="200"/>
                      <a:pt x="71" y="192"/>
                      <a:pt x="80" y="192"/>
                    </a:cubicBezTo>
                    <a:cubicBezTo>
                      <a:pt x="90" y="192"/>
                      <a:pt x="98" y="200"/>
                      <a:pt x="98" y="210"/>
                    </a:cubicBezTo>
                    <a:cubicBezTo>
                      <a:pt x="98" y="220"/>
                      <a:pt x="90" y="227"/>
                      <a:pt x="80" y="227"/>
                    </a:cubicBezTo>
                    <a:close/>
                    <a:moveTo>
                      <a:pt x="73" y="175"/>
                    </a:moveTo>
                    <a:cubicBezTo>
                      <a:pt x="73" y="171"/>
                      <a:pt x="76" y="167"/>
                      <a:pt x="80" y="167"/>
                    </a:cubicBezTo>
                    <a:cubicBezTo>
                      <a:pt x="85" y="167"/>
                      <a:pt x="88" y="171"/>
                      <a:pt x="88" y="175"/>
                    </a:cubicBezTo>
                    <a:cubicBezTo>
                      <a:pt x="88" y="179"/>
                      <a:pt x="85" y="183"/>
                      <a:pt x="80" y="183"/>
                    </a:cubicBezTo>
                    <a:cubicBezTo>
                      <a:pt x="76" y="183"/>
                      <a:pt x="73" y="179"/>
                      <a:pt x="73" y="175"/>
                    </a:cubicBezTo>
                    <a:close/>
                    <a:moveTo>
                      <a:pt x="29" y="12"/>
                    </a:moveTo>
                    <a:cubicBezTo>
                      <a:pt x="131" y="12"/>
                      <a:pt x="131" y="12"/>
                      <a:pt x="131" y="12"/>
                    </a:cubicBezTo>
                    <a:cubicBezTo>
                      <a:pt x="131" y="33"/>
                      <a:pt x="131" y="33"/>
                      <a:pt x="131" y="33"/>
                    </a:cubicBezTo>
                    <a:cubicBezTo>
                      <a:pt x="29" y="33"/>
                      <a:pt x="29" y="33"/>
                      <a:pt x="29" y="33"/>
                    </a:cubicBezTo>
                    <a:lnTo>
                      <a:pt x="29" y="12"/>
                    </a:lnTo>
                    <a:close/>
                    <a:moveTo>
                      <a:pt x="29" y="43"/>
                    </a:moveTo>
                    <a:cubicBezTo>
                      <a:pt x="131" y="43"/>
                      <a:pt x="131" y="43"/>
                      <a:pt x="131" y="43"/>
                    </a:cubicBezTo>
                    <a:cubicBezTo>
                      <a:pt x="131" y="64"/>
                      <a:pt x="131" y="64"/>
                      <a:pt x="131" y="64"/>
                    </a:cubicBezTo>
                    <a:cubicBezTo>
                      <a:pt x="29" y="64"/>
                      <a:pt x="29" y="64"/>
                      <a:pt x="29" y="64"/>
                    </a:cubicBezTo>
                    <a:lnTo>
                      <a:pt x="29" y="43"/>
                    </a:lnTo>
                    <a:close/>
                    <a:moveTo>
                      <a:pt x="29" y="73"/>
                    </a:moveTo>
                    <a:cubicBezTo>
                      <a:pt x="131" y="73"/>
                      <a:pt x="131" y="73"/>
                      <a:pt x="131" y="73"/>
                    </a:cubicBezTo>
                    <a:cubicBezTo>
                      <a:pt x="131" y="94"/>
                      <a:pt x="131" y="94"/>
                      <a:pt x="131" y="94"/>
                    </a:cubicBezTo>
                    <a:cubicBezTo>
                      <a:pt x="29" y="94"/>
                      <a:pt x="29" y="94"/>
                      <a:pt x="29" y="94"/>
                    </a:cubicBezTo>
                    <a:lnTo>
                      <a:pt x="29" y="73"/>
                    </a:lnTo>
                    <a:close/>
                    <a:moveTo>
                      <a:pt x="29" y="104"/>
                    </a:moveTo>
                    <a:cubicBezTo>
                      <a:pt x="131" y="104"/>
                      <a:pt x="131" y="104"/>
                      <a:pt x="131" y="104"/>
                    </a:cubicBezTo>
                    <a:cubicBezTo>
                      <a:pt x="131" y="125"/>
                      <a:pt x="131" y="125"/>
                      <a:pt x="131" y="125"/>
                    </a:cubicBezTo>
                    <a:cubicBezTo>
                      <a:pt x="29" y="125"/>
                      <a:pt x="29" y="125"/>
                      <a:pt x="29" y="125"/>
                    </a:cubicBezTo>
                    <a:lnTo>
                      <a:pt x="29" y="104"/>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44" name="Shape 7786">
                <a:extLst>
                  <a:ext uri="{FF2B5EF4-FFF2-40B4-BE49-F238E27FC236}">
                    <a16:creationId xmlns:a16="http://schemas.microsoft.com/office/drawing/2014/main" xmlns="" id="{93A10B83-E792-4770-A4DC-452F5B520727}"/>
                  </a:ext>
                </a:extLst>
              </p:cNvPr>
              <p:cNvSpPr/>
              <p:nvPr/>
            </p:nvSpPr>
            <p:spPr>
              <a:xfrm>
                <a:off x="5538788" y="2651125"/>
                <a:ext cx="188913" cy="63500"/>
              </a:xfrm>
              <a:custGeom>
                <a:avLst/>
                <a:gdLst/>
                <a:ahLst/>
                <a:cxnLst/>
                <a:rect l="0" t="0" r="0" b="0"/>
                <a:pathLst>
                  <a:path w="160" h="55" extrusionOk="0">
                    <a:moveTo>
                      <a:pt x="151" y="0"/>
                    </a:moveTo>
                    <a:cubicBezTo>
                      <a:pt x="9" y="0"/>
                      <a:pt x="9" y="0"/>
                      <a:pt x="9" y="0"/>
                    </a:cubicBezTo>
                    <a:cubicBezTo>
                      <a:pt x="4" y="0"/>
                      <a:pt x="0" y="4"/>
                      <a:pt x="0" y="9"/>
                    </a:cubicBezTo>
                    <a:cubicBezTo>
                      <a:pt x="0" y="55"/>
                      <a:pt x="0" y="55"/>
                      <a:pt x="0" y="55"/>
                    </a:cubicBezTo>
                    <a:cubicBezTo>
                      <a:pt x="160" y="55"/>
                      <a:pt x="160" y="55"/>
                      <a:pt x="160" y="55"/>
                    </a:cubicBezTo>
                    <a:cubicBezTo>
                      <a:pt x="160" y="9"/>
                      <a:pt x="160" y="9"/>
                      <a:pt x="160" y="9"/>
                    </a:cubicBezTo>
                    <a:cubicBezTo>
                      <a:pt x="160" y="4"/>
                      <a:pt x="156" y="0"/>
                      <a:pt x="151" y="0"/>
                    </a:cubicBezTo>
                    <a:close/>
                    <a:moveTo>
                      <a:pt x="43" y="43"/>
                    </a:moveTo>
                    <a:cubicBezTo>
                      <a:pt x="36" y="43"/>
                      <a:pt x="30" y="37"/>
                      <a:pt x="30" y="30"/>
                    </a:cubicBezTo>
                    <a:cubicBezTo>
                      <a:pt x="30" y="22"/>
                      <a:pt x="36" y="16"/>
                      <a:pt x="43" y="16"/>
                    </a:cubicBezTo>
                    <a:cubicBezTo>
                      <a:pt x="51" y="16"/>
                      <a:pt x="57" y="22"/>
                      <a:pt x="57" y="30"/>
                    </a:cubicBezTo>
                    <a:cubicBezTo>
                      <a:pt x="57" y="37"/>
                      <a:pt x="51" y="43"/>
                      <a:pt x="43" y="43"/>
                    </a:cubicBezTo>
                    <a:close/>
                    <a:moveTo>
                      <a:pt x="131" y="38"/>
                    </a:moveTo>
                    <a:cubicBezTo>
                      <a:pt x="68" y="38"/>
                      <a:pt x="68" y="38"/>
                      <a:pt x="68" y="38"/>
                    </a:cubicBezTo>
                    <a:cubicBezTo>
                      <a:pt x="68" y="22"/>
                      <a:pt x="68" y="22"/>
                      <a:pt x="68" y="22"/>
                    </a:cubicBezTo>
                    <a:cubicBezTo>
                      <a:pt x="131" y="22"/>
                      <a:pt x="131" y="22"/>
                      <a:pt x="131" y="22"/>
                    </a:cubicBezTo>
                    <a:lnTo>
                      <a:pt x="131" y="38"/>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45" name="Shape 7787">
                <a:extLst>
                  <a:ext uri="{FF2B5EF4-FFF2-40B4-BE49-F238E27FC236}">
                    <a16:creationId xmlns:a16="http://schemas.microsoft.com/office/drawing/2014/main" xmlns="" id="{56DF18E4-5FA2-4026-94E5-8DB63526998D}"/>
                  </a:ext>
                </a:extLst>
              </p:cNvPr>
              <p:cNvSpPr/>
              <p:nvPr/>
            </p:nvSpPr>
            <p:spPr>
              <a:xfrm>
                <a:off x="6013450" y="2990850"/>
                <a:ext cx="28575" cy="20637"/>
              </a:xfrm>
              <a:custGeom>
                <a:avLst/>
                <a:gdLst/>
                <a:ahLst/>
                <a:cxnLst/>
                <a:rect l="0" t="0" r="0" b="0"/>
                <a:pathLst>
                  <a:path w="24" h="18" extrusionOk="0">
                    <a:moveTo>
                      <a:pt x="1" y="4"/>
                    </a:moveTo>
                    <a:cubicBezTo>
                      <a:pt x="0" y="4"/>
                      <a:pt x="0" y="4"/>
                      <a:pt x="0" y="4"/>
                    </a:cubicBezTo>
                    <a:cubicBezTo>
                      <a:pt x="0" y="18"/>
                      <a:pt x="0" y="18"/>
                      <a:pt x="0" y="18"/>
                    </a:cubicBezTo>
                    <a:cubicBezTo>
                      <a:pt x="1" y="18"/>
                      <a:pt x="1" y="18"/>
                      <a:pt x="1" y="18"/>
                    </a:cubicBezTo>
                    <a:cubicBezTo>
                      <a:pt x="9" y="18"/>
                      <a:pt x="17" y="16"/>
                      <a:pt x="24" y="12"/>
                    </a:cubicBezTo>
                    <a:cubicBezTo>
                      <a:pt x="17" y="0"/>
                      <a:pt x="17" y="0"/>
                      <a:pt x="17" y="0"/>
                    </a:cubicBezTo>
                    <a:cubicBezTo>
                      <a:pt x="12" y="3"/>
                      <a:pt x="6" y="4"/>
                      <a:pt x="1" y="4"/>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46" name="Shape 7788">
                <a:extLst>
                  <a:ext uri="{FF2B5EF4-FFF2-40B4-BE49-F238E27FC236}">
                    <a16:creationId xmlns:a16="http://schemas.microsoft.com/office/drawing/2014/main" xmlns="" id="{F18DE7D5-2CC3-4EDB-93AB-EC404C97F2A0}"/>
                  </a:ext>
                </a:extLst>
              </p:cNvPr>
              <p:cNvSpPr/>
              <p:nvPr/>
            </p:nvSpPr>
            <p:spPr>
              <a:xfrm>
                <a:off x="5964238" y="299561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47" name="Shape 7789">
                <a:extLst>
                  <a:ext uri="{FF2B5EF4-FFF2-40B4-BE49-F238E27FC236}">
                    <a16:creationId xmlns:a16="http://schemas.microsoft.com/office/drawing/2014/main" xmlns="" id="{C8436D8F-BF5C-4FD2-9F8C-0714FA587B9E}"/>
                  </a:ext>
                </a:extLst>
              </p:cNvPr>
              <p:cNvSpPr/>
              <p:nvPr/>
            </p:nvSpPr>
            <p:spPr>
              <a:xfrm>
                <a:off x="5913438" y="2995613"/>
                <a:ext cx="23813"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48" name="Shape 7790">
                <a:extLst>
                  <a:ext uri="{FF2B5EF4-FFF2-40B4-BE49-F238E27FC236}">
                    <a16:creationId xmlns:a16="http://schemas.microsoft.com/office/drawing/2014/main" xmlns="" id="{4D228924-370C-4427-9AD5-910FD43F362D}"/>
                  </a:ext>
                </a:extLst>
              </p:cNvPr>
              <p:cNvSpPr/>
              <p:nvPr/>
            </p:nvSpPr>
            <p:spPr>
              <a:xfrm>
                <a:off x="5862638" y="299561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49" name="Shape 7791">
                <a:extLst>
                  <a:ext uri="{FF2B5EF4-FFF2-40B4-BE49-F238E27FC236}">
                    <a16:creationId xmlns:a16="http://schemas.microsoft.com/office/drawing/2014/main" xmlns="" id="{C537C80C-74C6-4262-8002-86B5DCFFCE4C}"/>
                  </a:ext>
                </a:extLst>
              </p:cNvPr>
              <p:cNvSpPr/>
              <p:nvPr/>
            </p:nvSpPr>
            <p:spPr>
              <a:xfrm>
                <a:off x="5807075" y="2995613"/>
                <a:ext cx="23813"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50" name="Shape 7792">
                <a:extLst>
                  <a:ext uri="{FF2B5EF4-FFF2-40B4-BE49-F238E27FC236}">
                    <a16:creationId xmlns:a16="http://schemas.microsoft.com/office/drawing/2014/main" xmlns="" id="{6DE2F59B-EC3D-4ECE-958E-CD07D83D9C59}"/>
                  </a:ext>
                </a:extLst>
              </p:cNvPr>
              <p:cNvSpPr/>
              <p:nvPr/>
            </p:nvSpPr>
            <p:spPr>
              <a:xfrm>
                <a:off x="5753100" y="299561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51" name="Shape 7793">
                <a:extLst>
                  <a:ext uri="{FF2B5EF4-FFF2-40B4-BE49-F238E27FC236}">
                    <a16:creationId xmlns:a16="http://schemas.microsoft.com/office/drawing/2014/main" xmlns="" id="{9D036060-E2C6-47BB-9D9A-F0431E4E7079}"/>
                  </a:ext>
                </a:extLst>
              </p:cNvPr>
              <p:cNvSpPr/>
              <p:nvPr/>
            </p:nvSpPr>
            <p:spPr>
              <a:xfrm>
                <a:off x="6048375" y="2955925"/>
                <a:ext cx="22225" cy="28575"/>
              </a:xfrm>
              <a:custGeom>
                <a:avLst/>
                <a:gdLst/>
                <a:ahLst/>
                <a:cxnLst/>
                <a:rect l="0" t="0" r="0" b="0"/>
                <a:pathLst>
                  <a:path w="19" h="24" extrusionOk="0">
                    <a:moveTo>
                      <a:pt x="0" y="17"/>
                    </a:moveTo>
                    <a:cubicBezTo>
                      <a:pt x="12" y="24"/>
                      <a:pt x="12" y="24"/>
                      <a:pt x="12" y="24"/>
                    </a:cubicBezTo>
                    <a:cubicBezTo>
                      <a:pt x="17" y="17"/>
                      <a:pt x="19" y="9"/>
                      <a:pt x="19" y="0"/>
                    </a:cubicBezTo>
                    <a:cubicBezTo>
                      <a:pt x="6" y="0"/>
                      <a:pt x="6" y="0"/>
                      <a:pt x="6" y="0"/>
                    </a:cubicBezTo>
                    <a:cubicBezTo>
                      <a:pt x="5" y="6"/>
                      <a:pt x="3" y="12"/>
                      <a:pt x="0" y="17"/>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52" name="Shape 7794">
                <a:extLst>
                  <a:ext uri="{FF2B5EF4-FFF2-40B4-BE49-F238E27FC236}">
                    <a16:creationId xmlns:a16="http://schemas.microsoft.com/office/drawing/2014/main" xmlns="" id="{BB943592-1A4D-42A7-8F52-65EE495E117C}"/>
                  </a:ext>
                </a:extLst>
              </p:cNvPr>
              <p:cNvSpPr/>
              <p:nvPr/>
            </p:nvSpPr>
            <p:spPr>
              <a:xfrm>
                <a:off x="6056313" y="2906713"/>
                <a:ext cx="15875" cy="23812"/>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53" name="Shape 7795">
                <a:extLst>
                  <a:ext uri="{FF2B5EF4-FFF2-40B4-BE49-F238E27FC236}">
                    <a16:creationId xmlns:a16="http://schemas.microsoft.com/office/drawing/2014/main" xmlns="" id="{5037C5E4-5602-44BB-8C61-1D8962506E7C}"/>
                  </a:ext>
                </a:extLst>
              </p:cNvPr>
              <p:cNvSpPr/>
              <p:nvPr/>
            </p:nvSpPr>
            <p:spPr>
              <a:xfrm>
                <a:off x="6030913" y="2820988"/>
                <a:ext cx="65088" cy="57150"/>
              </a:xfrm>
              <a:custGeom>
                <a:avLst/>
                <a:gdLst/>
                <a:ahLst/>
                <a:cxnLst/>
                <a:rect l="0" t="0" r="0" b="0"/>
                <a:pathLst>
                  <a:path w="41" h="36" extrusionOk="0">
                    <a:moveTo>
                      <a:pt x="0" y="36"/>
                    </a:moveTo>
                    <a:lnTo>
                      <a:pt x="41" y="36"/>
                    </a:lnTo>
                    <a:lnTo>
                      <a:pt x="21" y="0"/>
                    </a:lnTo>
                    <a:lnTo>
                      <a:pt x="0" y="36"/>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54" name="Shape 7796">
                <a:extLst>
                  <a:ext uri="{FF2B5EF4-FFF2-40B4-BE49-F238E27FC236}">
                    <a16:creationId xmlns:a16="http://schemas.microsoft.com/office/drawing/2014/main" xmlns="" id="{9C101E85-F220-4201-9EE1-47432FD74621}"/>
                  </a:ext>
                </a:extLst>
              </p:cNvPr>
              <p:cNvSpPr/>
              <p:nvPr/>
            </p:nvSpPr>
            <p:spPr>
              <a:xfrm>
                <a:off x="5908675" y="2495550"/>
                <a:ext cx="187325" cy="282575"/>
              </a:xfrm>
              <a:custGeom>
                <a:avLst/>
                <a:gdLst/>
                <a:ahLst/>
                <a:cxnLst/>
                <a:rect l="0" t="0" r="0" b="0"/>
                <a:pathLst>
                  <a:path w="160" h="242" extrusionOk="0">
                    <a:moveTo>
                      <a:pt x="0" y="233"/>
                    </a:moveTo>
                    <a:cubicBezTo>
                      <a:pt x="0" y="238"/>
                      <a:pt x="4" y="242"/>
                      <a:pt x="9" y="242"/>
                    </a:cubicBezTo>
                    <a:cubicBezTo>
                      <a:pt x="151" y="242"/>
                      <a:pt x="151" y="242"/>
                      <a:pt x="151" y="242"/>
                    </a:cubicBezTo>
                    <a:cubicBezTo>
                      <a:pt x="156" y="242"/>
                      <a:pt x="160" y="238"/>
                      <a:pt x="160" y="233"/>
                    </a:cubicBezTo>
                    <a:cubicBezTo>
                      <a:pt x="160" y="0"/>
                      <a:pt x="160" y="0"/>
                      <a:pt x="160" y="0"/>
                    </a:cubicBezTo>
                    <a:cubicBezTo>
                      <a:pt x="0" y="0"/>
                      <a:pt x="0" y="0"/>
                      <a:pt x="0" y="0"/>
                    </a:cubicBezTo>
                    <a:lnTo>
                      <a:pt x="0" y="233"/>
                    </a:lnTo>
                    <a:close/>
                    <a:moveTo>
                      <a:pt x="80" y="227"/>
                    </a:moveTo>
                    <a:cubicBezTo>
                      <a:pt x="71" y="227"/>
                      <a:pt x="63" y="220"/>
                      <a:pt x="63" y="210"/>
                    </a:cubicBezTo>
                    <a:cubicBezTo>
                      <a:pt x="63" y="200"/>
                      <a:pt x="71" y="192"/>
                      <a:pt x="80" y="192"/>
                    </a:cubicBezTo>
                    <a:cubicBezTo>
                      <a:pt x="90" y="192"/>
                      <a:pt x="98" y="200"/>
                      <a:pt x="98" y="210"/>
                    </a:cubicBezTo>
                    <a:cubicBezTo>
                      <a:pt x="98" y="220"/>
                      <a:pt x="90" y="227"/>
                      <a:pt x="80" y="227"/>
                    </a:cubicBezTo>
                    <a:close/>
                    <a:moveTo>
                      <a:pt x="72" y="175"/>
                    </a:moveTo>
                    <a:cubicBezTo>
                      <a:pt x="72" y="171"/>
                      <a:pt x="76" y="167"/>
                      <a:pt x="80" y="167"/>
                    </a:cubicBezTo>
                    <a:cubicBezTo>
                      <a:pt x="85" y="167"/>
                      <a:pt x="88" y="171"/>
                      <a:pt x="88" y="175"/>
                    </a:cubicBezTo>
                    <a:cubicBezTo>
                      <a:pt x="88" y="179"/>
                      <a:pt x="85" y="183"/>
                      <a:pt x="80" y="183"/>
                    </a:cubicBezTo>
                    <a:cubicBezTo>
                      <a:pt x="76" y="183"/>
                      <a:pt x="72" y="179"/>
                      <a:pt x="72" y="175"/>
                    </a:cubicBezTo>
                    <a:close/>
                    <a:moveTo>
                      <a:pt x="29" y="12"/>
                    </a:moveTo>
                    <a:cubicBezTo>
                      <a:pt x="131" y="12"/>
                      <a:pt x="131" y="12"/>
                      <a:pt x="131" y="12"/>
                    </a:cubicBezTo>
                    <a:cubicBezTo>
                      <a:pt x="131" y="33"/>
                      <a:pt x="131" y="33"/>
                      <a:pt x="131" y="33"/>
                    </a:cubicBezTo>
                    <a:cubicBezTo>
                      <a:pt x="29" y="33"/>
                      <a:pt x="29" y="33"/>
                      <a:pt x="29" y="33"/>
                    </a:cubicBezTo>
                    <a:lnTo>
                      <a:pt x="29" y="12"/>
                    </a:lnTo>
                    <a:close/>
                    <a:moveTo>
                      <a:pt x="29" y="43"/>
                    </a:moveTo>
                    <a:cubicBezTo>
                      <a:pt x="131" y="43"/>
                      <a:pt x="131" y="43"/>
                      <a:pt x="131" y="43"/>
                    </a:cubicBezTo>
                    <a:cubicBezTo>
                      <a:pt x="131" y="64"/>
                      <a:pt x="131" y="64"/>
                      <a:pt x="131" y="64"/>
                    </a:cubicBezTo>
                    <a:cubicBezTo>
                      <a:pt x="29" y="64"/>
                      <a:pt x="29" y="64"/>
                      <a:pt x="29" y="64"/>
                    </a:cubicBezTo>
                    <a:lnTo>
                      <a:pt x="29" y="43"/>
                    </a:lnTo>
                    <a:close/>
                    <a:moveTo>
                      <a:pt x="29" y="73"/>
                    </a:moveTo>
                    <a:cubicBezTo>
                      <a:pt x="131" y="73"/>
                      <a:pt x="131" y="73"/>
                      <a:pt x="131" y="73"/>
                    </a:cubicBezTo>
                    <a:cubicBezTo>
                      <a:pt x="131" y="94"/>
                      <a:pt x="131" y="94"/>
                      <a:pt x="131" y="94"/>
                    </a:cubicBezTo>
                    <a:cubicBezTo>
                      <a:pt x="29" y="94"/>
                      <a:pt x="29" y="94"/>
                      <a:pt x="29" y="94"/>
                    </a:cubicBezTo>
                    <a:lnTo>
                      <a:pt x="29" y="73"/>
                    </a:lnTo>
                    <a:close/>
                    <a:moveTo>
                      <a:pt x="29" y="104"/>
                    </a:moveTo>
                    <a:cubicBezTo>
                      <a:pt x="131" y="104"/>
                      <a:pt x="131" y="104"/>
                      <a:pt x="131" y="104"/>
                    </a:cubicBezTo>
                    <a:cubicBezTo>
                      <a:pt x="131" y="125"/>
                      <a:pt x="131" y="125"/>
                      <a:pt x="131" y="125"/>
                    </a:cubicBezTo>
                    <a:cubicBezTo>
                      <a:pt x="29" y="125"/>
                      <a:pt x="29" y="125"/>
                      <a:pt x="29" y="125"/>
                    </a:cubicBezTo>
                    <a:lnTo>
                      <a:pt x="29" y="104"/>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55" name="Shape 7797">
                <a:extLst>
                  <a:ext uri="{FF2B5EF4-FFF2-40B4-BE49-F238E27FC236}">
                    <a16:creationId xmlns:a16="http://schemas.microsoft.com/office/drawing/2014/main" xmlns="" id="{9CBD7147-1F3B-4FE1-9528-DEC0B3EEE202}"/>
                  </a:ext>
                </a:extLst>
              </p:cNvPr>
              <p:cNvSpPr/>
              <p:nvPr/>
            </p:nvSpPr>
            <p:spPr>
              <a:xfrm>
                <a:off x="5908675" y="2417763"/>
                <a:ext cx="187325" cy="65087"/>
              </a:xfrm>
              <a:custGeom>
                <a:avLst/>
                <a:gdLst/>
                <a:ahLst/>
                <a:cxnLst/>
                <a:rect l="0" t="0" r="0" b="0"/>
                <a:pathLst>
                  <a:path w="160" h="55" extrusionOk="0">
                    <a:moveTo>
                      <a:pt x="151" y="0"/>
                    </a:moveTo>
                    <a:cubicBezTo>
                      <a:pt x="9" y="0"/>
                      <a:pt x="9" y="0"/>
                      <a:pt x="9" y="0"/>
                    </a:cubicBezTo>
                    <a:cubicBezTo>
                      <a:pt x="4" y="0"/>
                      <a:pt x="0" y="4"/>
                      <a:pt x="0" y="9"/>
                    </a:cubicBezTo>
                    <a:cubicBezTo>
                      <a:pt x="0" y="55"/>
                      <a:pt x="0" y="55"/>
                      <a:pt x="0" y="55"/>
                    </a:cubicBezTo>
                    <a:cubicBezTo>
                      <a:pt x="160" y="55"/>
                      <a:pt x="160" y="55"/>
                      <a:pt x="160" y="55"/>
                    </a:cubicBezTo>
                    <a:cubicBezTo>
                      <a:pt x="160" y="9"/>
                      <a:pt x="160" y="9"/>
                      <a:pt x="160" y="9"/>
                    </a:cubicBezTo>
                    <a:cubicBezTo>
                      <a:pt x="160" y="4"/>
                      <a:pt x="156" y="0"/>
                      <a:pt x="151" y="0"/>
                    </a:cubicBezTo>
                    <a:close/>
                    <a:moveTo>
                      <a:pt x="93" y="38"/>
                    </a:moveTo>
                    <a:cubicBezTo>
                      <a:pt x="29" y="38"/>
                      <a:pt x="29" y="38"/>
                      <a:pt x="29" y="38"/>
                    </a:cubicBezTo>
                    <a:cubicBezTo>
                      <a:pt x="29" y="22"/>
                      <a:pt x="29" y="22"/>
                      <a:pt x="29" y="22"/>
                    </a:cubicBezTo>
                    <a:cubicBezTo>
                      <a:pt x="93" y="22"/>
                      <a:pt x="93" y="22"/>
                      <a:pt x="93" y="22"/>
                    </a:cubicBezTo>
                    <a:lnTo>
                      <a:pt x="93" y="38"/>
                    </a:lnTo>
                    <a:close/>
                    <a:moveTo>
                      <a:pt x="117" y="43"/>
                    </a:moveTo>
                    <a:cubicBezTo>
                      <a:pt x="110" y="43"/>
                      <a:pt x="104" y="37"/>
                      <a:pt x="104" y="30"/>
                    </a:cubicBezTo>
                    <a:cubicBezTo>
                      <a:pt x="104" y="22"/>
                      <a:pt x="110" y="16"/>
                      <a:pt x="117" y="16"/>
                    </a:cubicBezTo>
                    <a:cubicBezTo>
                      <a:pt x="125" y="16"/>
                      <a:pt x="131" y="22"/>
                      <a:pt x="131" y="30"/>
                    </a:cubicBezTo>
                    <a:cubicBezTo>
                      <a:pt x="131" y="37"/>
                      <a:pt x="125" y="43"/>
                      <a:pt x="117" y="43"/>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56" name="Shape 7798">
                <a:extLst>
                  <a:ext uri="{FF2B5EF4-FFF2-40B4-BE49-F238E27FC236}">
                    <a16:creationId xmlns:a16="http://schemas.microsoft.com/office/drawing/2014/main" xmlns="" id="{A5023EF3-A3C4-4CF8-93F1-261C445A20BD}"/>
                  </a:ext>
                </a:extLst>
              </p:cNvPr>
              <p:cNvSpPr/>
              <p:nvPr/>
            </p:nvSpPr>
            <p:spPr>
              <a:xfrm>
                <a:off x="5592763" y="2417763"/>
                <a:ext cx="30163" cy="20637"/>
              </a:xfrm>
              <a:custGeom>
                <a:avLst/>
                <a:gdLst/>
                <a:ahLst/>
                <a:cxnLst/>
                <a:rect l="0" t="0" r="0" b="0"/>
                <a:pathLst>
                  <a:path w="25" h="18" extrusionOk="0">
                    <a:moveTo>
                      <a:pt x="24" y="14"/>
                    </a:moveTo>
                    <a:cubicBezTo>
                      <a:pt x="25" y="14"/>
                      <a:pt x="25" y="14"/>
                      <a:pt x="25" y="14"/>
                    </a:cubicBezTo>
                    <a:cubicBezTo>
                      <a:pt x="25" y="0"/>
                      <a:pt x="25" y="0"/>
                      <a:pt x="25" y="0"/>
                    </a:cubicBezTo>
                    <a:cubicBezTo>
                      <a:pt x="24" y="0"/>
                      <a:pt x="24" y="0"/>
                      <a:pt x="24" y="0"/>
                    </a:cubicBezTo>
                    <a:cubicBezTo>
                      <a:pt x="16" y="0"/>
                      <a:pt x="8" y="2"/>
                      <a:pt x="0" y="6"/>
                    </a:cubicBezTo>
                    <a:cubicBezTo>
                      <a:pt x="7" y="18"/>
                      <a:pt x="7" y="18"/>
                      <a:pt x="7" y="18"/>
                    </a:cubicBezTo>
                    <a:cubicBezTo>
                      <a:pt x="12" y="15"/>
                      <a:pt x="18" y="14"/>
                      <a:pt x="24" y="14"/>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57" name="Shape 7799">
                <a:extLst>
                  <a:ext uri="{FF2B5EF4-FFF2-40B4-BE49-F238E27FC236}">
                    <a16:creationId xmlns:a16="http://schemas.microsoft.com/office/drawing/2014/main" xmlns="" id="{CD79432F-8C0B-46EC-8F37-ECD53CAF45E9}"/>
                  </a:ext>
                </a:extLst>
              </p:cNvPr>
              <p:cNvSpPr/>
              <p:nvPr/>
            </p:nvSpPr>
            <p:spPr>
              <a:xfrm>
                <a:off x="5646738" y="2417763"/>
                <a:ext cx="26988"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58" name="Shape 7800">
                <a:extLst>
                  <a:ext uri="{FF2B5EF4-FFF2-40B4-BE49-F238E27FC236}">
                    <a16:creationId xmlns:a16="http://schemas.microsoft.com/office/drawing/2014/main" xmlns="" id="{CB3B8BEC-A7E1-4428-93D1-1A7CAD4785DB}"/>
                  </a:ext>
                </a:extLst>
              </p:cNvPr>
              <p:cNvSpPr/>
              <p:nvPr/>
            </p:nvSpPr>
            <p:spPr>
              <a:xfrm>
                <a:off x="5697538" y="241776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59" name="Shape 7801">
                <a:extLst>
                  <a:ext uri="{FF2B5EF4-FFF2-40B4-BE49-F238E27FC236}">
                    <a16:creationId xmlns:a16="http://schemas.microsoft.com/office/drawing/2014/main" xmlns="" id="{6A2D8DC4-84C1-4B01-AA4A-67B1D2D1F6A7}"/>
                  </a:ext>
                </a:extLst>
              </p:cNvPr>
              <p:cNvSpPr/>
              <p:nvPr/>
            </p:nvSpPr>
            <p:spPr>
              <a:xfrm>
                <a:off x="5748338" y="241776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60" name="Shape 7802">
                <a:extLst>
                  <a:ext uri="{FF2B5EF4-FFF2-40B4-BE49-F238E27FC236}">
                    <a16:creationId xmlns:a16="http://schemas.microsoft.com/office/drawing/2014/main" xmlns="" id="{0C6B0C08-8DA6-40EF-99BB-938501F706B6}"/>
                  </a:ext>
                </a:extLst>
              </p:cNvPr>
              <p:cNvSpPr/>
              <p:nvPr/>
            </p:nvSpPr>
            <p:spPr>
              <a:xfrm>
                <a:off x="5799138" y="241776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61" name="Shape 7803">
                <a:extLst>
                  <a:ext uri="{FF2B5EF4-FFF2-40B4-BE49-F238E27FC236}">
                    <a16:creationId xmlns:a16="http://schemas.microsoft.com/office/drawing/2014/main" xmlns="" id="{049AC7D6-AE6E-4821-9AB2-493F9AF459CD}"/>
                  </a:ext>
                </a:extLst>
              </p:cNvPr>
              <p:cNvSpPr/>
              <p:nvPr/>
            </p:nvSpPr>
            <p:spPr>
              <a:xfrm>
                <a:off x="5857875" y="241776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62" name="Shape 7804">
                <a:extLst>
                  <a:ext uri="{FF2B5EF4-FFF2-40B4-BE49-F238E27FC236}">
                    <a16:creationId xmlns:a16="http://schemas.microsoft.com/office/drawing/2014/main" xmlns="" id="{9B014732-6910-4E7E-BA56-8F62495FD7EB}"/>
                  </a:ext>
                </a:extLst>
              </p:cNvPr>
              <p:cNvSpPr/>
              <p:nvPr/>
            </p:nvSpPr>
            <p:spPr>
              <a:xfrm>
                <a:off x="5564188" y="2444750"/>
                <a:ext cx="22225" cy="28575"/>
              </a:xfrm>
              <a:custGeom>
                <a:avLst/>
                <a:gdLst/>
                <a:ahLst/>
                <a:cxnLst/>
                <a:rect l="0" t="0" r="0" b="0"/>
                <a:pathLst>
                  <a:path w="19" h="24" extrusionOk="0">
                    <a:moveTo>
                      <a:pt x="19" y="7"/>
                    </a:moveTo>
                    <a:cubicBezTo>
                      <a:pt x="7" y="0"/>
                      <a:pt x="7" y="0"/>
                      <a:pt x="7" y="0"/>
                    </a:cubicBezTo>
                    <a:cubicBezTo>
                      <a:pt x="3" y="7"/>
                      <a:pt x="0" y="15"/>
                      <a:pt x="0" y="23"/>
                    </a:cubicBezTo>
                    <a:cubicBezTo>
                      <a:pt x="14" y="24"/>
                      <a:pt x="14" y="24"/>
                      <a:pt x="14" y="24"/>
                    </a:cubicBezTo>
                    <a:cubicBezTo>
                      <a:pt x="14" y="18"/>
                      <a:pt x="16" y="12"/>
                      <a:pt x="19" y="7"/>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63" name="Shape 7805">
                <a:extLst>
                  <a:ext uri="{FF2B5EF4-FFF2-40B4-BE49-F238E27FC236}">
                    <a16:creationId xmlns:a16="http://schemas.microsoft.com/office/drawing/2014/main" xmlns="" id="{F04453D6-ACAB-45E7-B161-AE9FF0C56A44}"/>
                  </a:ext>
                </a:extLst>
              </p:cNvPr>
              <p:cNvSpPr/>
              <p:nvPr/>
            </p:nvSpPr>
            <p:spPr>
              <a:xfrm>
                <a:off x="5564188" y="2497138"/>
                <a:ext cx="15875" cy="25400"/>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64" name="Shape 7806">
                <a:extLst>
                  <a:ext uri="{FF2B5EF4-FFF2-40B4-BE49-F238E27FC236}">
                    <a16:creationId xmlns:a16="http://schemas.microsoft.com/office/drawing/2014/main" xmlns="" id="{C0DACC00-F0E6-4356-89E1-23234C8333CF}"/>
                  </a:ext>
                </a:extLst>
              </p:cNvPr>
              <p:cNvSpPr/>
              <p:nvPr/>
            </p:nvSpPr>
            <p:spPr>
              <a:xfrm>
                <a:off x="5538788" y="2551113"/>
                <a:ext cx="66675" cy="55562"/>
              </a:xfrm>
              <a:custGeom>
                <a:avLst/>
                <a:gdLst/>
                <a:ahLst/>
                <a:cxnLst/>
                <a:rect l="0" t="0" r="0" b="0"/>
                <a:pathLst>
                  <a:path w="42" h="35" extrusionOk="0">
                    <a:moveTo>
                      <a:pt x="42" y="0"/>
                    </a:moveTo>
                    <a:lnTo>
                      <a:pt x="0" y="0"/>
                    </a:lnTo>
                    <a:lnTo>
                      <a:pt x="21" y="35"/>
                    </a:lnTo>
                    <a:lnTo>
                      <a:pt x="42" y="0"/>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grpSp>
      </p:grpSp>
    </p:spTree>
    <p:extLst>
      <p:ext uri="{BB962C8B-B14F-4D97-AF65-F5344CB8AC3E}">
        <p14:creationId xmlns:p14="http://schemas.microsoft.com/office/powerpoint/2010/main" val="11753809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Group 35">
            <a:extLst>
              <a:ext uri="{FF2B5EF4-FFF2-40B4-BE49-F238E27FC236}">
                <a16:creationId xmlns:a16="http://schemas.microsoft.com/office/drawing/2014/main" xmlns="" id="{EA16FA40-1F59-4B3A-9C7D-8AB6749922B0}"/>
              </a:ext>
            </a:extLst>
          </p:cNvPr>
          <p:cNvGrpSpPr/>
          <p:nvPr/>
        </p:nvGrpSpPr>
        <p:grpSpPr>
          <a:xfrm>
            <a:off x="616815" y="408573"/>
            <a:ext cx="10958370" cy="2251614"/>
            <a:chOff x="669953" y="1659835"/>
            <a:chExt cx="10958370" cy="2251614"/>
          </a:xfrm>
        </p:grpSpPr>
        <p:sp>
          <p:nvSpPr>
            <p:cNvPr id="37" name="Freeform 6">
              <a:extLst>
                <a:ext uri="{FF2B5EF4-FFF2-40B4-BE49-F238E27FC236}">
                  <a16:creationId xmlns:a16="http://schemas.microsoft.com/office/drawing/2014/main" xmlns="" id="{C4173BDC-4027-4520-854F-744EBF7FF3B8}"/>
                </a:ext>
              </a:extLst>
            </p:cNvPr>
            <p:cNvSpPr>
              <a:spLocks/>
            </p:cNvSpPr>
            <p:nvPr/>
          </p:nvSpPr>
          <p:spPr bwMode="auto">
            <a:xfrm>
              <a:off x="776848" y="1680017"/>
              <a:ext cx="373861" cy="274869"/>
            </a:xfrm>
            <a:custGeom>
              <a:avLst/>
              <a:gdLst>
                <a:gd name="T0" fmla="*/ 81 w 162"/>
                <a:gd name="T1" fmla="*/ 0 h 119"/>
                <a:gd name="T2" fmla="*/ 0 w 162"/>
                <a:gd name="T3" fmla="*/ 119 h 119"/>
                <a:gd name="T4" fmla="*/ 162 w 162"/>
                <a:gd name="T5" fmla="*/ 119 h 119"/>
                <a:gd name="T6" fmla="*/ 81 w 162"/>
                <a:gd name="T7" fmla="*/ 0 h 119"/>
              </a:gdLst>
              <a:ahLst/>
              <a:cxnLst>
                <a:cxn ang="0">
                  <a:pos x="T0" y="T1"/>
                </a:cxn>
                <a:cxn ang="0">
                  <a:pos x="T2" y="T3"/>
                </a:cxn>
                <a:cxn ang="0">
                  <a:pos x="T4" y="T5"/>
                </a:cxn>
                <a:cxn ang="0">
                  <a:pos x="T6" y="T7"/>
                </a:cxn>
              </a:cxnLst>
              <a:rect l="0" t="0" r="r" b="b"/>
              <a:pathLst>
                <a:path w="162" h="119">
                  <a:moveTo>
                    <a:pt x="81" y="0"/>
                  </a:moveTo>
                  <a:cubicBezTo>
                    <a:pt x="34" y="18"/>
                    <a:pt x="0" y="65"/>
                    <a:pt x="0" y="119"/>
                  </a:cubicBezTo>
                  <a:cubicBezTo>
                    <a:pt x="162" y="119"/>
                    <a:pt x="162" y="119"/>
                    <a:pt x="162" y="119"/>
                  </a:cubicBezTo>
                  <a:cubicBezTo>
                    <a:pt x="162" y="65"/>
                    <a:pt x="129" y="19"/>
                    <a:pt x="81" y="0"/>
                  </a:cubicBez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ru-RU"/>
            </a:p>
          </p:txBody>
        </p:sp>
        <p:sp>
          <p:nvSpPr>
            <p:cNvPr id="38" name="Rectangle: Rounded Corners 37">
              <a:extLst>
                <a:ext uri="{FF2B5EF4-FFF2-40B4-BE49-F238E27FC236}">
                  <a16:creationId xmlns:a16="http://schemas.microsoft.com/office/drawing/2014/main" xmlns="" id="{F8874CF9-717E-43DE-A3CC-916F2E46A253}"/>
                </a:ext>
              </a:extLst>
            </p:cNvPr>
            <p:cNvSpPr/>
            <p:nvPr/>
          </p:nvSpPr>
          <p:spPr>
            <a:xfrm>
              <a:off x="776848" y="1953670"/>
              <a:ext cx="10851475" cy="567664"/>
            </a:xfrm>
            <a:prstGeom prst="roundRect">
              <a:avLst>
                <a:gd name="adj" fmla="val 9723"/>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404000" rtlCol="0" anchor="ctr"/>
            <a:lstStyle/>
            <a:p>
              <a:r>
                <a:rPr lang="en-US" sz="2200" b="1" dirty="0" err="1">
                  <a:solidFill>
                    <a:schemeClr val="tx1"/>
                  </a:solidFill>
                  <a:effectLst/>
                  <a:latin typeface="Times New Roman" panose="02020603050405020304" pitchFamily="18" charset="0"/>
                  <a:ea typeface="Calibri" panose="020F0502020204030204" pitchFamily="34" charset="0"/>
                </a:rPr>
                <a:t>OnePage</a:t>
              </a:r>
              <a:r>
                <a:rPr lang="en-US" sz="2200" b="1" dirty="0">
                  <a:solidFill>
                    <a:schemeClr val="tx1"/>
                  </a:solidFill>
                  <a:effectLst/>
                  <a:latin typeface="Times New Roman" panose="02020603050405020304" pitchFamily="18" charset="0"/>
                  <a:ea typeface="Calibri" panose="020F0502020204030204" pitchFamily="34" charset="0"/>
                </a:rPr>
                <a:t> Stock Ideas</a:t>
              </a:r>
              <a:endParaRPr lang="en-IN" sz="2200" b="1" dirty="0">
                <a:solidFill>
                  <a:schemeClr val="tx1"/>
                </a:solidFill>
                <a:latin typeface="Calibri" panose="020F0502020204030204" pitchFamily="34" charset="0"/>
              </a:endParaRPr>
            </a:p>
          </p:txBody>
        </p:sp>
        <p:sp>
          <p:nvSpPr>
            <p:cNvPr id="39" name="Content Placeholder 2">
              <a:extLst>
                <a:ext uri="{FF2B5EF4-FFF2-40B4-BE49-F238E27FC236}">
                  <a16:creationId xmlns:a16="http://schemas.microsoft.com/office/drawing/2014/main" xmlns="" id="{EED62D1B-EAA0-406D-9BCA-3485BBA38197}"/>
                </a:ext>
              </a:extLst>
            </p:cNvPr>
            <p:cNvSpPr txBox="1">
              <a:spLocks/>
            </p:cNvSpPr>
            <p:nvPr/>
          </p:nvSpPr>
          <p:spPr>
            <a:xfrm>
              <a:off x="669953" y="3035410"/>
              <a:ext cx="10834234" cy="876039"/>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Nunito"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Nunito"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Nunito"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400"/>
                </a:spcBef>
                <a:spcAft>
                  <a:spcPts val="400"/>
                </a:spcAft>
                <a:buNone/>
              </a:pPr>
              <a:r>
                <a:rPr lang="en-US" sz="2200" dirty="0" err="1">
                  <a:latin typeface="+mn-lt"/>
                </a:rPr>
                <a:t>OnePage</a:t>
              </a:r>
              <a:r>
                <a:rPr lang="en-US" sz="2200" dirty="0">
                  <a:latin typeface="+mn-lt"/>
                </a:rPr>
                <a:t> Stock Ideas serves as a valuable tool for uncovering potential investment prospects rooted in news or articles. This plugin proves especially beneficial for individuals engaged in stock trading or investing, enabling them to identify companies poised to capitalize on recent events or trends.</a:t>
              </a:r>
            </a:p>
            <a:p>
              <a:pPr marL="0" indent="0">
                <a:lnSpc>
                  <a:spcPct val="107000"/>
                </a:lnSpc>
                <a:spcAft>
                  <a:spcPts val="800"/>
                </a:spcAft>
                <a:buNone/>
              </a:pPr>
              <a:r>
                <a:rPr lang="en-US" sz="1800" u="sng" kern="100" dirty="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3"/>
                </a:rPr>
                <a:t>https://chat.openai.com/share/5fa84c40-a7a0-4463-8997-8623339486c4</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400"/>
                </a:spcBef>
                <a:spcAft>
                  <a:spcPts val="400"/>
                </a:spcAft>
                <a:buNone/>
              </a:pPr>
              <a:endParaRPr lang="en-US" sz="2200" dirty="0">
                <a:latin typeface="+mn-lt"/>
              </a:endParaRPr>
            </a:p>
          </p:txBody>
        </p:sp>
        <p:sp>
          <p:nvSpPr>
            <p:cNvPr id="40" name="Freeform 7">
              <a:extLst>
                <a:ext uri="{FF2B5EF4-FFF2-40B4-BE49-F238E27FC236}">
                  <a16:creationId xmlns:a16="http://schemas.microsoft.com/office/drawing/2014/main" xmlns="" id="{CCFAD5FB-90AE-49A6-A7B6-5DD84D5DAB57}"/>
                </a:ext>
              </a:extLst>
            </p:cNvPr>
            <p:cNvSpPr>
              <a:spLocks/>
            </p:cNvSpPr>
            <p:nvPr/>
          </p:nvSpPr>
          <p:spPr bwMode="auto">
            <a:xfrm>
              <a:off x="871995" y="1659835"/>
              <a:ext cx="1061994" cy="1111971"/>
            </a:xfrm>
            <a:custGeom>
              <a:avLst/>
              <a:gdLst>
                <a:gd name="T0" fmla="*/ 332 w 461"/>
                <a:gd name="T1" fmla="*/ 0 h 482"/>
                <a:gd name="T2" fmla="*/ 88 w 461"/>
                <a:gd name="T3" fmla="*/ 0 h 482"/>
                <a:gd name="T4" fmla="*/ 40 w 461"/>
                <a:gd name="T5" fmla="*/ 9 h 482"/>
                <a:gd name="T6" fmla="*/ 0 w 461"/>
                <a:gd name="T7" fmla="*/ 35 h 482"/>
                <a:gd name="T8" fmla="*/ 81 w 461"/>
                <a:gd name="T9" fmla="*/ 35 h 482"/>
                <a:gd name="T10" fmla="*/ 121 w 461"/>
                <a:gd name="T11" fmla="*/ 128 h 482"/>
                <a:gd name="T12" fmla="*/ 121 w 461"/>
                <a:gd name="T13" fmla="*/ 311 h 482"/>
                <a:gd name="T14" fmla="*/ 121 w 461"/>
                <a:gd name="T15" fmla="*/ 312 h 482"/>
                <a:gd name="T16" fmla="*/ 291 w 461"/>
                <a:gd name="T17" fmla="*/ 482 h 482"/>
                <a:gd name="T18" fmla="*/ 461 w 461"/>
                <a:gd name="T19" fmla="*/ 312 h 482"/>
                <a:gd name="T20" fmla="*/ 461 w 461"/>
                <a:gd name="T21" fmla="*/ 312 h 482"/>
                <a:gd name="T22" fmla="*/ 461 w 461"/>
                <a:gd name="T23" fmla="*/ 128 h 482"/>
                <a:gd name="T24" fmla="*/ 332 w 461"/>
                <a:gd name="T25" fmla="*/ 0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 h="482">
                  <a:moveTo>
                    <a:pt x="332" y="0"/>
                  </a:moveTo>
                  <a:cubicBezTo>
                    <a:pt x="88" y="0"/>
                    <a:pt x="88" y="0"/>
                    <a:pt x="88" y="0"/>
                  </a:cubicBezTo>
                  <a:cubicBezTo>
                    <a:pt x="71" y="0"/>
                    <a:pt x="55" y="3"/>
                    <a:pt x="40" y="9"/>
                  </a:cubicBezTo>
                  <a:cubicBezTo>
                    <a:pt x="25" y="15"/>
                    <a:pt x="11" y="24"/>
                    <a:pt x="0" y="35"/>
                  </a:cubicBezTo>
                  <a:cubicBezTo>
                    <a:pt x="22" y="13"/>
                    <a:pt x="58" y="13"/>
                    <a:pt x="81" y="35"/>
                  </a:cubicBezTo>
                  <a:cubicBezTo>
                    <a:pt x="106" y="58"/>
                    <a:pt x="121" y="91"/>
                    <a:pt x="121" y="128"/>
                  </a:cubicBezTo>
                  <a:cubicBezTo>
                    <a:pt x="121" y="311"/>
                    <a:pt x="121" y="311"/>
                    <a:pt x="121" y="311"/>
                  </a:cubicBezTo>
                  <a:cubicBezTo>
                    <a:pt x="121" y="311"/>
                    <a:pt x="121" y="311"/>
                    <a:pt x="121" y="312"/>
                  </a:cubicBezTo>
                  <a:cubicBezTo>
                    <a:pt x="121" y="405"/>
                    <a:pt x="197" y="482"/>
                    <a:pt x="291" y="482"/>
                  </a:cubicBezTo>
                  <a:cubicBezTo>
                    <a:pt x="385" y="482"/>
                    <a:pt x="461" y="405"/>
                    <a:pt x="461" y="312"/>
                  </a:cubicBezTo>
                  <a:cubicBezTo>
                    <a:pt x="461" y="312"/>
                    <a:pt x="461" y="312"/>
                    <a:pt x="461" y="312"/>
                  </a:cubicBezTo>
                  <a:cubicBezTo>
                    <a:pt x="461" y="128"/>
                    <a:pt x="461" y="128"/>
                    <a:pt x="461" y="128"/>
                  </a:cubicBezTo>
                  <a:cubicBezTo>
                    <a:pt x="461" y="57"/>
                    <a:pt x="403" y="0"/>
                    <a:pt x="332"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ru-RU"/>
            </a:p>
          </p:txBody>
        </p:sp>
        <p:sp>
          <p:nvSpPr>
            <p:cNvPr id="41" name="Oval 8">
              <a:extLst>
                <a:ext uri="{FF2B5EF4-FFF2-40B4-BE49-F238E27FC236}">
                  <a16:creationId xmlns:a16="http://schemas.microsoft.com/office/drawing/2014/main" xmlns="" id="{93C0523A-56B3-4553-A05C-9084F0D71BFD}"/>
                </a:ext>
              </a:extLst>
            </p:cNvPr>
            <p:cNvSpPr>
              <a:spLocks noChangeArrowheads="1"/>
            </p:cNvSpPr>
            <p:nvPr/>
          </p:nvSpPr>
          <p:spPr bwMode="auto">
            <a:xfrm>
              <a:off x="1215101" y="2051956"/>
              <a:ext cx="654496" cy="652574"/>
            </a:xfrm>
            <a:prstGeom prst="ellipse">
              <a:avLst/>
            </a:prstGeom>
            <a:solidFill>
              <a:schemeClr val="bg2"/>
            </a:solidFill>
            <a:ln>
              <a:noFill/>
            </a:ln>
          </p:spPr>
          <p:txBody>
            <a:bodyPr vert="horz" wrap="square" lIns="91440" tIns="45720" rIns="91440" bIns="45720" numCol="1" anchor="t" anchorCtr="0" compatLnSpc="1">
              <a:prstTxWarp prst="textNoShape">
                <a:avLst/>
              </a:prstTxWarp>
            </a:bodyPr>
            <a:lstStyle/>
            <a:p>
              <a:endParaRPr lang="ru-RU"/>
            </a:p>
          </p:txBody>
        </p:sp>
        <p:grpSp>
          <p:nvGrpSpPr>
            <p:cNvPr id="42" name="Shape 7784">
              <a:extLst>
                <a:ext uri="{FF2B5EF4-FFF2-40B4-BE49-F238E27FC236}">
                  <a16:creationId xmlns:a16="http://schemas.microsoft.com/office/drawing/2014/main" xmlns="" id="{A29940F2-AB6D-4383-8C22-C62546C174D7}"/>
                </a:ext>
              </a:extLst>
            </p:cNvPr>
            <p:cNvGrpSpPr/>
            <p:nvPr/>
          </p:nvGrpSpPr>
          <p:grpSpPr>
            <a:xfrm>
              <a:off x="1389773" y="2214880"/>
              <a:ext cx="330464" cy="352116"/>
              <a:chOff x="5538788" y="2417763"/>
              <a:chExt cx="557213" cy="593725"/>
            </a:xfrm>
            <a:solidFill>
              <a:schemeClr val="tx1"/>
            </a:solidFill>
          </p:grpSpPr>
          <p:sp>
            <p:nvSpPr>
              <p:cNvPr id="43" name="Shape 7785">
                <a:extLst>
                  <a:ext uri="{FF2B5EF4-FFF2-40B4-BE49-F238E27FC236}">
                    <a16:creationId xmlns:a16="http://schemas.microsoft.com/office/drawing/2014/main" xmlns="" id="{6F83E444-C226-4033-99E1-972C1DD0FC02}"/>
                  </a:ext>
                </a:extLst>
              </p:cNvPr>
              <p:cNvSpPr/>
              <p:nvPr/>
            </p:nvSpPr>
            <p:spPr>
              <a:xfrm>
                <a:off x="5538788" y="2727325"/>
                <a:ext cx="188913" cy="284162"/>
              </a:xfrm>
              <a:custGeom>
                <a:avLst/>
                <a:gdLst/>
                <a:ahLst/>
                <a:cxnLst/>
                <a:rect l="0" t="0" r="0" b="0"/>
                <a:pathLst>
                  <a:path w="160" h="242" extrusionOk="0">
                    <a:moveTo>
                      <a:pt x="0" y="233"/>
                    </a:moveTo>
                    <a:cubicBezTo>
                      <a:pt x="0" y="238"/>
                      <a:pt x="4" y="242"/>
                      <a:pt x="9" y="242"/>
                    </a:cubicBezTo>
                    <a:cubicBezTo>
                      <a:pt x="151" y="242"/>
                      <a:pt x="151" y="242"/>
                      <a:pt x="151" y="242"/>
                    </a:cubicBezTo>
                    <a:cubicBezTo>
                      <a:pt x="156" y="242"/>
                      <a:pt x="160" y="238"/>
                      <a:pt x="160" y="233"/>
                    </a:cubicBezTo>
                    <a:cubicBezTo>
                      <a:pt x="160" y="0"/>
                      <a:pt x="160" y="0"/>
                      <a:pt x="160" y="0"/>
                    </a:cubicBezTo>
                    <a:cubicBezTo>
                      <a:pt x="0" y="0"/>
                      <a:pt x="0" y="0"/>
                      <a:pt x="0" y="0"/>
                    </a:cubicBezTo>
                    <a:lnTo>
                      <a:pt x="0" y="233"/>
                    </a:lnTo>
                    <a:close/>
                    <a:moveTo>
                      <a:pt x="80" y="227"/>
                    </a:moveTo>
                    <a:cubicBezTo>
                      <a:pt x="71" y="227"/>
                      <a:pt x="63" y="220"/>
                      <a:pt x="63" y="210"/>
                    </a:cubicBezTo>
                    <a:cubicBezTo>
                      <a:pt x="63" y="200"/>
                      <a:pt x="71" y="192"/>
                      <a:pt x="80" y="192"/>
                    </a:cubicBezTo>
                    <a:cubicBezTo>
                      <a:pt x="90" y="192"/>
                      <a:pt x="98" y="200"/>
                      <a:pt x="98" y="210"/>
                    </a:cubicBezTo>
                    <a:cubicBezTo>
                      <a:pt x="98" y="220"/>
                      <a:pt x="90" y="227"/>
                      <a:pt x="80" y="227"/>
                    </a:cubicBezTo>
                    <a:close/>
                    <a:moveTo>
                      <a:pt x="73" y="175"/>
                    </a:moveTo>
                    <a:cubicBezTo>
                      <a:pt x="73" y="171"/>
                      <a:pt x="76" y="167"/>
                      <a:pt x="80" y="167"/>
                    </a:cubicBezTo>
                    <a:cubicBezTo>
                      <a:pt x="85" y="167"/>
                      <a:pt x="88" y="171"/>
                      <a:pt x="88" y="175"/>
                    </a:cubicBezTo>
                    <a:cubicBezTo>
                      <a:pt x="88" y="179"/>
                      <a:pt x="85" y="183"/>
                      <a:pt x="80" y="183"/>
                    </a:cubicBezTo>
                    <a:cubicBezTo>
                      <a:pt x="76" y="183"/>
                      <a:pt x="73" y="179"/>
                      <a:pt x="73" y="175"/>
                    </a:cubicBezTo>
                    <a:close/>
                    <a:moveTo>
                      <a:pt x="29" y="12"/>
                    </a:moveTo>
                    <a:cubicBezTo>
                      <a:pt x="131" y="12"/>
                      <a:pt x="131" y="12"/>
                      <a:pt x="131" y="12"/>
                    </a:cubicBezTo>
                    <a:cubicBezTo>
                      <a:pt x="131" y="33"/>
                      <a:pt x="131" y="33"/>
                      <a:pt x="131" y="33"/>
                    </a:cubicBezTo>
                    <a:cubicBezTo>
                      <a:pt x="29" y="33"/>
                      <a:pt x="29" y="33"/>
                      <a:pt x="29" y="33"/>
                    </a:cubicBezTo>
                    <a:lnTo>
                      <a:pt x="29" y="12"/>
                    </a:lnTo>
                    <a:close/>
                    <a:moveTo>
                      <a:pt x="29" y="43"/>
                    </a:moveTo>
                    <a:cubicBezTo>
                      <a:pt x="131" y="43"/>
                      <a:pt x="131" y="43"/>
                      <a:pt x="131" y="43"/>
                    </a:cubicBezTo>
                    <a:cubicBezTo>
                      <a:pt x="131" y="64"/>
                      <a:pt x="131" y="64"/>
                      <a:pt x="131" y="64"/>
                    </a:cubicBezTo>
                    <a:cubicBezTo>
                      <a:pt x="29" y="64"/>
                      <a:pt x="29" y="64"/>
                      <a:pt x="29" y="64"/>
                    </a:cubicBezTo>
                    <a:lnTo>
                      <a:pt x="29" y="43"/>
                    </a:lnTo>
                    <a:close/>
                    <a:moveTo>
                      <a:pt x="29" y="73"/>
                    </a:moveTo>
                    <a:cubicBezTo>
                      <a:pt x="131" y="73"/>
                      <a:pt x="131" y="73"/>
                      <a:pt x="131" y="73"/>
                    </a:cubicBezTo>
                    <a:cubicBezTo>
                      <a:pt x="131" y="94"/>
                      <a:pt x="131" y="94"/>
                      <a:pt x="131" y="94"/>
                    </a:cubicBezTo>
                    <a:cubicBezTo>
                      <a:pt x="29" y="94"/>
                      <a:pt x="29" y="94"/>
                      <a:pt x="29" y="94"/>
                    </a:cubicBezTo>
                    <a:lnTo>
                      <a:pt x="29" y="73"/>
                    </a:lnTo>
                    <a:close/>
                    <a:moveTo>
                      <a:pt x="29" y="104"/>
                    </a:moveTo>
                    <a:cubicBezTo>
                      <a:pt x="131" y="104"/>
                      <a:pt x="131" y="104"/>
                      <a:pt x="131" y="104"/>
                    </a:cubicBezTo>
                    <a:cubicBezTo>
                      <a:pt x="131" y="125"/>
                      <a:pt x="131" y="125"/>
                      <a:pt x="131" y="125"/>
                    </a:cubicBezTo>
                    <a:cubicBezTo>
                      <a:pt x="29" y="125"/>
                      <a:pt x="29" y="125"/>
                      <a:pt x="29" y="125"/>
                    </a:cubicBezTo>
                    <a:lnTo>
                      <a:pt x="29" y="104"/>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44" name="Shape 7786">
                <a:extLst>
                  <a:ext uri="{FF2B5EF4-FFF2-40B4-BE49-F238E27FC236}">
                    <a16:creationId xmlns:a16="http://schemas.microsoft.com/office/drawing/2014/main" xmlns="" id="{93A10B83-E792-4770-A4DC-452F5B520727}"/>
                  </a:ext>
                </a:extLst>
              </p:cNvPr>
              <p:cNvSpPr/>
              <p:nvPr/>
            </p:nvSpPr>
            <p:spPr>
              <a:xfrm>
                <a:off x="5538788" y="2651125"/>
                <a:ext cx="188913" cy="63500"/>
              </a:xfrm>
              <a:custGeom>
                <a:avLst/>
                <a:gdLst/>
                <a:ahLst/>
                <a:cxnLst/>
                <a:rect l="0" t="0" r="0" b="0"/>
                <a:pathLst>
                  <a:path w="160" h="55" extrusionOk="0">
                    <a:moveTo>
                      <a:pt x="151" y="0"/>
                    </a:moveTo>
                    <a:cubicBezTo>
                      <a:pt x="9" y="0"/>
                      <a:pt x="9" y="0"/>
                      <a:pt x="9" y="0"/>
                    </a:cubicBezTo>
                    <a:cubicBezTo>
                      <a:pt x="4" y="0"/>
                      <a:pt x="0" y="4"/>
                      <a:pt x="0" y="9"/>
                    </a:cubicBezTo>
                    <a:cubicBezTo>
                      <a:pt x="0" y="55"/>
                      <a:pt x="0" y="55"/>
                      <a:pt x="0" y="55"/>
                    </a:cubicBezTo>
                    <a:cubicBezTo>
                      <a:pt x="160" y="55"/>
                      <a:pt x="160" y="55"/>
                      <a:pt x="160" y="55"/>
                    </a:cubicBezTo>
                    <a:cubicBezTo>
                      <a:pt x="160" y="9"/>
                      <a:pt x="160" y="9"/>
                      <a:pt x="160" y="9"/>
                    </a:cubicBezTo>
                    <a:cubicBezTo>
                      <a:pt x="160" y="4"/>
                      <a:pt x="156" y="0"/>
                      <a:pt x="151" y="0"/>
                    </a:cubicBezTo>
                    <a:close/>
                    <a:moveTo>
                      <a:pt x="43" y="43"/>
                    </a:moveTo>
                    <a:cubicBezTo>
                      <a:pt x="36" y="43"/>
                      <a:pt x="30" y="37"/>
                      <a:pt x="30" y="30"/>
                    </a:cubicBezTo>
                    <a:cubicBezTo>
                      <a:pt x="30" y="22"/>
                      <a:pt x="36" y="16"/>
                      <a:pt x="43" y="16"/>
                    </a:cubicBezTo>
                    <a:cubicBezTo>
                      <a:pt x="51" y="16"/>
                      <a:pt x="57" y="22"/>
                      <a:pt x="57" y="30"/>
                    </a:cubicBezTo>
                    <a:cubicBezTo>
                      <a:pt x="57" y="37"/>
                      <a:pt x="51" y="43"/>
                      <a:pt x="43" y="43"/>
                    </a:cubicBezTo>
                    <a:close/>
                    <a:moveTo>
                      <a:pt x="131" y="38"/>
                    </a:moveTo>
                    <a:cubicBezTo>
                      <a:pt x="68" y="38"/>
                      <a:pt x="68" y="38"/>
                      <a:pt x="68" y="38"/>
                    </a:cubicBezTo>
                    <a:cubicBezTo>
                      <a:pt x="68" y="22"/>
                      <a:pt x="68" y="22"/>
                      <a:pt x="68" y="22"/>
                    </a:cubicBezTo>
                    <a:cubicBezTo>
                      <a:pt x="131" y="22"/>
                      <a:pt x="131" y="22"/>
                      <a:pt x="131" y="22"/>
                    </a:cubicBezTo>
                    <a:lnTo>
                      <a:pt x="131" y="38"/>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45" name="Shape 7787">
                <a:extLst>
                  <a:ext uri="{FF2B5EF4-FFF2-40B4-BE49-F238E27FC236}">
                    <a16:creationId xmlns:a16="http://schemas.microsoft.com/office/drawing/2014/main" xmlns="" id="{56DF18E4-5FA2-4026-94E5-8DB63526998D}"/>
                  </a:ext>
                </a:extLst>
              </p:cNvPr>
              <p:cNvSpPr/>
              <p:nvPr/>
            </p:nvSpPr>
            <p:spPr>
              <a:xfrm>
                <a:off x="6013450" y="2990850"/>
                <a:ext cx="28575" cy="20637"/>
              </a:xfrm>
              <a:custGeom>
                <a:avLst/>
                <a:gdLst/>
                <a:ahLst/>
                <a:cxnLst/>
                <a:rect l="0" t="0" r="0" b="0"/>
                <a:pathLst>
                  <a:path w="24" h="18" extrusionOk="0">
                    <a:moveTo>
                      <a:pt x="1" y="4"/>
                    </a:moveTo>
                    <a:cubicBezTo>
                      <a:pt x="0" y="4"/>
                      <a:pt x="0" y="4"/>
                      <a:pt x="0" y="4"/>
                    </a:cubicBezTo>
                    <a:cubicBezTo>
                      <a:pt x="0" y="18"/>
                      <a:pt x="0" y="18"/>
                      <a:pt x="0" y="18"/>
                    </a:cubicBezTo>
                    <a:cubicBezTo>
                      <a:pt x="1" y="18"/>
                      <a:pt x="1" y="18"/>
                      <a:pt x="1" y="18"/>
                    </a:cubicBezTo>
                    <a:cubicBezTo>
                      <a:pt x="9" y="18"/>
                      <a:pt x="17" y="16"/>
                      <a:pt x="24" y="12"/>
                    </a:cubicBezTo>
                    <a:cubicBezTo>
                      <a:pt x="17" y="0"/>
                      <a:pt x="17" y="0"/>
                      <a:pt x="17" y="0"/>
                    </a:cubicBezTo>
                    <a:cubicBezTo>
                      <a:pt x="12" y="3"/>
                      <a:pt x="6" y="4"/>
                      <a:pt x="1" y="4"/>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46" name="Shape 7788">
                <a:extLst>
                  <a:ext uri="{FF2B5EF4-FFF2-40B4-BE49-F238E27FC236}">
                    <a16:creationId xmlns:a16="http://schemas.microsoft.com/office/drawing/2014/main" xmlns="" id="{F18DE7D5-2CC3-4EDB-93AB-EC404C97F2A0}"/>
                  </a:ext>
                </a:extLst>
              </p:cNvPr>
              <p:cNvSpPr/>
              <p:nvPr/>
            </p:nvSpPr>
            <p:spPr>
              <a:xfrm>
                <a:off x="5964238" y="299561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47" name="Shape 7789">
                <a:extLst>
                  <a:ext uri="{FF2B5EF4-FFF2-40B4-BE49-F238E27FC236}">
                    <a16:creationId xmlns:a16="http://schemas.microsoft.com/office/drawing/2014/main" xmlns="" id="{C8436D8F-BF5C-4FD2-9F8C-0714FA587B9E}"/>
                  </a:ext>
                </a:extLst>
              </p:cNvPr>
              <p:cNvSpPr/>
              <p:nvPr/>
            </p:nvSpPr>
            <p:spPr>
              <a:xfrm>
                <a:off x="5913438" y="2995613"/>
                <a:ext cx="23813"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48" name="Shape 7790">
                <a:extLst>
                  <a:ext uri="{FF2B5EF4-FFF2-40B4-BE49-F238E27FC236}">
                    <a16:creationId xmlns:a16="http://schemas.microsoft.com/office/drawing/2014/main" xmlns="" id="{4D228924-370C-4427-9AD5-910FD43F362D}"/>
                  </a:ext>
                </a:extLst>
              </p:cNvPr>
              <p:cNvSpPr/>
              <p:nvPr/>
            </p:nvSpPr>
            <p:spPr>
              <a:xfrm>
                <a:off x="5862638" y="299561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49" name="Shape 7791">
                <a:extLst>
                  <a:ext uri="{FF2B5EF4-FFF2-40B4-BE49-F238E27FC236}">
                    <a16:creationId xmlns:a16="http://schemas.microsoft.com/office/drawing/2014/main" xmlns="" id="{C537C80C-74C6-4262-8002-86B5DCFFCE4C}"/>
                  </a:ext>
                </a:extLst>
              </p:cNvPr>
              <p:cNvSpPr/>
              <p:nvPr/>
            </p:nvSpPr>
            <p:spPr>
              <a:xfrm>
                <a:off x="5807075" y="2995613"/>
                <a:ext cx="23813"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50" name="Shape 7792">
                <a:extLst>
                  <a:ext uri="{FF2B5EF4-FFF2-40B4-BE49-F238E27FC236}">
                    <a16:creationId xmlns:a16="http://schemas.microsoft.com/office/drawing/2014/main" xmlns="" id="{6DE2F59B-EC3D-4ECE-958E-CD07D83D9C59}"/>
                  </a:ext>
                </a:extLst>
              </p:cNvPr>
              <p:cNvSpPr/>
              <p:nvPr/>
            </p:nvSpPr>
            <p:spPr>
              <a:xfrm>
                <a:off x="5753100" y="299561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51" name="Shape 7793">
                <a:extLst>
                  <a:ext uri="{FF2B5EF4-FFF2-40B4-BE49-F238E27FC236}">
                    <a16:creationId xmlns:a16="http://schemas.microsoft.com/office/drawing/2014/main" xmlns="" id="{9D036060-E2C6-47BB-9D9A-F0431E4E7079}"/>
                  </a:ext>
                </a:extLst>
              </p:cNvPr>
              <p:cNvSpPr/>
              <p:nvPr/>
            </p:nvSpPr>
            <p:spPr>
              <a:xfrm>
                <a:off x="6048375" y="2955925"/>
                <a:ext cx="22225" cy="28575"/>
              </a:xfrm>
              <a:custGeom>
                <a:avLst/>
                <a:gdLst/>
                <a:ahLst/>
                <a:cxnLst/>
                <a:rect l="0" t="0" r="0" b="0"/>
                <a:pathLst>
                  <a:path w="19" h="24" extrusionOk="0">
                    <a:moveTo>
                      <a:pt x="0" y="17"/>
                    </a:moveTo>
                    <a:cubicBezTo>
                      <a:pt x="12" y="24"/>
                      <a:pt x="12" y="24"/>
                      <a:pt x="12" y="24"/>
                    </a:cubicBezTo>
                    <a:cubicBezTo>
                      <a:pt x="17" y="17"/>
                      <a:pt x="19" y="9"/>
                      <a:pt x="19" y="0"/>
                    </a:cubicBezTo>
                    <a:cubicBezTo>
                      <a:pt x="6" y="0"/>
                      <a:pt x="6" y="0"/>
                      <a:pt x="6" y="0"/>
                    </a:cubicBezTo>
                    <a:cubicBezTo>
                      <a:pt x="5" y="6"/>
                      <a:pt x="3" y="12"/>
                      <a:pt x="0" y="17"/>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52" name="Shape 7794">
                <a:extLst>
                  <a:ext uri="{FF2B5EF4-FFF2-40B4-BE49-F238E27FC236}">
                    <a16:creationId xmlns:a16="http://schemas.microsoft.com/office/drawing/2014/main" xmlns="" id="{BB943592-1A4D-42A7-8F52-65EE495E117C}"/>
                  </a:ext>
                </a:extLst>
              </p:cNvPr>
              <p:cNvSpPr/>
              <p:nvPr/>
            </p:nvSpPr>
            <p:spPr>
              <a:xfrm>
                <a:off x="6056313" y="2906713"/>
                <a:ext cx="15875" cy="23812"/>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53" name="Shape 7795">
                <a:extLst>
                  <a:ext uri="{FF2B5EF4-FFF2-40B4-BE49-F238E27FC236}">
                    <a16:creationId xmlns:a16="http://schemas.microsoft.com/office/drawing/2014/main" xmlns="" id="{5037C5E4-5602-44BB-8C61-1D8962506E7C}"/>
                  </a:ext>
                </a:extLst>
              </p:cNvPr>
              <p:cNvSpPr/>
              <p:nvPr/>
            </p:nvSpPr>
            <p:spPr>
              <a:xfrm>
                <a:off x="6030913" y="2820988"/>
                <a:ext cx="65088" cy="57150"/>
              </a:xfrm>
              <a:custGeom>
                <a:avLst/>
                <a:gdLst/>
                <a:ahLst/>
                <a:cxnLst/>
                <a:rect l="0" t="0" r="0" b="0"/>
                <a:pathLst>
                  <a:path w="41" h="36" extrusionOk="0">
                    <a:moveTo>
                      <a:pt x="0" y="36"/>
                    </a:moveTo>
                    <a:lnTo>
                      <a:pt x="41" y="36"/>
                    </a:lnTo>
                    <a:lnTo>
                      <a:pt x="21" y="0"/>
                    </a:lnTo>
                    <a:lnTo>
                      <a:pt x="0" y="36"/>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54" name="Shape 7796">
                <a:extLst>
                  <a:ext uri="{FF2B5EF4-FFF2-40B4-BE49-F238E27FC236}">
                    <a16:creationId xmlns:a16="http://schemas.microsoft.com/office/drawing/2014/main" xmlns="" id="{9C101E85-F220-4201-9EE1-47432FD74621}"/>
                  </a:ext>
                </a:extLst>
              </p:cNvPr>
              <p:cNvSpPr/>
              <p:nvPr/>
            </p:nvSpPr>
            <p:spPr>
              <a:xfrm>
                <a:off x="5908675" y="2495550"/>
                <a:ext cx="187325" cy="282575"/>
              </a:xfrm>
              <a:custGeom>
                <a:avLst/>
                <a:gdLst/>
                <a:ahLst/>
                <a:cxnLst/>
                <a:rect l="0" t="0" r="0" b="0"/>
                <a:pathLst>
                  <a:path w="160" h="242" extrusionOk="0">
                    <a:moveTo>
                      <a:pt x="0" y="233"/>
                    </a:moveTo>
                    <a:cubicBezTo>
                      <a:pt x="0" y="238"/>
                      <a:pt x="4" y="242"/>
                      <a:pt x="9" y="242"/>
                    </a:cubicBezTo>
                    <a:cubicBezTo>
                      <a:pt x="151" y="242"/>
                      <a:pt x="151" y="242"/>
                      <a:pt x="151" y="242"/>
                    </a:cubicBezTo>
                    <a:cubicBezTo>
                      <a:pt x="156" y="242"/>
                      <a:pt x="160" y="238"/>
                      <a:pt x="160" y="233"/>
                    </a:cubicBezTo>
                    <a:cubicBezTo>
                      <a:pt x="160" y="0"/>
                      <a:pt x="160" y="0"/>
                      <a:pt x="160" y="0"/>
                    </a:cubicBezTo>
                    <a:cubicBezTo>
                      <a:pt x="0" y="0"/>
                      <a:pt x="0" y="0"/>
                      <a:pt x="0" y="0"/>
                    </a:cubicBezTo>
                    <a:lnTo>
                      <a:pt x="0" y="233"/>
                    </a:lnTo>
                    <a:close/>
                    <a:moveTo>
                      <a:pt x="80" y="227"/>
                    </a:moveTo>
                    <a:cubicBezTo>
                      <a:pt x="71" y="227"/>
                      <a:pt x="63" y="220"/>
                      <a:pt x="63" y="210"/>
                    </a:cubicBezTo>
                    <a:cubicBezTo>
                      <a:pt x="63" y="200"/>
                      <a:pt x="71" y="192"/>
                      <a:pt x="80" y="192"/>
                    </a:cubicBezTo>
                    <a:cubicBezTo>
                      <a:pt x="90" y="192"/>
                      <a:pt x="98" y="200"/>
                      <a:pt x="98" y="210"/>
                    </a:cubicBezTo>
                    <a:cubicBezTo>
                      <a:pt x="98" y="220"/>
                      <a:pt x="90" y="227"/>
                      <a:pt x="80" y="227"/>
                    </a:cubicBezTo>
                    <a:close/>
                    <a:moveTo>
                      <a:pt x="72" y="175"/>
                    </a:moveTo>
                    <a:cubicBezTo>
                      <a:pt x="72" y="171"/>
                      <a:pt x="76" y="167"/>
                      <a:pt x="80" y="167"/>
                    </a:cubicBezTo>
                    <a:cubicBezTo>
                      <a:pt x="85" y="167"/>
                      <a:pt x="88" y="171"/>
                      <a:pt x="88" y="175"/>
                    </a:cubicBezTo>
                    <a:cubicBezTo>
                      <a:pt x="88" y="179"/>
                      <a:pt x="85" y="183"/>
                      <a:pt x="80" y="183"/>
                    </a:cubicBezTo>
                    <a:cubicBezTo>
                      <a:pt x="76" y="183"/>
                      <a:pt x="72" y="179"/>
                      <a:pt x="72" y="175"/>
                    </a:cubicBezTo>
                    <a:close/>
                    <a:moveTo>
                      <a:pt x="29" y="12"/>
                    </a:moveTo>
                    <a:cubicBezTo>
                      <a:pt x="131" y="12"/>
                      <a:pt x="131" y="12"/>
                      <a:pt x="131" y="12"/>
                    </a:cubicBezTo>
                    <a:cubicBezTo>
                      <a:pt x="131" y="33"/>
                      <a:pt x="131" y="33"/>
                      <a:pt x="131" y="33"/>
                    </a:cubicBezTo>
                    <a:cubicBezTo>
                      <a:pt x="29" y="33"/>
                      <a:pt x="29" y="33"/>
                      <a:pt x="29" y="33"/>
                    </a:cubicBezTo>
                    <a:lnTo>
                      <a:pt x="29" y="12"/>
                    </a:lnTo>
                    <a:close/>
                    <a:moveTo>
                      <a:pt x="29" y="43"/>
                    </a:moveTo>
                    <a:cubicBezTo>
                      <a:pt x="131" y="43"/>
                      <a:pt x="131" y="43"/>
                      <a:pt x="131" y="43"/>
                    </a:cubicBezTo>
                    <a:cubicBezTo>
                      <a:pt x="131" y="64"/>
                      <a:pt x="131" y="64"/>
                      <a:pt x="131" y="64"/>
                    </a:cubicBezTo>
                    <a:cubicBezTo>
                      <a:pt x="29" y="64"/>
                      <a:pt x="29" y="64"/>
                      <a:pt x="29" y="64"/>
                    </a:cubicBezTo>
                    <a:lnTo>
                      <a:pt x="29" y="43"/>
                    </a:lnTo>
                    <a:close/>
                    <a:moveTo>
                      <a:pt x="29" y="73"/>
                    </a:moveTo>
                    <a:cubicBezTo>
                      <a:pt x="131" y="73"/>
                      <a:pt x="131" y="73"/>
                      <a:pt x="131" y="73"/>
                    </a:cubicBezTo>
                    <a:cubicBezTo>
                      <a:pt x="131" y="94"/>
                      <a:pt x="131" y="94"/>
                      <a:pt x="131" y="94"/>
                    </a:cubicBezTo>
                    <a:cubicBezTo>
                      <a:pt x="29" y="94"/>
                      <a:pt x="29" y="94"/>
                      <a:pt x="29" y="94"/>
                    </a:cubicBezTo>
                    <a:lnTo>
                      <a:pt x="29" y="73"/>
                    </a:lnTo>
                    <a:close/>
                    <a:moveTo>
                      <a:pt x="29" y="104"/>
                    </a:moveTo>
                    <a:cubicBezTo>
                      <a:pt x="131" y="104"/>
                      <a:pt x="131" y="104"/>
                      <a:pt x="131" y="104"/>
                    </a:cubicBezTo>
                    <a:cubicBezTo>
                      <a:pt x="131" y="125"/>
                      <a:pt x="131" y="125"/>
                      <a:pt x="131" y="125"/>
                    </a:cubicBezTo>
                    <a:cubicBezTo>
                      <a:pt x="29" y="125"/>
                      <a:pt x="29" y="125"/>
                      <a:pt x="29" y="125"/>
                    </a:cubicBezTo>
                    <a:lnTo>
                      <a:pt x="29" y="104"/>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55" name="Shape 7797">
                <a:extLst>
                  <a:ext uri="{FF2B5EF4-FFF2-40B4-BE49-F238E27FC236}">
                    <a16:creationId xmlns:a16="http://schemas.microsoft.com/office/drawing/2014/main" xmlns="" id="{9CBD7147-1F3B-4FE1-9528-DEC0B3EEE202}"/>
                  </a:ext>
                </a:extLst>
              </p:cNvPr>
              <p:cNvSpPr/>
              <p:nvPr/>
            </p:nvSpPr>
            <p:spPr>
              <a:xfrm>
                <a:off x="5908675" y="2417763"/>
                <a:ext cx="187325" cy="65087"/>
              </a:xfrm>
              <a:custGeom>
                <a:avLst/>
                <a:gdLst/>
                <a:ahLst/>
                <a:cxnLst/>
                <a:rect l="0" t="0" r="0" b="0"/>
                <a:pathLst>
                  <a:path w="160" h="55" extrusionOk="0">
                    <a:moveTo>
                      <a:pt x="151" y="0"/>
                    </a:moveTo>
                    <a:cubicBezTo>
                      <a:pt x="9" y="0"/>
                      <a:pt x="9" y="0"/>
                      <a:pt x="9" y="0"/>
                    </a:cubicBezTo>
                    <a:cubicBezTo>
                      <a:pt x="4" y="0"/>
                      <a:pt x="0" y="4"/>
                      <a:pt x="0" y="9"/>
                    </a:cubicBezTo>
                    <a:cubicBezTo>
                      <a:pt x="0" y="55"/>
                      <a:pt x="0" y="55"/>
                      <a:pt x="0" y="55"/>
                    </a:cubicBezTo>
                    <a:cubicBezTo>
                      <a:pt x="160" y="55"/>
                      <a:pt x="160" y="55"/>
                      <a:pt x="160" y="55"/>
                    </a:cubicBezTo>
                    <a:cubicBezTo>
                      <a:pt x="160" y="9"/>
                      <a:pt x="160" y="9"/>
                      <a:pt x="160" y="9"/>
                    </a:cubicBezTo>
                    <a:cubicBezTo>
                      <a:pt x="160" y="4"/>
                      <a:pt x="156" y="0"/>
                      <a:pt x="151" y="0"/>
                    </a:cubicBezTo>
                    <a:close/>
                    <a:moveTo>
                      <a:pt x="93" y="38"/>
                    </a:moveTo>
                    <a:cubicBezTo>
                      <a:pt x="29" y="38"/>
                      <a:pt x="29" y="38"/>
                      <a:pt x="29" y="38"/>
                    </a:cubicBezTo>
                    <a:cubicBezTo>
                      <a:pt x="29" y="22"/>
                      <a:pt x="29" y="22"/>
                      <a:pt x="29" y="22"/>
                    </a:cubicBezTo>
                    <a:cubicBezTo>
                      <a:pt x="93" y="22"/>
                      <a:pt x="93" y="22"/>
                      <a:pt x="93" y="22"/>
                    </a:cubicBezTo>
                    <a:lnTo>
                      <a:pt x="93" y="38"/>
                    </a:lnTo>
                    <a:close/>
                    <a:moveTo>
                      <a:pt x="117" y="43"/>
                    </a:moveTo>
                    <a:cubicBezTo>
                      <a:pt x="110" y="43"/>
                      <a:pt x="104" y="37"/>
                      <a:pt x="104" y="30"/>
                    </a:cubicBezTo>
                    <a:cubicBezTo>
                      <a:pt x="104" y="22"/>
                      <a:pt x="110" y="16"/>
                      <a:pt x="117" y="16"/>
                    </a:cubicBezTo>
                    <a:cubicBezTo>
                      <a:pt x="125" y="16"/>
                      <a:pt x="131" y="22"/>
                      <a:pt x="131" y="30"/>
                    </a:cubicBezTo>
                    <a:cubicBezTo>
                      <a:pt x="131" y="37"/>
                      <a:pt x="125" y="43"/>
                      <a:pt x="117" y="43"/>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56" name="Shape 7798">
                <a:extLst>
                  <a:ext uri="{FF2B5EF4-FFF2-40B4-BE49-F238E27FC236}">
                    <a16:creationId xmlns:a16="http://schemas.microsoft.com/office/drawing/2014/main" xmlns="" id="{A5023EF3-A3C4-4CF8-93F1-261C445A20BD}"/>
                  </a:ext>
                </a:extLst>
              </p:cNvPr>
              <p:cNvSpPr/>
              <p:nvPr/>
            </p:nvSpPr>
            <p:spPr>
              <a:xfrm>
                <a:off x="5592763" y="2417763"/>
                <a:ext cx="30163" cy="20637"/>
              </a:xfrm>
              <a:custGeom>
                <a:avLst/>
                <a:gdLst/>
                <a:ahLst/>
                <a:cxnLst/>
                <a:rect l="0" t="0" r="0" b="0"/>
                <a:pathLst>
                  <a:path w="25" h="18" extrusionOk="0">
                    <a:moveTo>
                      <a:pt x="24" y="14"/>
                    </a:moveTo>
                    <a:cubicBezTo>
                      <a:pt x="25" y="14"/>
                      <a:pt x="25" y="14"/>
                      <a:pt x="25" y="14"/>
                    </a:cubicBezTo>
                    <a:cubicBezTo>
                      <a:pt x="25" y="0"/>
                      <a:pt x="25" y="0"/>
                      <a:pt x="25" y="0"/>
                    </a:cubicBezTo>
                    <a:cubicBezTo>
                      <a:pt x="24" y="0"/>
                      <a:pt x="24" y="0"/>
                      <a:pt x="24" y="0"/>
                    </a:cubicBezTo>
                    <a:cubicBezTo>
                      <a:pt x="16" y="0"/>
                      <a:pt x="8" y="2"/>
                      <a:pt x="0" y="6"/>
                    </a:cubicBezTo>
                    <a:cubicBezTo>
                      <a:pt x="7" y="18"/>
                      <a:pt x="7" y="18"/>
                      <a:pt x="7" y="18"/>
                    </a:cubicBezTo>
                    <a:cubicBezTo>
                      <a:pt x="12" y="15"/>
                      <a:pt x="18" y="14"/>
                      <a:pt x="24" y="14"/>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57" name="Shape 7799">
                <a:extLst>
                  <a:ext uri="{FF2B5EF4-FFF2-40B4-BE49-F238E27FC236}">
                    <a16:creationId xmlns:a16="http://schemas.microsoft.com/office/drawing/2014/main" xmlns="" id="{CD79432F-8C0B-46EC-8F37-ECD53CAF45E9}"/>
                  </a:ext>
                </a:extLst>
              </p:cNvPr>
              <p:cNvSpPr/>
              <p:nvPr/>
            </p:nvSpPr>
            <p:spPr>
              <a:xfrm>
                <a:off x="5646738" y="2417763"/>
                <a:ext cx="26988"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58" name="Shape 7800">
                <a:extLst>
                  <a:ext uri="{FF2B5EF4-FFF2-40B4-BE49-F238E27FC236}">
                    <a16:creationId xmlns:a16="http://schemas.microsoft.com/office/drawing/2014/main" xmlns="" id="{CB3B8BEC-A7E1-4428-93D1-1A7CAD4785DB}"/>
                  </a:ext>
                </a:extLst>
              </p:cNvPr>
              <p:cNvSpPr/>
              <p:nvPr/>
            </p:nvSpPr>
            <p:spPr>
              <a:xfrm>
                <a:off x="5697538" y="241776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59" name="Shape 7801">
                <a:extLst>
                  <a:ext uri="{FF2B5EF4-FFF2-40B4-BE49-F238E27FC236}">
                    <a16:creationId xmlns:a16="http://schemas.microsoft.com/office/drawing/2014/main" xmlns="" id="{6A2D8DC4-84C1-4B01-AA4A-67B1D2D1F6A7}"/>
                  </a:ext>
                </a:extLst>
              </p:cNvPr>
              <p:cNvSpPr/>
              <p:nvPr/>
            </p:nvSpPr>
            <p:spPr>
              <a:xfrm>
                <a:off x="5748338" y="241776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60" name="Shape 7802">
                <a:extLst>
                  <a:ext uri="{FF2B5EF4-FFF2-40B4-BE49-F238E27FC236}">
                    <a16:creationId xmlns:a16="http://schemas.microsoft.com/office/drawing/2014/main" xmlns="" id="{0C6B0C08-8DA6-40EF-99BB-938501F706B6}"/>
                  </a:ext>
                </a:extLst>
              </p:cNvPr>
              <p:cNvSpPr/>
              <p:nvPr/>
            </p:nvSpPr>
            <p:spPr>
              <a:xfrm>
                <a:off x="5799138" y="241776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61" name="Shape 7803">
                <a:extLst>
                  <a:ext uri="{FF2B5EF4-FFF2-40B4-BE49-F238E27FC236}">
                    <a16:creationId xmlns:a16="http://schemas.microsoft.com/office/drawing/2014/main" xmlns="" id="{049AC7D6-AE6E-4821-9AB2-493F9AF459CD}"/>
                  </a:ext>
                </a:extLst>
              </p:cNvPr>
              <p:cNvSpPr/>
              <p:nvPr/>
            </p:nvSpPr>
            <p:spPr>
              <a:xfrm>
                <a:off x="5857875" y="241776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62" name="Shape 7804">
                <a:extLst>
                  <a:ext uri="{FF2B5EF4-FFF2-40B4-BE49-F238E27FC236}">
                    <a16:creationId xmlns:a16="http://schemas.microsoft.com/office/drawing/2014/main" xmlns="" id="{9B014732-6910-4E7E-BA56-8F62495FD7EB}"/>
                  </a:ext>
                </a:extLst>
              </p:cNvPr>
              <p:cNvSpPr/>
              <p:nvPr/>
            </p:nvSpPr>
            <p:spPr>
              <a:xfrm>
                <a:off x="5564188" y="2444750"/>
                <a:ext cx="22225" cy="28575"/>
              </a:xfrm>
              <a:custGeom>
                <a:avLst/>
                <a:gdLst/>
                <a:ahLst/>
                <a:cxnLst/>
                <a:rect l="0" t="0" r="0" b="0"/>
                <a:pathLst>
                  <a:path w="19" h="24" extrusionOk="0">
                    <a:moveTo>
                      <a:pt x="19" y="7"/>
                    </a:moveTo>
                    <a:cubicBezTo>
                      <a:pt x="7" y="0"/>
                      <a:pt x="7" y="0"/>
                      <a:pt x="7" y="0"/>
                    </a:cubicBezTo>
                    <a:cubicBezTo>
                      <a:pt x="3" y="7"/>
                      <a:pt x="0" y="15"/>
                      <a:pt x="0" y="23"/>
                    </a:cubicBezTo>
                    <a:cubicBezTo>
                      <a:pt x="14" y="24"/>
                      <a:pt x="14" y="24"/>
                      <a:pt x="14" y="24"/>
                    </a:cubicBezTo>
                    <a:cubicBezTo>
                      <a:pt x="14" y="18"/>
                      <a:pt x="16" y="12"/>
                      <a:pt x="19" y="7"/>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63" name="Shape 7805">
                <a:extLst>
                  <a:ext uri="{FF2B5EF4-FFF2-40B4-BE49-F238E27FC236}">
                    <a16:creationId xmlns:a16="http://schemas.microsoft.com/office/drawing/2014/main" xmlns="" id="{F04453D6-ACAB-45E7-B161-AE9FF0C56A44}"/>
                  </a:ext>
                </a:extLst>
              </p:cNvPr>
              <p:cNvSpPr/>
              <p:nvPr/>
            </p:nvSpPr>
            <p:spPr>
              <a:xfrm>
                <a:off x="5564188" y="2497138"/>
                <a:ext cx="15875" cy="25400"/>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64" name="Shape 7806">
                <a:extLst>
                  <a:ext uri="{FF2B5EF4-FFF2-40B4-BE49-F238E27FC236}">
                    <a16:creationId xmlns:a16="http://schemas.microsoft.com/office/drawing/2014/main" xmlns="" id="{C0DACC00-F0E6-4356-89E1-23234C8333CF}"/>
                  </a:ext>
                </a:extLst>
              </p:cNvPr>
              <p:cNvSpPr/>
              <p:nvPr/>
            </p:nvSpPr>
            <p:spPr>
              <a:xfrm>
                <a:off x="5538788" y="2551113"/>
                <a:ext cx="66675" cy="55562"/>
              </a:xfrm>
              <a:custGeom>
                <a:avLst/>
                <a:gdLst/>
                <a:ahLst/>
                <a:cxnLst/>
                <a:rect l="0" t="0" r="0" b="0"/>
                <a:pathLst>
                  <a:path w="42" h="35" extrusionOk="0">
                    <a:moveTo>
                      <a:pt x="42" y="0"/>
                    </a:moveTo>
                    <a:lnTo>
                      <a:pt x="0" y="0"/>
                    </a:lnTo>
                    <a:lnTo>
                      <a:pt x="21" y="35"/>
                    </a:lnTo>
                    <a:lnTo>
                      <a:pt x="42" y="0"/>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grpSp>
      </p:grpSp>
    </p:spTree>
    <p:extLst>
      <p:ext uri="{BB962C8B-B14F-4D97-AF65-F5344CB8AC3E}">
        <p14:creationId xmlns:p14="http://schemas.microsoft.com/office/powerpoint/2010/main" val="23518375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Group 35">
            <a:extLst>
              <a:ext uri="{FF2B5EF4-FFF2-40B4-BE49-F238E27FC236}">
                <a16:creationId xmlns:a16="http://schemas.microsoft.com/office/drawing/2014/main" xmlns="" id="{EA16FA40-1F59-4B3A-9C7D-8AB6749922B0}"/>
              </a:ext>
            </a:extLst>
          </p:cNvPr>
          <p:cNvGrpSpPr/>
          <p:nvPr/>
        </p:nvGrpSpPr>
        <p:grpSpPr>
          <a:xfrm>
            <a:off x="616815" y="408573"/>
            <a:ext cx="10958370" cy="2251614"/>
            <a:chOff x="669953" y="1659835"/>
            <a:chExt cx="10958370" cy="2251614"/>
          </a:xfrm>
        </p:grpSpPr>
        <p:sp>
          <p:nvSpPr>
            <p:cNvPr id="37" name="Freeform 6">
              <a:extLst>
                <a:ext uri="{FF2B5EF4-FFF2-40B4-BE49-F238E27FC236}">
                  <a16:creationId xmlns:a16="http://schemas.microsoft.com/office/drawing/2014/main" xmlns="" id="{C4173BDC-4027-4520-854F-744EBF7FF3B8}"/>
                </a:ext>
              </a:extLst>
            </p:cNvPr>
            <p:cNvSpPr>
              <a:spLocks/>
            </p:cNvSpPr>
            <p:nvPr/>
          </p:nvSpPr>
          <p:spPr bwMode="auto">
            <a:xfrm>
              <a:off x="776848" y="1680017"/>
              <a:ext cx="373861" cy="274869"/>
            </a:xfrm>
            <a:custGeom>
              <a:avLst/>
              <a:gdLst>
                <a:gd name="T0" fmla="*/ 81 w 162"/>
                <a:gd name="T1" fmla="*/ 0 h 119"/>
                <a:gd name="T2" fmla="*/ 0 w 162"/>
                <a:gd name="T3" fmla="*/ 119 h 119"/>
                <a:gd name="T4" fmla="*/ 162 w 162"/>
                <a:gd name="T5" fmla="*/ 119 h 119"/>
                <a:gd name="T6" fmla="*/ 81 w 162"/>
                <a:gd name="T7" fmla="*/ 0 h 119"/>
              </a:gdLst>
              <a:ahLst/>
              <a:cxnLst>
                <a:cxn ang="0">
                  <a:pos x="T0" y="T1"/>
                </a:cxn>
                <a:cxn ang="0">
                  <a:pos x="T2" y="T3"/>
                </a:cxn>
                <a:cxn ang="0">
                  <a:pos x="T4" y="T5"/>
                </a:cxn>
                <a:cxn ang="0">
                  <a:pos x="T6" y="T7"/>
                </a:cxn>
              </a:cxnLst>
              <a:rect l="0" t="0" r="r" b="b"/>
              <a:pathLst>
                <a:path w="162" h="119">
                  <a:moveTo>
                    <a:pt x="81" y="0"/>
                  </a:moveTo>
                  <a:cubicBezTo>
                    <a:pt x="34" y="18"/>
                    <a:pt x="0" y="65"/>
                    <a:pt x="0" y="119"/>
                  </a:cubicBezTo>
                  <a:cubicBezTo>
                    <a:pt x="162" y="119"/>
                    <a:pt x="162" y="119"/>
                    <a:pt x="162" y="119"/>
                  </a:cubicBezTo>
                  <a:cubicBezTo>
                    <a:pt x="162" y="65"/>
                    <a:pt x="129" y="19"/>
                    <a:pt x="81" y="0"/>
                  </a:cubicBez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ru-RU"/>
            </a:p>
          </p:txBody>
        </p:sp>
        <p:sp>
          <p:nvSpPr>
            <p:cNvPr id="38" name="Rectangle: Rounded Corners 37">
              <a:extLst>
                <a:ext uri="{FF2B5EF4-FFF2-40B4-BE49-F238E27FC236}">
                  <a16:creationId xmlns:a16="http://schemas.microsoft.com/office/drawing/2014/main" xmlns="" id="{F8874CF9-717E-43DE-A3CC-916F2E46A253}"/>
                </a:ext>
              </a:extLst>
            </p:cNvPr>
            <p:cNvSpPr/>
            <p:nvPr/>
          </p:nvSpPr>
          <p:spPr>
            <a:xfrm>
              <a:off x="776848" y="1953670"/>
              <a:ext cx="10851475" cy="567664"/>
            </a:xfrm>
            <a:prstGeom prst="roundRect">
              <a:avLst>
                <a:gd name="adj" fmla="val 9723"/>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404000" rtlCol="0" anchor="ctr"/>
            <a:lstStyle/>
            <a:p>
              <a:r>
                <a:rPr lang="en-US" sz="2200" b="1" dirty="0" err="1">
                  <a:solidFill>
                    <a:schemeClr val="tx1"/>
                  </a:solidFill>
                  <a:effectLst/>
                  <a:latin typeface="Times New Roman" panose="02020603050405020304" pitchFamily="18" charset="0"/>
                  <a:ea typeface="Calibri" panose="020F0502020204030204" pitchFamily="34" charset="0"/>
                </a:rPr>
                <a:t>PortfoliosLab</a:t>
              </a:r>
              <a:endParaRPr lang="en-IN" sz="2200" b="1" dirty="0">
                <a:solidFill>
                  <a:schemeClr val="tx1"/>
                </a:solidFill>
                <a:latin typeface="Calibri" panose="020F0502020204030204" pitchFamily="34" charset="0"/>
              </a:endParaRPr>
            </a:p>
          </p:txBody>
        </p:sp>
        <p:sp>
          <p:nvSpPr>
            <p:cNvPr id="39" name="Content Placeholder 2">
              <a:extLst>
                <a:ext uri="{FF2B5EF4-FFF2-40B4-BE49-F238E27FC236}">
                  <a16:creationId xmlns:a16="http://schemas.microsoft.com/office/drawing/2014/main" xmlns="" id="{EED62D1B-EAA0-406D-9BCA-3485BBA38197}"/>
                </a:ext>
              </a:extLst>
            </p:cNvPr>
            <p:cNvSpPr txBox="1">
              <a:spLocks/>
            </p:cNvSpPr>
            <p:nvPr/>
          </p:nvSpPr>
          <p:spPr>
            <a:xfrm>
              <a:off x="669953" y="3035410"/>
              <a:ext cx="10834234" cy="876039"/>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Nunito"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Nunito"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Nunito"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400"/>
                </a:spcBef>
                <a:spcAft>
                  <a:spcPts val="400"/>
                </a:spcAft>
                <a:buNone/>
              </a:pPr>
              <a:r>
                <a:rPr lang="en-US" sz="2200" dirty="0" err="1">
                  <a:latin typeface="+mn-lt"/>
                </a:rPr>
                <a:t>PortfoliosLab</a:t>
              </a:r>
              <a:r>
                <a:rPr lang="en-US" sz="2200" dirty="0">
                  <a:latin typeface="+mn-lt"/>
                </a:rPr>
                <a:t> offers comprehensive analysis for stocks, ETFs, mutual funds, and cryptocurrencies, empowering investors with insights into potential investments and associated risks. It excels in historical performance analysis, enabling users to evaluate an asset's track record.</a:t>
              </a:r>
            </a:p>
          </p:txBody>
        </p:sp>
        <p:sp>
          <p:nvSpPr>
            <p:cNvPr id="40" name="Freeform 7">
              <a:extLst>
                <a:ext uri="{FF2B5EF4-FFF2-40B4-BE49-F238E27FC236}">
                  <a16:creationId xmlns:a16="http://schemas.microsoft.com/office/drawing/2014/main" xmlns="" id="{CCFAD5FB-90AE-49A6-A7B6-5DD84D5DAB57}"/>
                </a:ext>
              </a:extLst>
            </p:cNvPr>
            <p:cNvSpPr>
              <a:spLocks/>
            </p:cNvSpPr>
            <p:nvPr/>
          </p:nvSpPr>
          <p:spPr bwMode="auto">
            <a:xfrm>
              <a:off x="871995" y="1659835"/>
              <a:ext cx="1061994" cy="1111971"/>
            </a:xfrm>
            <a:custGeom>
              <a:avLst/>
              <a:gdLst>
                <a:gd name="T0" fmla="*/ 332 w 461"/>
                <a:gd name="T1" fmla="*/ 0 h 482"/>
                <a:gd name="T2" fmla="*/ 88 w 461"/>
                <a:gd name="T3" fmla="*/ 0 h 482"/>
                <a:gd name="T4" fmla="*/ 40 w 461"/>
                <a:gd name="T5" fmla="*/ 9 h 482"/>
                <a:gd name="T6" fmla="*/ 0 w 461"/>
                <a:gd name="T7" fmla="*/ 35 h 482"/>
                <a:gd name="T8" fmla="*/ 81 w 461"/>
                <a:gd name="T9" fmla="*/ 35 h 482"/>
                <a:gd name="T10" fmla="*/ 121 w 461"/>
                <a:gd name="T11" fmla="*/ 128 h 482"/>
                <a:gd name="T12" fmla="*/ 121 w 461"/>
                <a:gd name="T13" fmla="*/ 311 h 482"/>
                <a:gd name="T14" fmla="*/ 121 w 461"/>
                <a:gd name="T15" fmla="*/ 312 h 482"/>
                <a:gd name="T16" fmla="*/ 291 w 461"/>
                <a:gd name="T17" fmla="*/ 482 h 482"/>
                <a:gd name="T18" fmla="*/ 461 w 461"/>
                <a:gd name="T19" fmla="*/ 312 h 482"/>
                <a:gd name="T20" fmla="*/ 461 w 461"/>
                <a:gd name="T21" fmla="*/ 312 h 482"/>
                <a:gd name="T22" fmla="*/ 461 w 461"/>
                <a:gd name="T23" fmla="*/ 128 h 482"/>
                <a:gd name="T24" fmla="*/ 332 w 461"/>
                <a:gd name="T25" fmla="*/ 0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 h="482">
                  <a:moveTo>
                    <a:pt x="332" y="0"/>
                  </a:moveTo>
                  <a:cubicBezTo>
                    <a:pt x="88" y="0"/>
                    <a:pt x="88" y="0"/>
                    <a:pt x="88" y="0"/>
                  </a:cubicBezTo>
                  <a:cubicBezTo>
                    <a:pt x="71" y="0"/>
                    <a:pt x="55" y="3"/>
                    <a:pt x="40" y="9"/>
                  </a:cubicBezTo>
                  <a:cubicBezTo>
                    <a:pt x="25" y="15"/>
                    <a:pt x="11" y="24"/>
                    <a:pt x="0" y="35"/>
                  </a:cubicBezTo>
                  <a:cubicBezTo>
                    <a:pt x="22" y="13"/>
                    <a:pt x="58" y="13"/>
                    <a:pt x="81" y="35"/>
                  </a:cubicBezTo>
                  <a:cubicBezTo>
                    <a:pt x="106" y="58"/>
                    <a:pt x="121" y="91"/>
                    <a:pt x="121" y="128"/>
                  </a:cubicBezTo>
                  <a:cubicBezTo>
                    <a:pt x="121" y="311"/>
                    <a:pt x="121" y="311"/>
                    <a:pt x="121" y="311"/>
                  </a:cubicBezTo>
                  <a:cubicBezTo>
                    <a:pt x="121" y="311"/>
                    <a:pt x="121" y="311"/>
                    <a:pt x="121" y="312"/>
                  </a:cubicBezTo>
                  <a:cubicBezTo>
                    <a:pt x="121" y="405"/>
                    <a:pt x="197" y="482"/>
                    <a:pt x="291" y="482"/>
                  </a:cubicBezTo>
                  <a:cubicBezTo>
                    <a:pt x="385" y="482"/>
                    <a:pt x="461" y="405"/>
                    <a:pt x="461" y="312"/>
                  </a:cubicBezTo>
                  <a:cubicBezTo>
                    <a:pt x="461" y="312"/>
                    <a:pt x="461" y="312"/>
                    <a:pt x="461" y="312"/>
                  </a:cubicBezTo>
                  <a:cubicBezTo>
                    <a:pt x="461" y="128"/>
                    <a:pt x="461" y="128"/>
                    <a:pt x="461" y="128"/>
                  </a:cubicBezTo>
                  <a:cubicBezTo>
                    <a:pt x="461" y="57"/>
                    <a:pt x="403" y="0"/>
                    <a:pt x="332"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ru-RU"/>
            </a:p>
          </p:txBody>
        </p:sp>
        <p:sp>
          <p:nvSpPr>
            <p:cNvPr id="41" name="Oval 8">
              <a:extLst>
                <a:ext uri="{FF2B5EF4-FFF2-40B4-BE49-F238E27FC236}">
                  <a16:creationId xmlns:a16="http://schemas.microsoft.com/office/drawing/2014/main" xmlns="" id="{93C0523A-56B3-4553-A05C-9084F0D71BFD}"/>
                </a:ext>
              </a:extLst>
            </p:cNvPr>
            <p:cNvSpPr>
              <a:spLocks noChangeArrowheads="1"/>
            </p:cNvSpPr>
            <p:nvPr/>
          </p:nvSpPr>
          <p:spPr bwMode="auto">
            <a:xfrm>
              <a:off x="1215101" y="2051956"/>
              <a:ext cx="654496" cy="652574"/>
            </a:xfrm>
            <a:prstGeom prst="ellipse">
              <a:avLst/>
            </a:prstGeom>
            <a:solidFill>
              <a:schemeClr val="bg2"/>
            </a:solidFill>
            <a:ln>
              <a:noFill/>
            </a:ln>
          </p:spPr>
          <p:txBody>
            <a:bodyPr vert="horz" wrap="square" lIns="91440" tIns="45720" rIns="91440" bIns="45720" numCol="1" anchor="t" anchorCtr="0" compatLnSpc="1">
              <a:prstTxWarp prst="textNoShape">
                <a:avLst/>
              </a:prstTxWarp>
            </a:bodyPr>
            <a:lstStyle/>
            <a:p>
              <a:endParaRPr lang="ru-RU"/>
            </a:p>
          </p:txBody>
        </p:sp>
        <p:grpSp>
          <p:nvGrpSpPr>
            <p:cNvPr id="42" name="Shape 7784">
              <a:extLst>
                <a:ext uri="{FF2B5EF4-FFF2-40B4-BE49-F238E27FC236}">
                  <a16:creationId xmlns:a16="http://schemas.microsoft.com/office/drawing/2014/main" xmlns="" id="{A29940F2-AB6D-4383-8C22-C62546C174D7}"/>
                </a:ext>
              </a:extLst>
            </p:cNvPr>
            <p:cNvGrpSpPr/>
            <p:nvPr/>
          </p:nvGrpSpPr>
          <p:grpSpPr>
            <a:xfrm>
              <a:off x="1389773" y="2214880"/>
              <a:ext cx="330464" cy="352116"/>
              <a:chOff x="5538788" y="2417763"/>
              <a:chExt cx="557213" cy="593725"/>
            </a:xfrm>
            <a:solidFill>
              <a:schemeClr val="tx1"/>
            </a:solidFill>
          </p:grpSpPr>
          <p:sp>
            <p:nvSpPr>
              <p:cNvPr id="43" name="Shape 7785">
                <a:extLst>
                  <a:ext uri="{FF2B5EF4-FFF2-40B4-BE49-F238E27FC236}">
                    <a16:creationId xmlns:a16="http://schemas.microsoft.com/office/drawing/2014/main" xmlns="" id="{6F83E444-C226-4033-99E1-972C1DD0FC02}"/>
                  </a:ext>
                </a:extLst>
              </p:cNvPr>
              <p:cNvSpPr/>
              <p:nvPr/>
            </p:nvSpPr>
            <p:spPr>
              <a:xfrm>
                <a:off x="5538788" y="2727325"/>
                <a:ext cx="188913" cy="284162"/>
              </a:xfrm>
              <a:custGeom>
                <a:avLst/>
                <a:gdLst/>
                <a:ahLst/>
                <a:cxnLst/>
                <a:rect l="0" t="0" r="0" b="0"/>
                <a:pathLst>
                  <a:path w="160" h="242" extrusionOk="0">
                    <a:moveTo>
                      <a:pt x="0" y="233"/>
                    </a:moveTo>
                    <a:cubicBezTo>
                      <a:pt x="0" y="238"/>
                      <a:pt x="4" y="242"/>
                      <a:pt x="9" y="242"/>
                    </a:cubicBezTo>
                    <a:cubicBezTo>
                      <a:pt x="151" y="242"/>
                      <a:pt x="151" y="242"/>
                      <a:pt x="151" y="242"/>
                    </a:cubicBezTo>
                    <a:cubicBezTo>
                      <a:pt x="156" y="242"/>
                      <a:pt x="160" y="238"/>
                      <a:pt x="160" y="233"/>
                    </a:cubicBezTo>
                    <a:cubicBezTo>
                      <a:pt x="160" y="0"/>
                      <a:pt x="160" y="0"/>
                      <a:pt x="160" y="0"/>
                    </a:cubicBezTo>
                    <a:cubicBezTo>
                      <a:pt x="0" y="0"/>
                      <a:pt x="0" y="0"/>
                      <a:pt x="0" y="0"/>
                    </a:cubicBezTo>
                    <a:lnTo>
                      <a:pt x="0" y="233"/>
                    </a:lnTo>
                    <a:close/>
                    <a:moveTo>
                      <a:pt x="80" y="227"/>
                    </a:moveTo>
                    <a:cubicBezTo>
                      <a:pt x="71" y="227"/>
                      <a:pt x="63" y="220"/>
                      <a:pt x="63" y="210"/>
                    </a:cubicBezTo>
                    <a:cubicBezTo>
                      <a:pt x="63" y="200"/>
                      <a:pt x="71" y="192"/>
                      <a:pt x="80" y="192"/>
                    </a:cubicBezTo>
                    <a:cubicBezTo>
                      <a:pt x="90" y="192"/>
                      <a:pt x="98" y="200"/>
                      <a:pt x="98" y="210"/>
                    </a:cubicBezTo>
                    <a:cubicBezTo>
                      <a:pt x="98" y="220"/>
                      <a:pt x="90" y="227"/>
                      <a:pt x="80" y="227"/>
                    </a:cubicBezTo>
                    <a:close/>
                    <a:moveTo>
                      <a:pt x="73" y="175"/>
                    </a:moveTo>
                    <a:cubicBezTo>
                      <a:pt x="73" y="171"/>
                      <a:pt x="76" y="167"/>
                      <a:pt x="80" y="167"/>
                    </a:cubicBezTo>
                    <a:cubicBezTo>
                      <a:pt x="85" y="167"/>
                      <a:pt x="88" y="171"/>
                      <a:pt x="88" y="175"/>
                    </a:cubicBezTo>
                    <a:cubicBezTo>
                      <a:pt x="88" y="179"/>
                      <a:pt x="85" y="183"/>
                      <a:pt x="80" y="183"/>
                    </a:cubicBezTo>
                    <a:cubicBezTo>
                      <a:pt x="76" y="183"/>
                      <a:pt x="73" y="179"/>
                      <a:pt x="73" y="175"/>
                    </a:cubicBezTo>
                    <a:close/>
                    <a:moveTo>
                      <a:pt x="29" y="12"/>
                    </a:moveTo>
                    <a:cubicBezTo>
                      <a:pt x="131" y="12"/>
                      <a:pt x="131" y="12"/>
                      <a:pt x="131" y="12"/>
                    </a:cubicBezTo>
                    <a:cubicBezTo>
                      <a:pt x="131" y="33"/>
                      <a:pt x="131" y="33"/>
                      <a:pt x="131" y="33"/>
                    </a:cubicBezTo>
                    <a:cubicBezTo>
                      <a:pt x="29" y="33"/>
                      <a:pt x="29" y="33"/>
                      <a:pt x="29" y="33"/>
                    </a:cubicBezTo>
                    <a:lnTo>
                      <a:pt x="29" y="12"/>
                    </a:lnTo>
                    <a:close/>
                    <a:moveTo>
                      <a:pt x="29" y="43"/>
                    </a:moveTo>
                    <a:cubicBezTo>
                      <a:pt x="131" y="43"/>
                      <a:pt x="131" y="43"/>
                      <a:pt x="131" y="43"/>
                    </a:cubicBezTo>
                    <a:cubicBezTo>
                      <a:pt x="131" y="64"/>
                      <a:pt x="131" y="64"/>
                      <a:pt x="131" y="64"/>
                    </a:cubicBezTo>
                    <a:cubicBezTo>
                      <a:pt x="29" y="64"/>
                      <a:pt x="29" y="64"/>
                      <a:pt x="29" y="64"/>
                    </a:cubicBezTo>
                    <a:lnTo>
                      <a:pt x="29" y="43"/>
                    </a:lnTo>
                    <a:close/>
                    <a:moveTo>
                      <a:pt x="29" y="73"/>
                    </a:moveTo>
                    <a:cubicBezTo>
                      <a:pt x="131" y="73"/>
                      <a:pt x="131" y="73"/>
                      <a:pt x="131" y="73"/>
                    </a:cubicBezTo>
                    <a:cubicBezTo>
                      <a:pt x="131" y="94"/>
                      <a:pt x="131" y="94"/>
                      <a:pt x="131" y="94"/>
                    </a:cubicBezTo>
                    <a:cubicBezTo>
                      <a:pt x="29" y="94"/>
                      <a:pt x="29" y="94"/>
                      <a:pt x="29" y="94"/>
                    </a:cubicBezTo>
                    <a:lnTo>
                      <a:pt x="29" y="73"/>
                    </a:lnTo>
                    <a:close/>
                    <a:moveTo>
                      <a:pt x="29" y="104"/>
                    </a:moveTo>
                    <a:cubicBezTo>
                      <a:pt x="131" y="104"/>
                      <a:pt x="131" y="104"/>
                      <a:pt x="131" y="104"/>
                    </a:cubicBezTo>
                    <a:cubicBezTo>
                      <a:pt x="131" y="125"/>
                      <a:pt x="131" y="125"/>
                      <a:pt x="131" y="125"/>
                    </a:cubicBezTo>
                    <a:cubicBezTo>
                      <a:pt x="29" y="125"/>
                      <a:pt x="29" y="125"/>
                      <a:pt x="29" y="125"/>
                    </a:cubicBezTo>
                    <a:lnTo>
                      <a:pt x="29" y="104"/>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44" name="Shape 7786">
                <a:extLst>
                  <a:ext uri="{FF2B5EF4-FFF2-40B4-BE49-F238E27FC236}">
                    <a16:creationId xmlns:a16="http://schemas.microsoft.com/office/drawing/2014/main" xmlns="" id="{93A10B83-E792-4770-A4DC-452F5B520727}"/>
                  </a:ext>
                </a:extLst>
              </p:cNvPr>
              <p:cNvSpPr/>
              <p:nvPr/>
            </p:nvSpPr>
            <p:spPr>
              <a:xfrm>
                <a:off x="5538788" y="2651125"/>
                <a:ext cx="188913" cy="63500"/>
              </a:xfrm>
              <a:custGeom>
                <a:avLst/>
                <a:gdLst/>
                <a:ahLst/>
                <a:cxnLst/>
                <a:rect l="0" t="0" r="0" b="0"/>
                <a:pathLst>
                  <a:path w="160" h="55" extrusionOk="0">
                    <a:moveTo>
                      <a:pt x="151" y="0"/>
                    </a:moveTo>
                    <a:cubicBezTo>
                      <a:pt x="9" y="0"/>
                      <a:pt x="9" y="0"/>
                      <a:pt x="9" y="0"/>
                    </a:cubicBezTo>
                    <a:cubicBezTo>
                      <a:pt x="4" y="0"/>
                      <a:pt x="0" y="4"/>
                      <a:pt x="0" y="9"/>
                    </a:cubicBezTo>
                    <a:cubicBezTo>
                      <a:pt x="0" y="55"/>
                      <a:pt x="0" y="55"/>
                      <a:pt x="0" y="55"/>
                    </a:cubicBezTo>
                    <a:cubicBezTo>
                      <a:pt x="160" y="55"/>
                      <a:pt x="160" y="55"/>
                      <a:pt x="160" y="55"/>
                    </a:cubicBezTo>
                    <a:cubicBezTo>
                      <a:pt x="160" y="9"/>
                      <a:pt x="160" y="9"/>
                      <a:pt x="160" y="9"/>
                    </a:cubicBezTo>
                    <a:cubicBezTo>
                      <a:pt x="160" y="4"/>
                      <a:pt x="156" y="0"/>
                      <a:pt x="151" y="0"/>
                    </a:cubicBezTo>
                    <a:close/>
                    <a:moveTo>
                      <a:pt x="43" y="43"/>
                    </a:moveTo>
                    <a:cubicBezTo>
                      <a:pt x="36" y="43"/>
                      <a:pt x="30" y="37"/>
                      <a:pt x="30" y="30"/>
                    </a:cubicBezTo>
                    <a:cubicBezTo>
                      <a:pt x="30" y="22"/>
                      <a:pt x="36" y="16"/>
                      <a:pt x="43" y="16"/>
                    </a:cubicBezTo>
                    <a:cubicBezTo>
                      <a:pt x="51" y="16"/>
                      <a:pt x="57" y="22"/>
                      <a:pt x="57" y="30"/>
                    </a:cubicBezTo>
                    <a:cubicBezTo>
                      <a:pt x="57" y="37"/>
                      <a:pt x="51" y="43"/>
                      <a:pt x="43" y="43"/>
                    </a:cubicBezTo>
                    <a:close/>
                    <a:moveTo>
                      <a:pt x="131" y="38"/>
                    </a:moveTo>
                    <a:cubicBezTo>
                      <a:pt x="68" y="38"/>
                      <a:pt x="68" y="38"/>
                      <a:pt x="68" y="38"/>
                    </a:cubicBezTo>
                    <a:cubicBezTo>
                      <a:pt x="68" y="22"/>
                      <a:pt x="68" y="22"/>
                      <a:pt x="68" y="22"/>
                    </a:cubicBezTo>
                    <a:cubicBezTo>
                      <a:pt x="131" y="22"/>
                      <a:pt x="131" y="22"/>
                      <a:pt x="131" y="22"/>
                    </a:cubicBezTo>
                    <a:lnTo>
                      <a:pt x="131" y="38"/>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45" name="Shape 7787">
                <a:extLst>
                  <a:ext uri="{FF2B5EF4-FFF2-40B4-BE49-F238E27FC236}">
                    <a16:creationId xmlns:a16="http://schemas.microsoft.com/office/drawing/2014/main" xmlns="" id="{56DF18E4-5FA2-4026-94E5-8DB63526998D}"/>
                  </a:ext>
                </a:extLst>
              </p:cNvPr>
              <p:cNvSpPr/>
              <p:nvPr/>
            </p:nvSpPr>
            <p:spPr>
              <a:xfrm>
                <a:off x="6013450" y="2990850"/>
                <a:ext cx="28575" cy="20637"/>
              </a:xfrm>
              <a:custGeom>
                <a:avLst/>
                <a:gdLst/>
                <a:ahLst/>
                <a:cxnLst/>
                <a:rect l="0" t="0" r="0" b="0"/>
                <a:pathLst>
                  <a:path w="24" h="18" extrusionOk="0">
                    <a:moveTo>
                      <a:pt x="1" y="4"/>
                    </a:moveTo>
                    <a:cubicBezTo>
                      <a:pt x="0" y="4"/>
                      <a:pt x="0" y="4"/>
                      <a:pt x="0" y="4"/>
                    </a:cubicBezTo>
                    <a:cubicBezTo>
                      <a:pt x="0" y="18"/>
                      <a:pt x="0" y="18"/>
                      <a:pt x="0" y="18"/>
                    </a:cubicBezTo>
                    <a:cubicBezTo>
                      <a:pt x="1" y="18"/>
                      <a:pt x="1" y="18"/>
                      <a:pt x="1" y="18"/>
                    </a:cubicBezTo>
                    <a:cubicBezTo>
                      <a:pt x="9" y="18"/>
                      <a:pt x="17" y="16"/>
                      <a:pt x="24" y="12"/>
                    </a:cubicBezTo>
                    <a:cubicBezTo>
                      <a:pt x="17" y="0"/>
                      <a:pt x="17" y="0"/>
                      <a:pt x="17" y="0"/>
                    </a:cubicBezTo>
                    <a:cubicBezTo>
                      <a:pt x="12" y="3"/>
                      <a:pt x="6" y="4"/>
                      <a:pt x="1" y="4"/>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46" name="Shape 7788">
                <a:extLst>
                  <a:ext uri="{FF2B5EF4-FFF2-40B4-BE49-F238E27FC236}">
                    <a16:creationId xmlns:a16="http://schemas.microsoft.com/office/drawing/2014/main" xmlns="" id="{F18DE7D5-2CC3-4EDB-93AB-EC404C97F2A0}"/>
                  </a:ext>
                </a:extLst>
              </p:cNvPr>
              <p:cNvSpPr/>
              <p:nvPr/>
            </p:nvSpPr>
            <p:spPr>
              <a:xfrm>
                <a:off x="5964238" y="299561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47" name="Shape 7789">
                <a:extLst>
                  <a:ext uri="{FF2B5EF4-FFF2-40B4-BE49-F238E27FC236}">
                    <a16:creationId xmlns:a16="http://schemas.microsoft.com/office/drawing/2014/main" xmlns="" id="{C8436D8F-BF5C-4FD2-9F8C-0714FA587B9E}"/>
                  </a:ext>
                </a:extLst>
              </p:cNvPr>
              <p:cNvSpPr/>
              <p:nvPr/>
            </p:nvSpPr>
            <p:spPr>
              <a:xfrm>
                <a:off x="5913438" y="2995613"/>
                <a:ext cx="23813"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48" name="Shape 7790">
                <a:extLst>
                  <a:ext uri="{FF2B5EF4-FFF2-40B4-BE49-F238E27FC236}">
                    <a16:creationId xmlns:a16="http://schemas.microsoft.com/office/drawing/2014/main" xmlns="" id="{4D228924-370C-4427-9AD5-910FD43F362D}"/>
                  </a:ext>
                </a:extLst>
              </p:cNvPr>
              <p:cNvSpPr/>
              <p:nvPr/>
            </p:nvSpPr>
            <p:spPr>
              <a:xfrm>
                <a:off x="5862638" y="299561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49" name="Shape 7791">
                <a:extLst>
                  <a:ext uri="{FF2B5EF4-FFF2-40B4-BE49-F238E27FC236}">
                    <a16:creationId xmlns:a16="http://schemas.microsoft.com/office/drawing/2014/main" xmlns="" id="{C537C80C-74C6-4262-8002-86B5DCFFCE4C}"/>
                  </a:ext>
                </a:extLst>
              </p:cNvPr>
              <p:cNvSpPr/>
              <p:nvPr/>
            </p:nvSpPr>
            <p:spPr>
              <a:xfrm>
                <a:off x="5807075" y="2995613"/>
                <a:ext cx="23813"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50" name="Shape 7792">
                <a:extLst>
                  <a:ext uri="{FF2B5EF4-FFF2-40B4-BE49-F238E27FC236}">
                    <a16:creationId xmlns:a16="http://schemas.microsoft.com/office/drawing/2014/main" xmlns="" id="{6DE2F59B-EC3D-4ECE-958E-CD07D83D9C59}"/>
                  </a:ext>
                </a:extLst>
              </p:cNvPr>
              <p:cNvSpPr/>
              <p:nvPr/>
            </p:nvSpPr>
            <p:spPr>
              <a:xfrm>
                <a:off x="5753100" y="299561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51" name="Shape 7793">
                <a:extLst>
                  <a:ext uri="{FF2B5EF4-FFF2-40B4-BE49-F238E27FC236}">
                    <a16:creationId xmlns:a16="http://schemas.microsoft.com/office/drawing/2014/main" xmlns="" id="{9D036060-E2C6-47BB-9D9A-F0431E4E7079}"/>
                  </a:ext>
                </a:extLst>
              </p:cNvPr>
              <p:cNvSpPr/>
              <p:nvPr/>
            </p:nvSpPr>
            <p:spPr>
              <a:xfrm>
                <a:off x="6048375" y="2955925"/>
                <a:ext cx="22225" cy="28575"/>
              </a:xfrm>
              <a:custGeom>
                <a:avLst/>
                <a:gdLst/>
                <a:ahLst/>
                <a:cxnLst/>
                <a:rect l="0" t="0" r="0" b="0"/>
                <a:pathLst>
                  <a:path w="19" h="24" extrusionOk="0">
                    <a:moveTo>
                      <a:pt x="0" y="17"/>
                    </a:moveTo>
                    <a:cubicBezTo>
                      <a:pt x="12" y="24"/>
                      <a:pt x="12" y="24"/>
                      <a:pt x="12" y="24"/>
                    </a:cubicBezTo>
                    <a:cubicBezTo>
                      <a:pt x="17" y="17"/>
                      <a:pt x="19" y="9"/>
                      <a:pt x="19" y="0"/>
                    </a:cubicBezTo>
                    <a:cubicBezTo>
                      <a:pt x="6" y="0"/>
                      <a:pt x="6" y="0"/>
                      <a:pt x="6" y="0"/>
                    </a:cubicBezTo>
                    <a:cubicBezTo>
                      <a:pt x="5" y="6"/>
                      <a:pt x="3" y="12"/>
                      <a:pt x="0" y="17"/>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52" name="Shape 7794">
                <a:extLst>
                  <a:ext uri="{FF2B5EF4-FFF2-40B4-BE49-F238E27FC236}">
                    <a16:creationId xmlns:a16="http://schemas.microsoft.com/office/drawing/2014/main" xmlns="" id="{BB943592-1A4D-42A7-8F52-65EE495E117C}"/>
                  </a:ext>
                </a:extLst>
              </p:cNvPr>
              <p:cNvSpPr/>
              <p:nvPr/>
            </p:nvSpPr>
            <p:spPr>
              <a:xfrm>
                <a:off x="6056313" y="2906713"/>
                <a:ext cx="15875" cy="23812"/>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53" name="Shape 7795">
                <a:extLst>
                  <a:ext uri="{FF2B5EF4-FFF2-40B4-BE49-F238E27FC236}">
                    <a16:creationId xmlns:a16="http://schemas.microsoft.com/office/drawing/2014/main" xmlns="" id="{5037C5E4-5602-44BB-8C61-1D8962506E7C}"/>
                  </a:ext>
                </a:extLst>
              </p:cNvPr>
              <p:cNvSpPr/>
              <p:nvPr/>
            </p:nvSpPr>
            <p:spPr>
              <a:xfrm>
                <a:off x="6030913" y="2820988"/>
                <a:ext cx="65088" cy="57150"/>
              </a:xfrm>
              <a:custGeom>
                <a:avLst/>
                <a:gdLst/>
                <a:ahLst/>
                <a:cxnLst/>
                <a:rect l="0" t="0" r="0" b="0"/>
                <a:pathLst>
                  <a:path w="41" h="36" extrusionOk="0">
                    <a:moveTo>
                      <a:pt x="0" y="36"/>
                    </a:moveTo>
                    <a:lnTo>
                      <a:pt x="41" y="36"/>
                    </a:lnTo>
                    <a:lnTo>
                      <a:pt x="21" y="0"/>
                    </a:lnTo>
                    <a:lnTo>
                      <a:pt x="0" y="36"/>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54" name="Shape 7796">
                <a:extLst>
                  <a:ext uri="{FF2B5EF4-FFF2-40B4-BE49-F238E27FC236}">
                    <a16:creationId xmlns:a16="http://schemas.microsoft.com/office/drawing/2014/main" xmlns="" id="{9C101E85-F220-4201-9EE1-47432FD74621}"/>
                  </a:ext>
                </a:extLst>
              </p:cNvPr>
              <p:cNvSpPr/>
              <p:nvPr/>
            </p:nvSpPr>
            <p:spPr>
              <a:xfrm>
                <a:off x="5908675" y="2495550"/>
                <a:ext cx="187325" cy="282575"/>
              </a:xfrm>
              <a:custGeom>
                <a:avLst/>
                <a:gdLst/>
                <a:ahLst/>
                <a:cxnLst/>
                <a:rect l="0" t="0" r="0" b="0"/>
                <a:pathLst>
                  <a:path w="160" h="242" extrusionOk="0">
                    <a:moveTo>
                      <a:pt x="0" y="233"/>
                    </a:moveTo>
                    <a:cubicBezTo>
                      <a:pt x="0" y="238"/>
                      <a:pt x="4" y="242"/>
                      <a:pt x="9" y="242"/>
                    </a:cubicBezTo>
                    <a:cubicBezTo>
                      <a:pt x="151" y="242"/>
                      <a:pt x="151" y="242"/>
                      <a:pt x="151" y="242"/>
                    </a:cubicBezTo>
                    <a:cubicBezTo>
                      <a:pt x="156" y="242"/>
                      <a:pt x="160" y="238"/>
                      <a:pt x="160" y="233"/>
                    </a:cubicBezTo>
                    <a:cubicBezTo>
                      <a:pt x="160" y="0"/>
                      <a:pt x="160" y="0"/>
                      <a:pt x="160" y="0"/>
                    </a:cubicBezTo>
                    <a:cubicBezTo>
                      <a:pt x="0" y="0"/>
                      <a:pt x="0" y="0"/>
                      <a:pt x="0" y="0"/>
                    </a:cubicBezTo>
                    <a:lnTo>
                      <a:pt x="0" y="233"/>
                    </a:lnTo>
                    <a:close/>
                    <a:moveTo>
                      <a:pt x="80" y="227"/>
                    </a:moveTo>
                    <a:cubicBezTo>
                      <a:pt x="71" y="227"/>
                      <a:pt x="63" y="220"/>
                      <a:pt x="63" y="210"/>
                    </a:cubicBezTo>
                    <a:cubicBezTo>
                      <a:pt x="63" y="200"/>
                      <a:pt x="71" y="192"/>
                      <a:pt x="80" y="192"/>
                    </a:cubicBezTo>
                    <a:cubicBezTo>
                      <a:pt x="90" y="192"/>
                      <a:pt x="98" y="200"/>
                      <a:pt x="98" y="210"/>
                    </a:cubicBezTo>
                    <a:cubicBezTo>
                      <a:pt x="98" y="220"/>
                      <a:pt x="90" y="227"/>
                      <a:pt x="80" y="227"/>
                    </a:cubicBezTo>
                    <a:close/>
                    <a:moveTo>
                      <a:pt x="72" y="175"/>
                    </a:moveTo>
                    <a:cubicBezTo>
                      <a:pt x="72" y="171"/>
                      <a:pt x="76" y="167"/>
                      <a:pt x="80" y="167"/>
                    </a:cubicBezTo>
                    <a:cubicBezTo>
                      <a:pt x="85" y="167"/>
                      <a:pt x="88" y="171"/>
                      <a:pt x="88" y="175"/>
                    </a:cubicBezTo>
                    <a:cubicBezTo>
                      <a:pt x="88" y="179"/>
                      <a:pt x="85" y="183"/>
                      <a:pt x="80" y="183"/>
                    </a:cubicBezTo>
                    <a:cubicBezTo>
                      <a:pt x="76" y="183"/>
                      <a:pt x="72" y="179"/>
                      <a:pt x="72" y="175"/>
                    </a:cubicBezTo>
                    <a:close/>
                    <a:moveTo>
                      <a:pt x="29" y="12"/>
                    </a:moveTo>
                    <a:cubicBezTo>
                      <a:pt x="131" y="12"/>
                      <a:pt x="131" y="12"/>
                      <a:pt x="131" y="12"/>
                    </a:cubicBezTo>
                    <a:cubicBezTo>
                      <a:pt x="131" y="33"/>
                      <a:pt x="131" y="33"/>
                      <a:pt x="131" y="33"/>
                    </a:cubicBezTo>
                    <a:cubicBezTo>
                      <a:pt x="29" y="33"/>
                      <a:pt x="29" y="33"/>
                      <a:pt x="29" y="33"/>
                    </a:cubicBezTo>
                    <a:lnTo>
                      <a:pt x="29" y="12"/>
                    </a:lnTo>
                    <a:close/>
                    <a:moveTo>
                      <a:pt x="29" y="43"/>
                    </a:moveTo>
                    <a:cubicBezTo>
                      <a:pt x="131" y="43"/>
                      <a:pt x="131" y="43"/>
                      <a:pt x="131" y="43"/>
                    </a:cubicBezTo>
                    <a:cubicBezTo>
                      <a:pt x="131" y="64"/>
                      <a:pt x="131" y="64"/>
                      <a:pt x="131" y="64"/>
                    </a:cubicBezTo>
                    <a:cubicBezTo>
                      <a:pt x="29" y="64"/>
                      <a:pt x="29" y="64"/>
                      <a:pt x="29" y="64"/>
                    </a:cubicBezTo>
                    <a:lnTo>
                      <a:pt x="29" y="43"/>
                    </a:lnTo>
                    <a:close/>
                    <a:moveTo>
                      <a:pt x="29" y="73"/>
                    </a:moveTo>
                    <a:cubicBezTo>
                      <a:pt x="131" y="73"/>
                      <a:pt x="131" y="73"/>
                      <a:pt x="131" y="73"/>
                    </a:cubicBezTo>
                    <a:cubicBezTo>
                      <a:pt x="131" y="94"/>
                      <a:pt x="131" y="94"/>
                      <a:pt x="131" y="94"/>
                    </a:cubicBezTo>
                    <a:cubicBezTo>
                      <a:pt x="29" y="94"/>
                      <a:pt x="29" y="94"/>
                      <a:pt x="29" y="94"/>
                    </a:cubicBezTo>
                    <a:lnTo>
                      <a:pt x="29" y="73"/>
                    </a:lnTo>
                    <a:close/>
                    <a:moveTo>
                      <a:pt x="29" y="104"/>
                    </a:moveTo>
                    <a:cubicBezTo>
                      <a:pt x="131" y="104"/>
                      <a:pt x="131" y="104"/>
                      <a:pt x="131" y="104"/>
                    </a:cubicBezTo>
                    <a:cubicBezTo>
                      <a:pt x="131" y="125"/>
                      <a:pt x="131" y="125"/>
                      <a:pt x="131" y="125"/>
                    </a:cubicBezTo>
                    <a:cubicBezTo>
                      <a:pt x="29" y="125"/>
                      <a:pt x="29" y="125"/>
                      <a:pt x="29" y="125"/>
                    </a:cubicBezTo>
                    <a:lnTo>
                      <a:pt x="29" y="104"/>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55" name="Shape 7797">
                <a:extLst>
                  <a:ext uri="{FF2B5EF4-FFF2-40B4-BE49-F238E27FC236}">
                    <a16:creationId xmlns:a16="http://schemas.microsoft.com/office/drawing/2014/main" xmlns="" id="{9CBD7147-1F3B-4FE1-9528-DEC0B3EEE202}"/>
                  </a:ext>
                </a:extLst>
              </p:cNvPr>
              <p:cNvSpPr/>
              <p:nvPr/>
            </p:nvSpPr>
            <p:spPr>
              <a:xfrm>
                <a:off x="5908675" y="2417763"/>
                <a:ext cx="187325" cy="65087"/>
              </a:xfrm>
              <a:custGeom>
                <a:avLst/>
                <a:gdLst/>
                <a:ahLst/>
                <a:cxnLst/>
                <a:rect l="0" t="0" r="0" b="0"/>
                <a:pathLst>
                  <a:path w="160" h="55" extrusionOk="0">
                    <a:moveTo>
                      <a:pt x="151" y="0"/>
                    </a:moveTo>
                    <a:cubicBezTo>
                      <a:pt x="9" y="0"/>
                      <a:pt x="9" y="0"/>
                      <a:pt x="9" y="0"/>
                    </a:cubicBezTo>
                    <a:cubicBezTo>
                      <a:pt x="4" y="0"/>
                      <a:pt x="0" y="4"/>
                      <a:pt x="0" y="9"/>
                    </a:cubicBezTo>
                    <a:cubicBezTo>
                      <a:pt x="0" y="55"/>
                      <a:pt x="0" y="55"/>
                      <a:pt x="0" y="55"/>
                    </a:cubicBezTo>
                    <a:cubicBezTo>
                      <a:pt x="160" y="55"/>
                      <a:pt x="160" y="55"/>
                      <a:pt x="160" y="55"/>
                    </a:cubicBezTo>
                    <a:cubicBezTo>
                      <a:pt x="160" y="9"/>
                      <a:pt x="160" y="9"/>
                      <a:pt x="160" y="9"/>
                    </a:cubicBezTo>
                    <a:cubicBezTo>
                      <a:pt x="160" y="4"/>
                      <a:pt x="156" y="0"/>
                      <a:pt x="151" y="0"/>
                    </a:cubicBezTo>
                    <a:close/>
                    <a:moveTo>
                      <a:pt x="93" y="38"/>
                    </a:moveTo>
                    <a:cubicBezTo>
                      <a:pt x="29" y="38"/>
                      <a:pt x="29" y="38"/>
                      <a:pt x="29" y="38"/>
                    </a:cubicBezTo>
                    <a:cubicBezTo>
                      <a:pt x="29" y="22"/>
                      <a:pt x="29" y="22"/>
                      <a:pt x="29" y="22"/>
                    </a:cubicBezTo>
                    <a:cubicBezTo>
                      <a:pt x="93" y="22"/>
                      <a:pt x="93" y="22"/>
                      <a:pt x="93" y="22"/>
                    </a:cubicBezTo>
                    <a:lnTo>
                      <a:pt x="93" y="38"/>
                    </a:lnTo>
                    <a:close/>
                    <a:moveTo>
                      <a:pt x="117" y="43"/>
                    </a:moveTo>
                    <a:cubicBezTo>
                      <a:pt x="110" y="43"/>
                      <a:pt x="104" y="37"/>
                      <a:pt x="104" y="30"/>
                    </a:cubicBezTo>
                    <a:cubicBezTo>
                      <a:pt x="104" y="22"/>
                      <a:pt x="110" y="16"/>
                      <a:pt x="117" y="16"/>
                    </a:cubicBezTo>
                    <a:cubicBezTo>
                      <a:pt x="125" y="16"/>
                      <a:pt x="131" y="22"/>
                      <a:pt x="131" y="30"/>
                    </a:cubicBezTo>
                    <a:cubicBezTo>
                      <a:pt x="131" y="37"/>
                      <a:pt x="125" y="43"/>
                      <a:pt x="117" y="43"/>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56" name="Shape 7798">
                <a:extLst>
                  <a:ext uri="{FF2B5EF4-FFF2-40B4-BE49-F238E27FC236}">
                    <a16:creationId xmlns:a16="http://schemas.microsoft.com/office/drawing/2014/main" xmlns="" id="{A5023EF3-A3C4-4CF8-93F1-261C445A20BD}"/>
                  </a:ext>
                </a:extLst>
              </p:cNvPr>
              <p:cNvSpPr/>
              <p:nvPr/>
            </p:nvSpPr>
            <p:spPr>
              <a:xfrm>
                <a:off x="5592763" y="2417763"/>
                <a:ext cx="30163" cy="20637"/>
              </a:xfrm>
              <a:custGeom>
                <a:avLst/>
                <a:gdLst/>
                <a:ahLst/>
                <a:cxnLst/>
                <a:rect l="0" t="0" r="0" b="0"/>
                <a:pathLst>
                  <a:path w="25" h="18" extrusionOk="0">
                    <a:moveTo>
                      <a:pt x="24" y="14"/>
                    </a:moveTo>
                    <a:cubicBezTo>
                      <a:pt x="25" y="14"/>
                      <a:pt x="25" y="14"/>
                      <a:pt x="25" y="14"/>
                    </a:cubicBezTo>
                    <a:cubicBezTo>
                      <a:pt x="25" y="0"/>
                      <a:pt x="25" y="0"/>
                      <a:pt x="25" y="0"/>
                    </a:cubicBezTo>
                    <a:cubicBezTo>
                      <a:pt x="24" y="0"/>
                      <a:pt x="24" y="0"/>
                      <a:pt x="24" y="0"/>
                    </a:cubicBezTo>
                    <a:cubicBezTo>
                      <a:pt x="16" y="0"/>
                      <a:pt x="8" y="2"/>
                      <a:pt x="0" y="6"/>
                    </a:cubicBezTo>
                    <a:cubicBezTo>
                      <a:pt x="7" y="18"/>
                      <a:pt x="7" y="18"/>
                      <a:pt x="7" y="18"/>
                    </a:cubicBezTo>
                    <a:cubicBezTo>
                      <a:pt x="12" y="15"/>
                      <a:pt x="18" y="14"/>
                      <a:pt x="24" y="14"/>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57" name="Shape 7799">
                <a:extLst>
                  <a:ext uri="{FF2B5EF4-FFF2-40B4-BE49-F238E27FC236}">
                    <a16:creationId xmlns:a16="http://schemas.microsoft.com/office/drawing/2014/main" xmlns="" id="{CD79432F-8C0B-46EC-8F37-ECD53CAF45E9}"/>
                  </a:ext>
                </a:extLst>
              </p:cNvPr>
              <p:cNvSpPr/>
              <p:nvPr/>
            </p:nvSpPr>
            <p:spPr>
              <a:xfrm>
                <a:off x="5646738" y="2417763"/>
                <a:ext cx="26988"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58" name="Shape 7800">
                <a:extLst>
                  <a:ext uri="{FF2B5EF4-FFF2-40B4-BE49-F238E27FC236}">
                    <a16:creationId xmlns:a16="http://schemas.microsoft.com/office/drawing/2014/main" xmlns="" id="{CB3B8BEC-A7E1-4428-93D1-1A7CAD4785DB}"/>
                  </a:ext>
                </a:extLst>
              </p:cNvPr>
              <p:cNvSpPr/>
              <p:nvPr/>
            </p:nvSpPr>
            <p:spPr>
              <a:xfrm>
                <a:off x="5697538" y="241776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59" name="Shape 7801">
                <a:extLst>
                  <a:ext uri="{FF2B5EF4-FFF2-40B4-BE49-F238E27FC236}">
                    <a16:creationId xmlns:a16="http://schemas.microsoft.com/office/drawing/2014/main" xmlns="" id="{6A2D8DC4-84C1-4B01-AA4A-67B1D2D1F6A7}"/>
                  </a:ext>
                </a:extLst>
              </p:cNvPr>
              <p:cNvSpPr/>
              <p:nvPr/>
            </p:nvSpPr>
            <p:spPr>
              <a:xfrm>
                <a:off x="5748338" y="241776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60" name="Shape 7802">
                <a:extLst>
                  <a:ext uri="{FF2B5EF4-FFF2-40B4-BE49-F238E27FC236}">
                    <a16:creationId xmlns:a16="http://schemas.microsoft.com/office/drawing/2014/main" xmlns="" id="{0C6B0C08-8DA6-40EF-99BB-938501F706B6}"/>
                  </a:ext>
                </a:extLst>
              </p:cNvPr>
              <p:cNvSpPr/>
              <p:nvPr/>
            </p:nvSpPr>
            <p:spPr>
              <a:xfrm>
                <a:off x="5799138" y="241776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61" name="Shape 7803">
                <a:extLst>
                  <a:ext uri="{FF2B5EF4-FFF2-40B4-BE49-F238E27FC236}">
                    <a16:creationId xmlns:a16="http://schemas.microsoft.com/office/drawing/2014/main" xmlns="" id="{049AC7D6-AE6E-4821-9AB2-493F9AF459CD}"/>
                  </a:ext>
                </a:extLst>
              </p:cNvPr>
              <p:cNvSpPr/>
              <p:nvPr/>
            </p:nvSpPr>
            <p:spPr>
              <a:xfrm>
                <a:off x="5857875" y="2417763"/>
                <a:ext cx="25400" cy="15875"/>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62" name="Shape 7804">
                <a:extLst>
                  <a:ext uri="{FF2B5EF4-FFF2-40B4-BE49-F238E27FC236}">
                    <a16:creationId xmlns:a16="http://schemas.microsoft.com/office/drawing/2014/main" xmlns="" id="{9B014732-6910-4E7E-BA56-8F62495FD7EB}"/>
                  </a:ext>
                </a:extLst>
              </p:cNvPr>
              <p:cNvSpPr/>
              <p:nvPr/>
            </p:nvSpPr>
            <p:spPr>
              <a:xfrm>
                <a:off x="5564188" y="2444750"/>
                <a:ext cx="22225" cy="28575"/>
              </a:xfrm>
              <a:custGeom>
                <a:avLst/>
                <a:gdLst/>
                <a:ahLst/>
                <a:cxnLst/>
                <a:rect l="0" t="0" r="0" b="0"/>
                <a:pathLst>
                  <a:path w="19" h="24" extrusionOk="0">
                    <a:moveTo>
                      <a:pt x="19" y="7"/>
                    </a:moveTo>
                    <a:cubicBezTo>
                      <a:pt x="7" y="0"/>
                      <a:pt x="7" y="0"/>
                      <a:pt x="7" y="0"/>
                    </a:cubicBezTo>
                    <a:cubicBezTo>
                      <a:pt x="3" y="7"/>
                      <a:pt x="0" y="15"/>
                      <a:pt x="0" y="23"/>
                    </a:cubicBezTo>
                    <a:cubicBezTo>
                      <a:pt x="14" y="24"/>
                      <a:pt x="14" y="24"/>
                      <a:pt x="14" y="24"/>
                    </a:cubicBezTo>
                    <a:cubicBezTo>
                      <a:pt x="14" y="18"/>
                      <a:pt x="16" y="12"/>
                      <a:pt x="19" y="7"/>
                    </a:cubicBez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63" name="Shape 7805">
                <a:extLst>
                  <a:ext uri="{FF2B5EF4-FFF2-40B4-BE49-F238E27FC236}">
                    <a16:creationId xmlns:a16="http://schemas.microsoft.com/office/drawing/2014/main" xmlns="" id="{F04453D6-ACAB-45E7-B161-AE9FF0C56A44}"/>
                  </a:ext>
                </a:extLst>
              </p:cNvPr>
              <p:cNvSpPr/>
              <p:nvPr/>
            </p:nvSpPr>
            <p:spPr>
              <a:xfrm>
                <a:off x="5564188" y="2497138"/>
                <a:ext cx="15875" cy="25400"/>
              </a:xfrm>
              <a:prstGeom prst="rect">
                <a:avLst/>
              </a:pr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sp>
            <p:nvSpPr>
              <p:cNvPr id="64" name="Shape 7806">
                <a:extLst>
                  <a:ext uri="{FF2B5EF4-FFF2-40B4-BE49-F238E27FC236}">
                    <a16:creationId xmlns:a16="http://schemas.microsoft.com/office/drawing/2014/main" xmlns="" id="{C0DACC00-F0E6-4356-89E1-23234C8333CF}"/>
                  </a:ext>
                </a:extLst>
              </p:cNvPr>
              <p:cNvSpPr/>
              <p:nvPr/>
            </p:nvSpPr>
            <p:spPr>
              <a:xfrm>
                <a:off x="5538788" y="2551113"/>
                <a:ext cx="66675" cy="55562"/>
              </a:xfrm>
              <a:custGeom>
                <a:avLst/>
                <a:gdLst/>
                <a:ahLst/>
                <a:cxnLst/>
                <a:rect l="0" t="0" r="0" b="0"/>
                <a:pathLst>
                  <a:path w="42" h="35" extrusionOk="0">
                    <a:moveTo>
                      <a:pt x="42" y="0"/>
                    </a:moveTo>
                    <a:lnTo>
                      <a:pt x="0" y="0"/>
                    </a:lnTo>
                    <a:lnTo>
                      <a:pt x="21" y="35"/>
                    </a:lnTo>
                    <a:lnTo>
                      <a:pt x="42" y="0"/>
                    </a:lnTo>
                    <a:close/>
                  </a:path>
                </a:pathLst>
              </a:custGeom>
              <a:grpFill/>
              <a:ln>
                <a:noFill/>
              </a:ln>
            </p:spPr>
            <p:txBody>
              <a:bodyPr spcFirstLastPara="1" wrap="square" lIns="93275" tIns="46625" rIns="93275" bIns="46625" anchor="t" anchorCtr="0">
                <a:noAutofit/>
              </a:bodyPr>
              <a:lstStyle/>
              <a:p>
                <a:pPr marL="0" marR="0" lvl="0" indent="0" algn="l" rtl="0">
                  <a:spcBef>
                    <a:spcPts val="0"/>
                  </a:spcBef>
                  <a:spcAft>
                    <a:spcPts val="0"/>
                  </a:spcAft>
                  <a:buNone/>
                </a:pPr>
                <a:endParaRPr sz="1837">
                  <a:solidFill>
                    <a:schemeClr val="dk1"/>
                  </a:solidFill>
                  <a:latin typeface="Calibri"/>
                  <a:ea typeface="Calibri"/>
                  <a:cs typeface="Calibri"/>
                  <a:sym typeface="Calibri"/>
                </a:endParaRPr>
              </a:p>
            </p:txBody>
          </p:sp>
        </p:grpSp>
      </p:grpSp>
    </p:spTree>
    <p:extLst>
      <p:ext uri="{BB962C8B-B14F-4D97-AF65-F5344CB8AC3E}">
        <p14:creationId xmlns:p14="http://schemas.microsoft.com/office/powerpoint/2010/main" val="36500439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xmlns=""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4233</TotalTime>
  <Words>2488</Words>
  <Application>Microsoft Office PowerPoint</Application>
  <PresentationFormat>Custom</PresentationFormat>
  <Paragraphs>224</Paragraphs>
  <Slides>31</Slides>
  <Notes>17</Notes>
  <HiddenSlides>0</HiddenSlides>
  <MMClips>0</MMClips>
  <ScaleCrop>false</ScaleCrop>
  <HeadingPairs>
    <vt:vector size="6" baseType="variant">
      <vt:variant>
        <vt:lpstr>Theme</vt:lpstr>
      </vt:variant>
      <vt:variant>
        <vt:i4>1</vt:i4>
      </vt:variant>
      <vt:variant>
        <vt:lpstr>Embedded OLE Servers</vt:lpstr>
      </vt:variant>
      <vt:variant>
        <vt:i4>2</vt:i4>
      </vt:variant>
      <vt:variant>
        <vt:lpstr>Slide Titles</vt:lpstr>
      </vt:variant>
      <vt:variant>
        <vt:i4>31</vt:i4>
      </vt:variant>
    </vt:vector>
  </HeadingPairs>
  <TitlesOfParts>
    <vt:vector size="34" baseType="lpstr">
      <vt:lpstr>BIA Template</vt:lpstr>
      <vt:lpstr>Document</vt:lpstr>
      <vt:lpstr>Worksheet</vt:lpstr>
      <vt:lpstr>PowerPoint Presentation</vt:lpstr>
      <vt:lpstr>Trainer Guidelines for Conducting Class</vt:lpstr>
      <vt:lpstr>Index</vt:lpstr>
      <vt:lpstr>Introduction to Language Model</vt:lpstr>
      <vt:lpstr>Best Practices to Write Prompt</vt:lpstr>
      <vt:lpstr>Cont…</vt:lpstr>
      <vt:lpstr>Cont…</vt:lpstr>
      <vt:lpstr>Different Types of Models</vt:lpstr>
      <vt:lpstr>ChatGPT: A Conversational AI Powerhouse</vt:lpstr>
      <vt:lpstr>Cont…</vt:lpstr>
      <vt:lpstr>Google Gemini: AI Chat Tool in a Nutshell </vt:lpstr>
      <vt:lpstr>Cont…</vt:lpstr>
      <vt:lpstr>ChatGPT GPT Vs Gemini :</vt:lpstr>
      <vt:lpstr>PowerPoint Presentation</vt:lpstr>
      <vt:lpstr>PowerPoint Presentation</vt:lpstr>
      <vt:lpstr>AI and Microsoft Office 365 tools</vt:lpstr>
      <vt:lpstr>Cont…</vt:lpstr>
      <vt:lpstr>Creating Presentations using Gamma</vt:lpstr>
      <vt:lpstr>AI tools used in Banking and Finance</vt:lpstr>
      <vt:lpstr>Tools used by Startups</vt:lpstr>
      <vt:lpstr>Cont…</vt:lpstr>
      <vt:lpstr>PowerPoint Presentation</vt:lpstr>
      <vt:lpstr>PowerPoint Presentation</vt:lpstr>
      <vt:lpstr>PowerPoint Presentation</vt:lpstr>
      <vt:lpstr>AI Tool used by Venture Capital Funds</vt:lpstr>
      <vt:lpstr>PowerPoint Presentation</vt:lpstr>
      <vt:lpstr>Other AI tools and plugins used in finance</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santosh</cp:lastModifiedBy>
  <cp:revision>1768</cp:revision>
  <dcterms:created xsi:type="dcterms:W3CDTF">2020-12-23T13:36:00Z</dcterms:created>
  <dcterms:modified xsi:type="dcterms:W3CDTF">2025-05-10T11:35:59Z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y fmtid="{D5CDD505-2E9C-101B-9397-08002B2CF9AE}" pid="4" name="MSIP_Label_ea60d57e-af5b-4752-ac57-3e4f28ca11dc_Enabled">
    <vt:lpwstr>true</vt:lpwstr>
  </property>
  <property fmtid="{D5CDD505-2E9C-101B-9397-08002B2CF9AE}" pid="5" name="MSIP_Label_ea60d57e-af5b-4752-ac57-3e4f28ca11dc_SetDate">
    <vt:lpwstr>2024-08-31T16:52:04Z</vt:lpwstr>
  </property>
  <property fmtid="{D5CDD505-2E9C-101B-9397-08002B2CF9AE}" pid="6" name="MSIP_Label_ea60d57e-af5b-4752-ac57-3e4f28ca11dc_Method">
    <vt:lpwstr>Standard</vt:lpwstr>
  </property>
  <property fmtid="{D5CDD505-2E9C-101B-9397-08002B2CF9AE}" pid="7" name="MSIP_Label_ea60d57e-af5b-4752-ac57-3e4f28ca11dc_Name">
    <vt:lpwstr>ea60d57e-af5b-4752-ac57-3e4f28ca11dc</vt:lpwstr>
  </property>
  <property fmtid="{D5CDD505-2E9C-101B-9397-08002B2CF9AE}" pid="8" name="MSIP_Label_ea60d57e-af5b-4752-ac57-3e4f28ca11dc_SiteId">
    <vt:lpwstr>36da45f1-dd2c-4d1f-af13-5abe46b99921</vt:lpwstr>
  </property>
  <property fmtid="{D5CDD505-2E9C-101B-9397-08002B2CF9AE}" pid="9" name="MSIP_Label_ea60d57e-af5b-4752-ac57-3e4f28ca11dc_ActionId">
    <vt:lpwstr>cb2ad5ff-d8fa-495d-8086-95c86c39631f</vt:lpwstr>
  </property>
  <property fmtid="{D5CDD505-2E9C-101B-9397-08002B2CF9AE}" pid="10" name="MSIP_Label_ea60d57e-af5b-4752-ac57-3e4f28ca11dc_ContentBits">
    <vt:lpwstr>0</vt:lpwstr>
  </property>
</Properties>
</file>